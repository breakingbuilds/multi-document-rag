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charts/chart1.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13D"/>
                </a:solidFill>
                <a:latin typeface="Arial"/>
              </a:defRPr>
            </a:pPr>
            <a:r>
              <a:rPr sz="1200" b="0" i="0" u="none" strike="noStrike">
                <a:solidFill>
                  <a:srgbClr val="14213D"/>
                </a:solidFill>
                <a:latin typeface="Arial"/>
              </a:rPr>
              <a:t>Mean score per metric (k = 5, manual_rrf, judge gpt-oss-120b)</a:t>
            </a:r>
          </a:p>
        </c:rich>
      </c:tx>
      <c:layout/>
      <c:overlay val="0"/>
    </c:title>
    <c:autoTitleDeleted val="0"/>
    <c:plotArea>
      <c:layout/>
      <c:barChart>
        <c:barDir val="col"/>
        <c:grouping val="clustered"/>
        <c:varyColors val="0"/>
        <c:ser>
          <c:idx val="0"/>
          <c:order val="0"/>
          <c:tx>
            <c:strRef>
              <c:f>Sheet1!$B$1</c:f>
              <c:strCache>
                <c:ptCount val="1"/>
                <c:pt idx="0">
                  <c:v>Manual</c:v>
                </c:pt>
              </c:strCache>
            </c:strRef>
          </c:tx>
          <c:spPr>
            <a:solidFill>
              <a:srgbClr val="14213D"/>
            </a:solidFill>
            <a:effectLst/>
          </c:spPr>
          <c:invertIfNegative val="0"/>
          <c:dLbls>
            <c:numFmt formatCode="0.0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cat>
            <c:multiLvlStrRef>
              <c:f>Sheet1!$A$2:$A$5</c:f>
              <c:multiLvlStrCache>
                <c:ptCount val="4"/>
                <c:lvl>
                  <c:pt idx="0">
                    <c:v>Faithfulness</c:v>
                  </c:pt>
                  <c:pt idx="1">
                    <c:v>Answer relevance</c:v>
                  </c:pt>
                  <c:pt idx="2">
                    <c:v>Context precision</c:v>
                  </c:pt>
                  <c:pt idx="3">
                    <c:v>Context recall</c:v>
                  </c:pt>
                </c:lvl>
              </c:multiLvlStrCache>
            </c:multiLvlStrRef>
          </c:cat>
          <c:val>
            <c:numRef>
              <c:f>Sheet1!$B$2:$B$5</c:f>
              <c:numCache>
                <c:formatCode>General</c:formatCode>
                <c:ptCount val="4"/>
                <c:pt idx="0">
                  <c:v>1</c:v>
                </c:pt>
                <c:pt idx="1">
                  <c:v>1</c:v>
                </c:pt>
                <c:pt idx="2">
                  <c:v>0.93</c:v>
                </c:pt>
                <c:pt idx="3">
                  <c:v>0.93</c:v>
                </c:pt>
              </c:numCache>
            </c:numRef>
          </c:val>
        </c:ser>
        <c:ser>
          <c:idx val="1"/>
          <c:order val="1"/>
          <c:tx>
            <c:strRef>
              <c:f>Sheet1!$C$1</c:f>
              <c:strCache>
                <c:ptCount val="1"/>
                <c:pt idx="0">
                  <c:v>RAGAS</c:v>
                </c:pt>
              </c:strCache>
            </c:strRef>
          </c:tx>
          <c:spPr>
            <a:solidFill>
              <a:srgbClr val="FCA311"/>
            </a:solidFill>
            <a:effectLst/>
          </c:spPr>
          <c:invertIfNegative val="0"/>
          <c:dLbls>
            <c:numFmt formatCode="0.0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cat>
            <c:multiLvlStrRef>
              <c:f>Sheet1!$A$2:$A$5</c:f>
              <c:multiLvlStrCache>
                <c:ptCount val="4"/>
                <c:lvl>
                  <c:pt idx="0">
                    <c:v>Faithfulness</c:v>
                  </c:pt>
                  <c:pt idx="1">
                    <c:v>Answer relevance</c:v>
                  </c:pt>
                  <c:pt idx="2">
                    <c:v>Context precision</c:v>
                  </c:pt>
                  <c:pt idx="3">
                    <c:v>Context recall</c:v>
                  </c:pt>
                </c:lvl>
              </c:multiLvlStrCache>
            </c:multiLvlStrRef>
          </c:cat>
          <c:val>
            <c:numRef>
              <c:f>Sheet1!$C$2:$C$5</c:f>
              <c:numCache>
                <c:formatCode>General</c:formatCode>
                <c:ptCount val="4"/>
                <c:pt idx="0">
                  <c:v>0.93</c:v>
                </c:pt>
                <c:pt idx="1">
                  <c:v>0.84</c:v>
                </c:pt>
                <c:pt idx="2">
                  <c:v>0.8</c:v>
                </c:pt>
                <c:pt idx="3">
                  <c:v>1</c:v>
                </c:pt>
              </c:numCache>
            </c:numRef>
          </c:val>
        </c:ser>
        <c:dLbls>
          <c:numFmt formatCode="0.0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majorUnit val="0.25"/>
      </c:valAx>
      <c:spPr>
        <a:noFill/>
        <a:ln>
          <a:noFill/>
        </a:ln>
        <a:effectLst/>
      </c:spPr>
    </c:plotArea>
    <c:legend>
      <c:legendPos val="b"/>
      <c:overlay val="0"/>
      <c:txPr>
        <a:bodyPr/>
        <a:lstStyle/>
        <a:p>
          <a:pPr>
            <a:defRPr sz="1100">
              <a:solidFill>
                <a:srgbClr val="1F2937"/>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project is a complete Retrieval-Augmented Generation system: it ingests seven document formats, answers questions with citations, and — the part most demos skip — measures its own quality with manual metrics and RAGAS.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parts, roughly 25 minutes. The middle sections follow the data through the system in the order it actually 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failure modes of a bare LLM on private data. The goal card on the right is the contract for the rest of the talk: the last bullet — measuring retrieval and generation separately — is what makes this more than a chatbot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audience remembers one thing: RAG does not make the model smarter, it changes the exam from closed-book to open-book. Everything downstream — chunking, embeddings, rewriting — exists to put the right page in front of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lanes. Ingestion runs once per document set. The question pipeline runs per query. The evaluation pipeline feeds the outputs of the second lane, plus ground truth, into two independent scorers. Emphasise that all three share one RAGPipeline object — the CLI and the evaluators cannot drift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Structural view. Three entry points on top; one orchestrator in the middle; eight stage modules below. main.py and the evaluators only ever talk to RAGPipeline; ingest.py calls the ingestion stages directly. config.py is the single source of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dependency is free and runs on a laptop. The only network calls are to the LLM provider; embeddings and the vector database are fully local, which also matters for privacy of company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Flowchart of ingest.py. Two side outputs matter for debugging: chunks.json is written right after splitting — before any embedding — so the split can be inspected even when the model is unavailable; the manifest records per-file counts and timings after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loaders are deliberately boring. The interesting decision is that each one emits citation metadata in its own vocabulary — pages for PDFs, rows for CSVs, headings for Word and Markdown — because that is what a user needs to verify an answer. CSV rows are also rendered as full sentences so an embedding model can understand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splitter is written from scratch (no LangChain) so the algorithm is visible: it recursively falls back to smaller separators until a piece fits, then packs pieces into windows with overlap. Stable chunk IDs make ingestion idempotent.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file answers the question every reviewer asks: what did the splitter actually produce? Open it next to a retrieved answer: the chunk_id in the CLI output is the key here. Re-running ingestion with a different chunk size and diffing this file is the quickest way to reason about chunking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concept for a non-ML audience: the model turns text into coordinates, and "relevance" becomes geometry. Normalising vectors makes cosine similarity a cheap dot product, which is what the HNSW index computes millions of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ChromaDB was chosen because it is embedded and persistent — ideal for a self-contained project. The abstract VectorStore class is the extension point: swapping to FAISS or Qdrant does not touch the retriever, pipeline or UI. The self-healing handle came from a real bug found while running ingestion next to the live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exact example from the demo. The embedding of "can i wfh fri?" is nowhere near the policy sentence, so single-query retrieval misses. Rewriting fixes vocabulary mismatch without changing the documents or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means the rewrites come from transparent rules, not a model — but the matching is still done by embeddings. Every phrasing (including the original) is embedded with the document model; manual_rrf runs one search per phrasing and fuses the ranked lists, manual_centroid averages the vectors first and searches once. manual_rrf is the default and the strategy behind the evaluation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LLM strategies, all selectable with --strategy or /strategy in the CLI. The examples are real outputs from Groq. HyDE is the counter-intuitive one: instead of embedding the question we embed a guessed answer, because answers and documents share vocabulary. Every strategy degrades gracefully to the manual rewriter if the API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slide: which strategy to reach for. Read it row by row — each line is the recommendation; the trade-offs behind it (cost, precision, determinism) are on the two slides before and the RRF slide after. The default (manual_rrf) wins on cost and explainability and produced every evaluation number in Part 5; the LLM strategies are insurance for phrasings the rule vocabulary cannot cover; hybrid is the maximum-recall setting for hard questions. All numbers quoted (2 ms, +0.15 s, +0.6 s, 0.69, 7 of 8) come from the same real run that the RRF slide and the study guide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RRF is the glue for every multi-query strategy. The formula is tiny, but the property that matters is rank-based fusion: we never have to ask whether a 0.71 similarity from one phrasing means the same as a 0.71 from another. Both tables come from one real run of the project (python main.py -q "can i wfh fri?" --strategy manual_rrf --show-chunks): the left table is the top 5 of each phrasing's candidate list, the right table is what RRF makes of them. Point out that the original phrasing's list shares nothing with the other four, so its chunks get one vote each and vanish.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question path as a flowchart. Two decisions: which rewriting strategy (chosen by the user) and whether the passages contain the evidence (made by the model under the prompt rules). Everything between them is deterministic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path as the flowchart, seen as object interactions. RAGPipeline is the only object the CLI knows; the rewriter talks to the LLM only for llm_* strategies; the vector store is searched once per query phrasing; RRF happens inside the pipeline before the single generation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prompt is the contract with the model: numbered passages, a citation rule and a fixed refusal sentence. The fixed sentence is important — it lets the pipeline detect refusals programmatically and the evaluation treat them correctly. Citation normalisation exists because real models (gpt-oss) sometimes emit full-width brackets.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point: the OpenAI protocol has become a de-facto standard, so one client covers many vendors. Practical point learned during the project: Groq's free plan changed its model line-up, which is why the model list is fetched live (python main.py --list-models) and free-plan models are pinned to the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picture behind the previous slide. Left: the four places in the project that call a language model, in two groups — inside RAGPipeline.ask() the answer call (always) and the LLMRewriter (only for the llm_* strategies); in evaluation/ the two judges, which run only during an evaluation, never while answering. Middle: the single client class; it holds the openai SDK client, the retry loop for rate limits, the reasoning_effort tweak and the JSON-mode fallback — and it reads which provider to talk to from the PROVIDERS registry, a dictionary of frozen ProviderSpec objects. Right: the three endpoints, all speaking the same protocol. Groq and Hugging Face need a key from .env; Ollama runs on the presenter's own machine and needs neither key nor internet. Adding OpenAI or Gemini would be a fourth box on the right and one more row in the registry — nothing in the left or middle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moment: run the CLI here if possible. Every answer can be unfolded into the rewrites and chunks that produced it with /chunks, and the provider or model can be switched mid-session to compare outputs. The evaluation scripts run the same pipeline, so what you see here is what gets scored.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A generates answers for the twelve questions once and stores them with their contexts. Stage B scores that same file twice — by hand and with RAGAS — and the diagnosis step decides whether a weak row is a retrieval or a generation problem. With --evaluate the CLI runs the same scoring for a single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metrics are on a 0–1 scale. The colour tags matter: precision and recall are about what was retrieved, faithfulness and relevance about what was written. That split is what allows the "diagnosis" column in the reports: retrieval issue versus generation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one: the four metrics written by hand so their definitions are concrete. Read the Inputs column first — it explains everything else. Recall and precision compare the retrieved chunks with the ground truth, so they need the dataset and use no judge (recall is literal word overlap, precision is an embedding threshold). Faithfulness and relevance look at the generated answer, so they need reading comprehension — that is the judge LLM — and they never see the ground truth, which is why they can also run live in the CLI for any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two: the library. The inputs are the same four things, but every metric now goes through the judge — recall by attributing ground-truth statements, precision by a usefulness verdict per chunk — and answer relevance adds a vector step: it embeds the questions the answer implies and compares them with the real question. Two consequences show up in the results: RAGAS is stricter on precision (a chunk about sick leave is "about leave" for our embedding threshold but "not useful" for its judge), and it scores a refusal as 0 relevance by design because a refusal implies no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rules are deliberately simple thresholds, checked in this order. Recall first: if the evidence never arrived, nothing downstream can be right, and the fix is on the retrieval side (k, chunking, embeddings, rewriting). Faithfulness and relevance next: the evidence was there but the writer strayed — fix the prompt or the model. Precision is only flagged when everything else is fine: the answer is right but the context was noisy, which costs tokens and precision points. On our 12 questions every row diagnoses "ok" except Q11, the aggregate question, which reports a retrieval issue (recall 0.43).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numbers. Both scorers agree the system is faithful and retrieves the right evidence; RAGAS is stricter on relevance and precision. Eleven answers were verified correct against the documents; the twelfth question is deliberately unanswerable and was correctly refused.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 these are cheap wins because of the abstractions already in place: extra vector stores and hybrid search both plug into the existing RRF fusion. Reranking is the change most likely to lift context precision.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four takeaways and offer a live demo of the CLI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slideLayout" Target="../slideLayouts/slideLayout1.xml"/><Relationship Id="rId8"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640080" y="960120"/>
            <a:ext cx="7315200" cy="320040"/>
          </a:xfrm>
          <a:prstGeom prst="rect">
            <a:avLst/>
          </a:prstGeom>
          <a:noFill/>
          <a:ln/>
        </p:spPr>
        <p:txBody>
          <a:bodyPr wrap="square" lIns="0" tIns="0" rIns="0" bIns="0" rtlCol="0" anchor="ctr"/>
          <a:lstStyle/>
          <a:p>
            <a:pPr indent="0" marL="0">
              <a:buNone/>
            </a:pPr>
            <a:r>
              <a:rPr lang="en-US" sz="1200" b="1" spc="300" kern="0" dirty="0">
                <a:solidFill>
                  <a:srgbClr val="FCA311"/>
                </a:solidFill>
                <a:latin typeface="Calibri" pitchFamily="34" charset="0"/>
                <a:ea typeface="Calibri" pitchFamily="34" charset="-122"/>
                <a:cs typeface="Calibri" pitchFamily="34" charset="-120"/>
              </a:rPr>
              <a:t>MULTI-DOCUMENT RAG SYSTEM</a:t>
            </a:r>
            <a:endParaRPr lang="en-US" sz="1200" dirty="0"/>
          </a:p>
        </p:txBody>
      </p:sp>
      <p:sp>
        <p:nvSpPr>
          <p:cNvPr id="3" name="Text 1"/>
          <p:cNvSpPr txBox="1"/>
          <p:nvPr/>
        </p:nvSpPr>
        <p:spPr>
          <a:xfrm>
            <a:off x="640080" y="1325880"/>
            <a:ext cx="5852160" cy="1554480"/>
          </a:xfrm>
          <a:prstGeom prst="rect">
            <a:avLst/>
          </a:prstGeom>
          <a:noFill/>
          <a:ln/>
        </p:spPr>
        <p:txBody>
          <a:bodyPr wrap="square" lIns="0" tIns="0" rIns="0" bIns="0" rtlCol="0" anchor="ctr"/>
          <a:lstStyle/>
          <a:p>
            <a:pPr indent="0" marL="0">
              <a:lnSpc>
                <a:spcPct val="95000"/>
              </a:lnSpc>
              <a:buNone/>
            </a:pPr>
            <a:r>
              <a:rPr lang="en-US" sz="3000" b="1" dirty="0">
                <a:solidFill>
                  <a:srgbClr val="FFFFFF"/>
                </a:solidFill>
                <a:latin typeface="Calibri" pitchFamily="34" charset="0"/>
                <a:ea typeface="Calibri" pitchFamily="34" charset="-122"/>
                <a:cs typeface="Calibri" pitchFamily="34" charset="-120"/>
              </a:rPr>
              <a:t>Ask questions across PDF, Word, CSV, JSON, Markdown and HTML — with cited answers and measured quality</a:t>
            </a:r>
            <a:endParaRPr lang="en-US" sz="3000" dirty="0"/>
          </a:p>
        </p:txBody>
      </p:sp>
      <p:sp>
        <p:nvSpPr>
          <p:cNvPr id="4" name="Text 2"/>
          <p:cNvSpPr txBox="1"/>
          <p:nvPr/>
        </p:nvSpPr>
        <p:spPr>
          <a:xfrm>
            <a:off x="640080" y="2971800"/>
            <a:ext cx="6400800" cy="365760"/>
          </a:xfrm>
          <a:prstGeom prst="rect">
            <a:avLst/>
          </a:prstGeom>
          <a:noFill/>
          <a:ln/>
        </p:spPr>
        <p:txBody>
          <a:bodyPr wrap="square" lIns="0" tIns="0" rIns="0" bIns="0" rtlCol="0" anchor="ctr"/>
          <a:lstStyle/>
          <a:p>
            <a:pPr indent="0" marL="0">
              <a:buNone/>
            </a:pPr>
            <a:r>
              <a:rPr lang="en-US" sz="1400" dirty="0">
                <a:solidFill>
                  <a:srgbClr val="C9D6EE"/>
                </a:solidFill>
                <a:latin typeface="Calibri" pitchFamily="34" charset="0"/>
                <a:ea typeface="Calibri" pitchFamily="34" charset="-122"/>
                <a:cs typeface="Calibri" pitchFamily="34" charset="-120"/>
              </a:rPr>
              <a:t>Vector database  ·  Query rewriting  ·  RAGAS evaluation  ·  Command-line app</a:t>
            </a:r>
            <a:endParaRPr lang="en-US" sz="1400" dirty="0"/>
          </a:p>
        </p:txBody>
      </p:sp>
      <p:sp>
        <p:nvSpPr>
          <p:cNvPr id="5" name="Text 3"/>
          <p:cNvSpPr txBox="1"/>
          <p:nvPr/>
        </p:nvSpPr>
        <p:spPr>
          <a:xfrm>
            <a:off x="640080" y="3931920"/>
            <a:ext cx="365760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Talha Hafeez</a:t>
            </a:r>
            <a:endParaRPr lang="en-US" sz="1600" dirty="0"/>
          </a:p>
        </p:txBody>
      </p:sp>
      <p:sp>
        <p:nvSpPr>
          <p:cNvPr id="6" name="Text 4"/>
          <p:cNvSpPr txBox="1"/>
          <p:nvPr/>
        </p:nvSpPr>
        <p:spPr>
          <a:xfrm>
            <a:off x="640080" y="4251960"/>
            <a:ext cx="4572000" cy="274320"/>
          </a:xfrm>
          <a:prstGeom prst="rect">
            <a:avLst/>
          </a:prstGeom>
          <a:noFill/>
          <a:ln/>
        </p:spPr>
        <p:txBody>
          <a:bodyPr wrap="square" lIns="0" tIns="0" rIns="0" bIns="0" rtlCol="0" anchor="ctr"/>
          <a:lstStyle/>
          <a:p>
            <a:pPr indent="0" marL="0">
              <a:buNone/>
            </a:pPr>
            <a:r>
              <a:rPr lang="en-US" sz="1200" dirty="0">
                <a:solidFill>
                  <a:srgbClr val="C9D6EE"/>
                </a:solidFill>
                <a:latin typeface="Calibri" pitchFamily="34" charset="0"/>
                <a:ea typeface="Calibri" pitchFamily="34" charset="-122"/>
                <a:cs typeface="Calibri" pitchFamily="34" charset="-120"/>
              </a:rPr>
              <a:t>Project presentation  ·  September 2026</a:t>
            </a:r>
            <a:endParaRPr lang="en-US" sz="1200" dirty="0"/>
          </a:p>
        </p:txBody>
      </p:sp>
      <p:sp>
        <p:nvSpPr>
          <p:cNvPr id="7" name="Shape 5"/>
          <p:cNvSpPr/>
          <p:nvPr/>
        </p:nvSpPr>
        <p:spPr>
          <a:xfrm>
            <a:off x="6720840" y="4069080"/>
            <a:ext cx="310896" cy="310896"/>
          </a:xfrm>
          <a:prstGeom prst="ellipse">
            <a:avLst/>
          </a:prstGeom>
          <a:solidFill>
            <a:srgbClr val="1F2F5C"/>
          </a:solidFill>
          <a:ln w="12700">
            <a:solidFill>
              <a:srgbClr val="FCA311"/>
            </a:solidFill>
            <a:prstDash val="solid"/>
          </a:ln>
        </p:spPr>
      </p:sp>
      <p:sp>
        <p:nvSpPr>
          <p:cNvPr id="8" name="Shape 6"/>
          <p:cNvSpPr/>
          <p:nvPr/>
        </p:nvSpPr>
        <p:spPr>
          <a:xfrm>
            <a:off x="7031736" y="4224528"/>
            <a:ext cx="256032" cy="0"/>
          </a:xfrm>
          <a:prstGeom prst="line">
            <a:avLst/>
          </a:prstGeom>
          <a:noFill/>
          <a:ln w="12700">
            <a:solidFill>
              <a:srgbClr val="FCA311"/>
            </a:solidFill>
            <a:prstDash val="solid"/>
          </a:ln>
        </p:spPr>
      </p:sp>
      <p:sp>
        <p:nvSpPr>
          <p:cNvPr id="9" name="Shape 7"/>
          <p:cNvSpPr/>
          <p:nvPr/>
        </p:nvSpPr>
        <p:spPr>
          <a:xfrm>
            <a:off x="7287768" y="4069080"/>
            <a:ext cx="310896" cy="310896"/>
          </a:xfrm>
          <a:prstGeom prst="ellipse">
            <a:avLst/>
          </a:prstGeom>
          <a:solidFill>
            <a:srgbClr val="1F2F5C"/>
          </a:solidFill>
          <a:ln w="12700">
            <a:solidFill>
              <a:srgbClr val="FCA311"/>
            </a:solidFill>
            <a:prstDash val="solid"/>
          </a:ln>
        </p:spPr>
      </p:sp>
      <p:sp>
        <p:nvSpPr>
          <p:cNvPr id="10" name="Shape 8"/>
          <p:cNvSpPr/>
          <p:nvPr/>
        </p:nvSpPr>
        <p:spPr>
          <a:xfrm>
            <a:off x="7598664" y="4224528"/>
            <a:ext cx="256032" cy="0"/>
          </a:xfrm>
          <a:prstGeom prst="line">
            <a:avLst/>
          </a:prstGeom>
          <a:noFill/>
          <a:ln w="12700">
            <a:solidFill>
              <a:srgbClr val="FCA311"/>
            </a:solidFill>
            <a:prstDash val="solid"/>
          </a:ln>
        </p:spPr>
      </p:sp>
      <p:sp>
        <p:nvSpPr>
          <p:cNvPr id="11" name="Shape 9"/>
          <p:cNvSpPr/>
          <p:nvPr/>
        </p:nvSpPr>
        <p:spPr>
          <a:xfrm>
            <a:off x="7854696" y="4069080"/>
            <a:ext cx="310896" cy="310896"/>
          </a:xfrm>
          <a:prstGeom prst="ellipse">
            <a:avLst/>
          </a:prstGeom>
          <a:solidFill>
            <a:srgbClr val="1F2F5C"/>
          </a:solidFill>
          <a:ln w="12700">
            <a:solidFill>
              <a:srgbClr val="FCA311"/>
            </a:solidFill>
            <a:prstDash val="solid"/>
          </a:ln>
        </p:spPr>
      </p:sp>
      <p:sp>
        <p:nvSpPr>
          <p:cNvPr id="12" name="Shape 10"/>
          <p:cNvSpPr/>
          <p:nvPr/>
        </p:nvSpPr>
        <p:spPr>
          <a:xfrm>
            <a:off x="8165592" y="4224528"/>
            <a:ext cx="256032" cy="0"/>
          </a:xfrm>
          <a:prstGeom prst="line">
            <a:avLst/>
          </a:prstGeom>
          <a:noFill/>
          <a:ln w="12700">
            <a:solidFill>
              <a:srgbClr val="FCA311"/>
            </a:solidFill>
            <a:prstDash val="solid"/>
          </a:ln>
        </p:spPr>
      </p:sp>
      <p:sp>
        <p:nvSpPr>
          <p:cNvPr id="13" name="Shape 11"/>
          <p:cNvSpPr/>
          <p:nvPr/>
        </p:nvSpPr>
        <p:spPr>
          <a:xfrm>
            <a:off x="8421624" y="4069080"/>
            <a:ext cx="310896" cy="310896"/>
          </a:xfrm>
          <a:prstGeom prst="ellipse">
            <a:avLst/>
          </a:prstGeom>
          <a:solidFill>
            <a:srgbClr val="FCA311"/>
          </a:solidFill>
          <a:ln w="12700">
            <a:solidFill>
              <a:srgbClr val="FCA311"/>
            </a:solidFill>
            <a:prstDash val="solid"/>
          </a:ln>
        </p:spPr>
      </p:sp>
      <p:pic>
        <p:nvPicPr>
          <p:cNvPr id="14" name="Image 0" descr="preencoded.png">    </p:cNvPr>
          <p:cNvPicPr>
            <a:picLocks noChangeAspect="1"/>
          </p:cNvPicPr>
          <p:nvPr/>
        </p:nvPicPr>
        <p:blipFill>
          <a:blip r:embed="rId1"/>
          <a:stretch>
            <a:fillRect/>
          </a:stretch>
        </p:blipFill>
        <p:spPr>
          <a:xfrm>
            <a:off x="6903720" y="1371600"/>
            <a:ext cx="1463040" cy="14630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AGENDA</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What we will cover</a:t>
            </a:r>
            <a:endParaRPr lang="en-US" sz="2800" dirty="0"/>
          </a:p>
        </p:txBody>
      </p:sp>
      <p:sp>
        <p:nvSpPr>
          <p:cNvPr id="4" name="Shape 2"/>
          <p:cNvSpPr/>
          <p:nvPr/>
        </p:nvSpPr>
        <p:spPr>
          <a:xfrm>
            <a:off x="457200" y="1280160"/>
            <a:ext cx="3977640" cy="932688"/>
          </a:xfrm>
          <a:prstGeom prst="roundRect">
            <a:avLst>
              <a:gd name="adj" fmla="val 9804"/>
            </a:avLst>
          </a:prstGeom>
          <a:solidFill>
            <a:srgbClr val="F4F5F7"/>
          </a:solidFill>
          <a:ln w="9525">
            <a:solidFill>
              <a:srgbClr val="E5E7EB"/>
            </a:solidFill>
            <a:prstDash val="solid"/>
          </a:ln>
        </p:spPr>
      </p:sp>
      <p:sp>
        <p:nvSpPr>
          <p:cNvPr id="5" name="Shape 3"/>
          <p:cNvSpPr/>
          <p:nvPr/>
        </p:nvSpPr>
        <p:spPr>
          <a:xfrm>
            <a:off x="640080" y="1517904"/>
            <a:ext cx="457200" cy="457200"/>
          </a:xfrm>
          <a:prstGeom prst="ellipse">
            <a:avLst/>
          </a:prstGeom>
          <a:solidFill>
            <a:srgbClr val="FCA311"/>
          </a:solidFill>
          <a:ln w="12700">
            <a:solidFill>
              <a:srgbClr val="FCA311"/>
            </a:solidFill>
            <a:prstDash val="solid"/>
          </a:ln>
        </p:spPr>
      </p:sp>
      <p:pic>
        <p:nvPicPr>
          <p:cNvPr id="6" name="Image 0" descr="preencoded.png">    </p:cNvPr>
          <p:cNvPicPr>
            <a:picLocks noChangeAspect="1"/>
          </p:cNvPicPr>
          <p:nvPr/>
        </p:nvPicPr>
        <p:blipFill>
          <a:blip r:embed="rId1"/>
          <a:stretch>
            <a:fillRect/>
          </a:stretch>
        </p:blipFill>
        <p:spPr>
          <a:xfrm>
            <a:off x="749808" y="1627632"/>
            <a:ext cx="237744" cy="237744"/>
          </a:xfrm>
          <a:prstGeom prst="rect">
            <a:avLst/>
          </a:prstGeom>
        </p:spPr>
      </p:pic>
      <p:sp>
        <p:nvSpPr>
          <p:cNvPr id="7" name="Text 4"/>
          <p:cNvSpPr txBox="1"/>
          <p:nvPr/>
        </p:nvSpPr>
        <p:spPr>
          <a:xfrm>
            <a:off x="1234440" y="1426464"/>
            <a:ext cx="3108960" cy="347472"/>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1.  The problem &amp; RAG in one minute</a:t>
            </a:r>
            <a:endParaRPr lang="en-US" sz="1400" dirty="0"/>
          </a:p>
        </p:txBody>
      </p:sp>
      <p:sp>
        <p:nvSpPr>
          <p:cNvPr id="8" name="Text 5"/>
          <p:cNvSpPr txBox="1"/>
          <p:nvPr/>
        </p:nvSpPr>
        <p:spPr>
          <a:xfrm>
            <a:off x="1234440" y="1755648"/>
            <a:ext cx="3108960" cy="36576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Why LLMs alone fail on private documents</a:t>
            </a:r>
            <a:endParaRPr lang="en-US" sz="1150" dirty="0"/>
          </a:p>
        </p:txBody>
      </p:sp>
      <p:sp>
        <p:nvSpPr>
          <p:cNvPr id="9" name="Shape 6"/>
          <p:cNvSpPr/>
          <p:nvPr/>
        </p:nvSpPr>
        <p:spPr>
          <a:xfrm>
            <a:off x="4709160" y="1280160"/>
            <a:ext cx="3977640" cy="932688"/>
          </a:xfrm>
          <a:prstGeom prst="roundRect">
            <a:avLst>
              <a:gd name="adj" fmla="val 9804"/>
            </a:avLst>
          </a:prstGeom>
          <a:solidFill>
            <a:srgbClr val="F4F5F7"/>
          </a:solidFill>
          <a:ln w="9525">
            <a:solidFill>
              <a:srgbClr val="E5E7EB"/>
            </a:solidFill>
            <a:prstDash val="solid"/>
          </a:ln>
        </p:spPr>
      </p:sp>
      <p:sp>
        <p:nvSpPr>
          <p:cNvPr id="10" name="Shape 7"/>
          <p:cNvSpPr/>
          <p:nvPr/>
        </p:nvSpPr>
        <p:spPr>
          <a:xfrm>
            <a:off x="4892040" y="1517904"/>
            <a:ext cx="457200" cy="457200"/>
          </a:xfrm>
          <a:prstGeom prst="ellipse">
            <a:avLst/>
          </a:prstGeom>
          <a:solidFill>
            <a:srgbClr val="FCA311"/>
          </a:solidFill>
          <a:ln w="12700">
            <a:solidFill>
              <a:srgbClr val="FCA311"/>
            </a:solidFill>
            <a:prstDash val="solid"/>
          </a:ln>
        </p:spPr>
      </p:sp>
      <p:pic>
        <p:nvPicPr>
          <p:cNvPr id="11" name="Image 1" descr="preencoded.png">    </p:cNvPr>
          <p:cNvPicPr>
            <a:picLocks noChangeAspect="1"/>
          </p:cNvPicPr>
          <p:nvPr/>
        </p:nvPicPr>
        <p:blipFill>
          <a:blip r:embed="rId2"/>
          <a:stretch>
            <a:fillRect/>
          </a:stretch>
        </p:blipFill>
        <p:spPr>
          <a:xfrm>
            <a:off x="5001768" y="1627632"/>
            <a:ext cx="237744" cy="237744"/>
          </a:xfrm>
          <a:prstGeom prst="rect">
            <a:avLst/>
          </a:prstGeom>
        </p:spPr>
      </p:pic>
      <p:sp>
        <p:nvSpPr>
          <p:cNvPr id="12" name="Text 8"/>
          <p:cNvSpPr txBox="1"/>
          <p:nvPr/>
        </p:nvSpPr>
        <p:spPr>
          <a:xfrm>
            <a:off x="5486400" y="1426464"/>
            <a:ext cx="3108960" cy="347472"/>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2.  Architecture &amp; tech stack</a:t>
            </a:r>
            <a:endParaRPr lang="en-US" sz="1400" dirty="0"/>
          </a:p>
        </p:txBody>
      </p:sp>
      <p:sp>
        <p:nvSpPr>
          <p:cNvPr id="13" name="Text 9"/>
          <p:cNvSpPr txBox="1"/>
          <p:nvPr/>
        </p:nvSpPr>
        <p:spPr>
          <a:xfrm>
            <a:off x="5486400" y="1755648"/>
            <a:ext cx="3108960" cy="36576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Three pipelines, one shared core</a:t>
            </a:r>
            <a:endParaRPr lang="en-US" sz="1150" dirty="0"/>
          </a:p>
        </p:txBody>
      </p:sp>
      <p:sp>
        <p:nvSpPr>
          <p:cNvPr id="14" name="Shape 10"/>
          <p:cNvSpPr/>
          <p:nvPr/>
        </p:nvSpPr>
        <p:spPr>
          <a:xfrm>
            <a:off x="457200" y="2377440"/>
            <a:ext cx="3977640" cy="932688"/>
          </a:xfrm>
          <a:prstGeom prst="roundRect">
            <a:avLst>
              <a:gd name="adj" fmla="val 9804"/>
            </a:avLst>
          </a:prstGeom>
          <a:solidFill>
            <a:srgbClr val="F4F5F7"/>
          </a:solidFill>
          <a:ln w="9525">
            <a:solidFill>
              <a:srgbClr val="E5E7EB"/>
            </a:solidFill>
            <a:prstDash val="solid"/>
          </a:ln>
        </p:spPr>
      </p:sp>
      <p:sp>
        <p:nvSpPr>
          <p:cNvPr id="15" name="Shape 11"/>
          <p:cNvSpPr/>
          <p:nvPr/>
        </p:nvSpPr>
        <p:spPr>
          <a:xfrm>
            <a:off x="640080" y="2615184"/>
            <a:ext cx="457200" cy="457200"/>
          </a:xfrm>
          <a:prstGeom prst="ellipse">
            <a:avLst/>
          </a:prstGeom>
          <a:solidFill>
            <a:srgbClr val="FCA311"/>
          </a:solidFill>
          <a:ln w="12700">
            <a:solidFill>
              <a:srgbClr val="FCA311"/>
            </a:solidFill>
            <a:prstDash val="solid"/>
          </a:ln>
        </p:spPr>
      </p:sp>
      <p:pic>
        <p:nvPicPr>
          <p:cNvPr id="16" name="Image 2" descr="preencoded.png">    </p:cNvPr>
          <p:cNvPicPr>
            <a:picLocks noChangeAspect="1"/>
          </p:cNvPicPr>
          <p:nvPr/>
        </p:nvPicPr>
        <p:blipFill>
          <a:blip r:embed="rId3"/>
          <a:stretch>
            <a:fillRect/>
          </a:stretch>
        </p:blipFill>
        <p:spPr>
          <a:xfrm>
            <a:off x="749808" y="2724912"/>
            <a:ext cx="237744" cy="237744"/>
          </a:xfrm>
          <a:prstGeom prst="rect">
            <a:avLst/>
          </a:prstGeom>
        </p:spPr>
      </p:pic>
      <p:sp>
        <p:nvSpPr>
          <p:cNvPr id="17" name="Text 12"/>
          <p:cNvSpPr txBox="1"/>
          <p:nvPr/>
        </p:nvSpPr>
        <p:spPr>
          <a:xfrm>
            <a:off x="1234440" y="2523744"/>
            <a:ext cx="3108960" cy="347472"/>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3.  Ingestion</a:t>
            </a:r>
            <a:endParaRPr lang="en-US" sz="1400" dirty="0"/>
          </a:p>
        </p:txBody>
      </p:sp>
      <p:sp>
        <p:nvSpPr>
          <p:cNvPr id="18" name="Text 13"/>
          <p:cNvSpPr txBox="1"/>
          <p:nvPr/>
        </p:nvSpPr>
        <p:spPr>
          <a:xfrm>
            <a:off x="1234440" y="2852928"/>
            <a:ext cx="3108960" cy="36576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Loaders, chunking (chunks.json), embeddings, vector DB</a:t>
            </a:r>
            <a:endParaRPr lang="en-US" sz="1150" dirty="0"/>
          </a:p>
        </p:txBody>
      </p:sp>
      <p:sp>
        <p:nvSpPr>
          <p:cNvPr id="19" name="Shape 14"/>
          <p:cNvSpPr/>
          <p:nvPr/>
        </p:nvSpPr>
        <p:spPr>
          <a:xfrm>
            <a:off x="4709160" y="2377440"/>
            <a:ext cx="3977640" cy="932688"/>
          </a:xfrm>
          <a:prstGeom prst="roundRect">
            <a:avLst>
              <a:gd name="adj" fmla="val 9804"/>
            </a:avLst>
          </a:prstGeom>
          <a:solidFill>
            <a:srgbClr val="F4F5F7"/>
          </a:solidFill>
          <a:ln w="9525">
            <a:solidFill>
              <a:srgbClr val="E5E7EB"/>
            </a:solidFill>
            <a:prstDash val="solid"/>
          </a:ln>
        </p:spPr>
      </p:sp>
      <p:sp>
        <p:nvSpPr>
          <p:cNvPr id="20" name="Shape 15"/>
          <p:cNvSpPr/>
          <p:nvPr/>
        </p:nvSpPr>
        <p:spPr>
          <a:xfrm>
            <a:off x="4892040" y="2615184"/>
            <a:ext cx="457200" cy="457200"/>
          </a:xfrm>
          <a:prstGeom prst="ellipse">
            <a:avLst/>
          </a:prstGeom>
          <a:solidFill>
            <a:srgbClr val="FCA311"/>
          </a:solidFill>
          <a:ln w="12700">
            <a:solidFill>
              <a:srgbClr val="FCA311"/>
            </a:solidFill>
            <a:prstDash val="solid"/>
          </a:ln>
        </p:spPr>
      </p:sp>
      <p:pic>
        <p:nvPicPr>
          <p:cNvPr id="21" name="Image 3" descr="preencoded.png">    </p:cNvPr>
          <p:cNvPicPr>
            <a:picLocks noChangeAspect="1"/>
          </p:cNvPicPr>
          <p:nvPr/>
        </p:nvPicPr>
        <p:blipFill>
          <a:blip r:embed="rId4"/>
          <a:stretch>
            <a:fillRect/>
          </a:stretch>
        </p:blipFill>
        <p:spPr>
          <a:xfrm>
            <a:off x="5001768" y="2724912"/>
            <a:ext cx="237744" cy="237744"/>
          </a:xfrm>
          <a:prstGeom prst="rect">
            <a:avLst/>
          </a:prstGeom>
        </p:spPr>
      </p:pic>
      <p:sp>
        <p:nvSpPr>
          <p:cNvPr id="22" name="Text 16"/>
          <p:cNvSpPr txBox="1"/>
          <p:nvPr/>
        </p:nvSpPr>
        <p:spPr>
          <a:xfrm>
            <a:off x="5486400" y="2523744"/>
            <a:ext cx="3108960" cy="347472"/>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4.  Retrieval &amp; query rewriting</a:t>
            </a:r>
            <a:endParaRPr lang="en-US" sz="1400" dirty="0"/>
          </a:p>
        </p:txBody>
      </p:sp>
      <p:sp>
        <p:nvSpPr>
          <p:cNvPr id="23" name="Text 17"/>
          <p:cNvSpPr txBox="1"/>
          <p:nvPr/>
        </p:nvSpPr>
        <p:spPr>
          <a:xfrm>
            <a:off x="5486400" y="2852928"/>
            <a:ext cx="3108960" cy="36576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Manual (embedding-based) and LLM strategies, RRF</a:t>
            </a:r>
            <a:endParaRPr lang="en-US" sz="1150" dirty="0"/>
          </a:p>
        </p:txBody>
      </p:sp>
      <p:sp>
        <p:nvSpPr>
          <p:cNvPr id="24" name="Shape 18"/>
          <p:cNvSpPr/>
          <p:nvPr/>
        </p:nvSpPr>
        <p:spPr>
          <a:xfrm>
            <a:off x="457200" y="3474720"/>
            <a:ext cx="3977640" cy="932688"/>
          </a:xfrm>
          <a:prstGeom prst="roundRect">
            <a:avLst>
              <a:gd name="adj" fmla="val 9804"/>
            </a:avLst>
          </a:prstGeom>
          <a:solidFill>
            <a:srgbClr val="F4F5F7"/>
          </a:solidFill>
          <a:ln w="9525">
            <a:solidFill>
              <a:srgbClr val="E5E7EB"/>
            </a:solidFill>
            <a:prstDash val="solid"/>
          </a:ln>
        </p:spPr>
      </p:sp>
      <p:sp>
        <p:nvSpPr>
          <p:cNvPr id="25" name="Shape 19"/>
          <p:cNvSpPr/>
          <p:nvPr/>
        </p:nvSpPr>
        <p:spPr>
          <a:xfrm>
            <a:off x="640080" y="3712464"/>
            <a:ext cx="457200" cy="457200"/>
          </a:xfrm>
          <a:prstGeom prst="ellipse">
            <a:avLst/>
          </a:prstGeom>
          <a:solidFill>
            <a:srgbClr val="FCA311"/>
          </a:solidFill>
          <a:ln w="12700">
            <a:solidFill>
              <a:srgbClr val="FCA311"/>
            </a:solidFill>
            <a:prstDash val="solid"/>
          </a:ln>
        </p:spPr>
      </p:sp>
      <p:pic>
        <p:nvPicPr>
          <p:cNvPr id="26" name="Image 4" descr="preencoded.png">    </p:cNvPr>
          <p:cNvPicPr>
            <a:picLocks noChangeAspect="1"/>
          </p:cNvPicPr>
          <p:nvPr/>
        </p:nvPicPr>
        <p:blipFill>
          <a:blip r:embed="rId5"/>
          <a:stretch>
            <a:fillRect/>
          </a:stretch>
        </p:blipFill>
        <p:spPr>
          <a:xfrm>
            <a:off x="749808" y="3822192"/>
            <a:ext cx="237744" cy="237744"/>
          </a:xfrm>
          <a:prstGeom prst="rect">
            <a:avLst/>
          </a:prstGeom>
        </p:spPr>
      </p:pic>
      <p:sp>
        <p:nvSpPr>
          <p:cNvPr id="27" name="Text 20"/>
          <p:cNvSpPr txBox="1"/>
          <p:nvPr/>
        </p:nvSpPr>
        <p:spPr>
          <a:xfrm>
            <a:off x="1234440" y="3621024"/>
            <a:ext cx="3108960" cy="347472"/>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5.  Generation &amp; CLI</a:t>
            </a:r>
            <a:endParaRPr lang="en-US" sz="1400" dirty="0"/>
          </a:p>
        </p:txBody>
      </p:sp>
      <p:sp>
        <p:nvSpPr>
          <p:cNvPr id="28" name="Text 21"/>
          <p:cNvSpPr txBox="1"/>
          <p:nvPr/>
        </p:nvSpPr>
        <p:spPr>
          <a:xfrm>
            <a:off x="1234440" y="3950208"/>
            <a:ext cx="3108960" cy="36576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Grounded prompting, citations, interactive command line</a:t>
            </a:r>
            <a:endParaRPr lang="en-US" sz="1150" dirty="0"/>
          </a:p>
        </p:txBody>
      </p:sp>
      <p:sp>
        <p:nvSpPr>
          <p:cNvPr id="29" name="Shape 22"/>
          <p:cNvSpPr/>
          <p:nvPr/>
        </p:nvSpPr>
        <p:spPr>
          <a:xfrm>
            <a:off x="4709160" y="3474720"/>
            <a:ext cx="3977640" cy="932688"/>
          </a:xfrm>
          <a:prstGeom prst="roundRect">
            <a:avLst>
              <a:gd name="adj" fmla="val 9804"/>
            </a:avLst>
          </a:prstGeom>
          <a:solidFill>
            <a:srgbClr val="F4F5F7"/>
          </a:solidFill>
          <a:ln w="9525">
            <a:solidFill>
              <a:srgbClr val="E5E7EB"/>
            </a:solidFill>
            <a:prstDash val="solid"/>
          </a:ln>
        </p:spPr>
      </p:sp>
      <p:sp>
        <p:nvSpPr>
          <p:cNvPr id="30" name="Shape 23"/>
          <p:cNvSpPr/>
          <p:nvPr/>
        </p:nvSpPr>
        <p:spPr>
          <a:xfrm>
            <a:off x="4892040" y="3712464"/>
            <a:ext cx="457200" cy="457200"/>
          </a:xfrm>
          <a:prstGeom prst="ellipse">
            <a:avLst/>
          </a:prstGeom>
          <a:solidFill>
            <a:srgbClr val="FCA311"/>
          </a:solidFill>
          <a:ln w="12700">
            <a:solidFill>
              <a:srgbClr val="FCA311"/>
            </a:solidFill>
            <a:prstDash val="solid"/>
          </a:ln>
        </p:spPr>
      </p:sp>
      <p:pic>
        <p:nvPicPr>
          <p:cNvPr id="31" name="Image 5" descr="preencoded.png">    </p:cNvPr>
          <p:cNvPicPr>
            <a:picLocks noChangeAspect="1"/>
          </p:cNvPicPr>
          <p:nvPr/>
        </p:nvPicPr>
        <p:blipFill>
          <a:blip r:embed="rId6"/>
          <a:stretch>
            <a:fillRect/>
          </a:stretch>
        </p:blipFill>
        <p:spPr>
          <a:xfrm>
            <a:off x="5001768" y="3822192"/>
            <a:ext cx="237744" cy="237744"/>
          </a:xfrm>
          <a:prstGeom prst="rect">
            <a:avLst/>
          </a:prstGeom>
        </p:spPr>
      </p:pic>
      <p:sp>
        <p:nvSpPr>
          <p:cNvPr id="32" name="Text 24"/>
          <p:cNvSpPr txBox="1"/>
          <p:nvPr/>
        </p:nvSpPr>
        <p:spPr>
          <a:xfrm>
            <a:off x="5486400" y="3621024"/>
            <a:ext cx="3108960" cy="347472"/>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6.  Evaluation &amp; results</a:t>
            </a:r>
            <a:endParaRPr lang="en-US" sz="1400" dirty="0"/>
          </a:p>
        </p:txBody>
      </p:sp>
      <p:sp>
        <p:nvSpPr>
          <p:cNvPr id="33" name="Text 25"/>
          <p:cNvSpPr txBox="1"/>
          <p:nvPr/>
        </p:nvSpPr>
        <p:spPr>
          <a:xfrm>
            <a:off x="5486400" y="3950208"/>
            <a:ext cx="3108960" cy="36576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Four metrics by hand and with RAGAS, lessons learned</a:t>
            </a:r>
            <a:endParaRPr lang="en-US" sz="1150" dirty="0"/>
          </a:p>
        </p:txBody>
      </p:sp>
      <p:sp>
        <p:nvSpPr>
          <p:cNvPr id="34" name="Text 26"/>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Multi-Document RAG  ·  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MOTIVATION</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Why a plain LLM is not enough</a:t>
            </a:r>
            <a:endParaRPr lang="en-US" sz="2800" dirty="0"/>
          </a:p>
        </p:txBody>
      </p:sp>
      <p:sp>
        <p:nvSpPr>
          <p:cNvPr id="4" name="Shape 2"/>
          <p:cNvSpPr/>
          <p:nvPr/>
        </p:nvSpPr>
        <p:spPr>
          <a:xfrm>
            <a:off x="457200" y="1353312"/>
            <a:ext cx="502920" cy="502920"/>
          </a:xfrm>
          <a:prstGeom prst="ellipse">
            <a:avLst/>
          </a:prstGeom>
          <a:solidFill>
            <a:srgbClr val="FCA311"/>
          </a:solidFill>
          <a:ln w="12700">
            <a:solidFill>
              <a:srgbClr val="FCA311"/>
            </a:solidFill>
            <a:prstDash val="solid"/>
          </a:ln>
        </p:spPr>
      </p:sp>
      <p:pic>
        <p:nvPicPr>
          <p:cNvPr id="5" name="Image 0" descr="preencoded.png">    </p:cNvPr>
          <p:cNvPicPr>
            <a:picLocks noChangeAspect="1"/>
          </p:cNvPicPr>
          <p:nvPr/>
        </p:nvPicPr>
        <p:blipFill>
          <a:blip r:embed="rId1"/>
          <a:stretch>
            <a:fillRect/>
          </a:stretch>
        </p:blipFill>
        <p:spPr>
          <a:xfrm>
            <a:off x="577901" y="1474013"/>
            <a:ext cx="261518" cy="261518"/>
          </a:xfrm>
          <a:prstGeom prst="rect">
            <a:avLst/>
          </a:prstGeom>
        </p:spPr>
      </p:pic>
      <p:sp>
        <p:nvSpPr>
          <p:cNvPr id="6" name="Text 3"/>
          <p:cNvSpPr txBox="1"/>
          <p:nvPr/>
        </p:nvSpPr>
        <p:spPr>
          <a:xfrm>
            <a:off x="1097280" y="1280160"/>
            <a:ext cx="3749040" cy="329184"/>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It has never seen your documents</a:t>
            </a:r>
            <a:endParaRPr lang="en-US" sz="1500" dirty="0"/>
          </a:p>
        </p:txBody>
      </p:sp>
      <p:sp>
        <p:nvSpPr>
          <p:cNvPr id="7" name="Text 4"/>
          <p:cNvSpPr txBox="1"/>
          <p:nvPr/>
        </p:nvSpPr>
        <p:spPr>
          <a:xfrm>
            <a:off x="1097280" y="1609344"/>
            <a:ext cx="3749040" cy="64008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Company policies, HR data and internal notes are not in any training set.</a:t>
            </a:r>
            <a:endParaRPr lang="en-US" sz="1250" dirty="0"/>
          </a:p>
        </p:txBody>
      </p:sp>
      <p:sp>
        <p:nvSpPr>
          <p:cNvPr id="8" name="Shape 5"/>
          <p:cNvSpPr/>
          <p:nvPr/>
        </p:nvSpPr>
        <p:spPr>
          <a:xfrm>
            <a:off x="457200" y="2468880"/>
            <a:ext cx="502920" cy="502920"/>
          </a:xfrm>
          <a:prstGeom prst="ellipse">
            <a:avLst/>
          </a:prstGeom>
          <a:solidFill>
            <a:srgbClr val="FCA311"/>
          </a:solidFill>
          <a:ln w="12700">
            <a:solidFill>
              <a:srgbClr val="FCA311"/>
            </a:solidFill>
            <a:prstDash val="solid"/>
          </a:ln>
        </p:spPr>
      </p:sp>
      <p:pic>
        <p:nvPicPr>
          <p:cNvPr id="9" name="Image 1" descr="preencoded.png">    </p:cNvPr>
          <p:cNvPicPr>
            <a:picLocks noChangeAspect="1"/>
          </p:cNvPicPr>
          <p:nvPr/>
        </p:nvPicPr>
        <p:blipFill>
          <a:blip r:embed="rId2"/>
          <a:stretch>
            <a:fillRect/>
          </a:stretch>
        </p:blipFill>
        <p:spPr>
          <a:xfrm>
            <a:off x="577901" y="2589581"/>
            <a:ext cx="261518" cy="261518"/>
          </a:xfrm>
          <a:prstGeom prst="rect">
            <a:avLst/>
          </a:prstGeom>
        </p:spPr>
      </p:pic>
      <p:sp>
        <p:nvSpPr>
          <p:cNvPr id="10" name="Text 6"/>
          <p:cNvSpPr txBox="1"/>
          <p:nvPr/>
        </p:nvSpPr>
        <p:spPr>
          <a:xfrm>
            <a:off x="1097280" y="2395728"/>
            <a:ext cx="3749040" cy="329184"/>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It answers confidently anyway</a:t>
            </a:r>
            <a:endParaRPr lang="en-US" sz="1500" dirty="0"/>
          </a:p>
        </p:txBody>
      </p:sp>
      <p:sp>
        <p:nvSpPr>
          <p:cNvPr id="11" name="Text 7"/>
          <p:cNvSpPr txBox="1"/>
          <p:nvPr/>
        </p:nvSpPr>
        <p:spPr>
          <a:xfrm>
            <a:off x="1097280" y="2724912"/>
            <a:ext cx="3749040" cy="64008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Hallucinated leave days or reimbursement rules look exactly like real ones.</a:t>
            </a:r>
            <a:endParaRPr lang="en-US" sz="1250" dirty="0"/>
          </a:p>
        </p:txBody>
      </p:sp>
      <p:sp>
        <p:nvSpPr>
          <p:cNvPr id="12" name="Shape 8"/>
          <p:cNvSpPr/>
          <p:nvPr/>
        </p:nvSpPr>
        <p:spPr>
          <a:xfrm>
            <a:off x="457200" y="3584448"/>
            <a:ext cx="502920" cy="502920"/>
          </a:xfrm>
          <a:prstGeom prst="ellipse">
            <a:avLst/>
          </a:prstGeom>
          <a:solidFill>
            <a:srgbClr val="FCA311"/>
          </a:solidFill>
          <a:ln w="12700">
            <a:solidFill>
              <a:srgbClr val="FCA311"/>
            </a:solidFill>
            <a:prstDash val="solid"/>
          </a:ln>
        </p:spPr>
      </p:sp>
      <p:pic>
        <p:nvPicPr>
          <p:cNvPr id="13" name="Image 2" descr="preencoded.png">    </p:cNvPr>
          <p:cNvPicPr>
            <a:picLocks noChangeAspect="1"/>
          </p:cNvPicPr>
          <p:nvPr/>
        </p:nvPicPr>
        <p:blipFill>
          <a:blip r:embed="rId3"/>
          <a:stretch>
            <a:fillRect/>
          </a:stretch>
        </p:blipFill>
        <p:spPr>
          <a:xfrm>
            <a:off x="577901" y="3705149"/>
            <a:ext cx="261518" cy="261518"/>
          </a:xfrm>
          <a:prstGeom prst="rect">
            <a:avLst/>
          </a:prstGeom>
        </p:spPr>
      </p:pic>
      <p:sp>
        <p:nvSpPr>
          <p:cNvPr id="14" name="Text 9"/>
          <p:cNvSpPr txBox="1"/>
          <p:nvPr/>
        </p:nvSpPr>
        <p:spPr>
          <a:xfrm>
            <a:off x="1097280" y="3511296"/>
            <a:ext cx="3749040" cy="329184"/>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Nothing can be traced back</a:t>
            </a:r>
            <a:endParaRPr lang="en-US" sz="1500" dirty="0"/>
          </a:p>
        </p:txBody>
      </p:sp>
      <p:sp>
        <p:nvSpPr>
          <p:cNvPr id="15" name="Text 10"/>
          <p:cNvSpPr txBox="1"/>
          <p:nvPr/>
        </p:nvSpPr>
        <p:spPr>
          <a:xfrm>
            <a:off x="1097280" y="3840480"/>
            <a:ext cx="3749040" cy="64008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No page, row or section to check — so nobody can trust or audit the answer.</a:t>
            </a:r>
            <a:endParaRPr lang="en-US" sz="1250" dirty="0"/>
          </a:p>
        </p:txBody>
      </p:sp>
      <p:sp>
        <p:nvSpPr>
          <p:cNvPr id="16" name="Shape 11"/>
          <p:cNvSpPr/>
          <p:nvPr/>
        </p:nvSpPr>
        <p:spPr>
          <a:xfrm>
            <a:off x="5303520" y="1280160"/>
            <a:ext cx="3383280" cy="3291840"/>
          </a:xfrm>
          <a:prstGeom prst="roundRect">
            <a:avLst>
              <a:gd name="adj" fmla="val 3333"/>
            </a:avLst>
          </a:prstGeom>
          <a:solidFill>
            <a:srgbClr val="14213D"/>
          </a:solidFill>
          <a:ln w="12700">
            <a:solidFill>
              <a:srgbClr val="14213D"/>
            </a:solidFill>
            <a:prstDash val="solid"/>
          </a:ln>
        </p:spPr>
      </p:sp>
      <p:sp>
        <p:nvSpPr>
          <p:cNvPr id="17" name="Text 12"/>
          <p:cNvSpPr txBox="1"/>
          <p:nvPr/>
        </p:nvSpPr>
        <p:spPr>
          <a:xfrm>
            <a:off x="5577840" y="1463040"/>
            <a:ext cx="2926080" cy="274320"/>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PROJECT GOAL</a:t>
            </a:r>
            <a:endParaRPr lang="en-US" sz="1100" dirty="0"/>
          </a:p>
        </p:txBody>
      </p:sp>
      <p:sp>
        <p:nvSpPr>
          <p:cNvPr id="18" name="Text 13"/>
          <p:cNvSpPr txBox="1"/>
          <p:nvPr/>
        </p:nvSpPr>
        <p:spPr>
          <a:xfrm>
            <a:off x="5577840" y="1755648"/>
            <a:ext cx="2926080" cy="6400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 complete, measurable RAG system</a:t>
            </a:r>
            <a:endParaRPr lang="en-US" sz="1800" dirty="0"/>
          </a:p>
        </p:txBody>
      </p:sp>
      <p:sp>
        <p:nvSpPr>
          <p:cNvPr id="19" name="Text 14"/>
          <p:cNvSpPr txBox="1"/>
          <p:nvPr/>
        </p:nvSpPr>
        <p:spPr>
          <a:xfrm>
            <a:off x="5577840" y="2514600"/>
            <a:ext cx="2926080" cy="192024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rgbClr val="C9D6EE"/>
                </a:solidFill>
                <a:latin typeface="Calibri" pitchFamily="34" charset="0"/>
                <a:ea typeface="Calibri" pitchFamily="34" charset="-122"/>
                <a:cs typeface="Calibri" pitchFamily="34" charset="-120"/>
              </a:rPr>
              <a:t>Answer from 7 file formats</a:t>
            </a:r>
            <a:endParaRPr lang="en-US" sz="1250" dirty="0"/>
          </a:p>
          <a:p>
            <a:pPr marL="152400" indent="-152400">
              <a:spcAft>
                <a:spcPts val="600"/>
              </a:spcAft>
              <a:buSzPct val="100000"/>
              <a:buChar char="•"/>
            </a:pPr>
            <a:r>
              <a:rPr lang="en-US" sz="1250" dirty="0">
                <a:solidFill>
                  <a:srgbClr val="C9D6EE"/>
                </a:solidFill>
                <a:latin typeface="Calibri" pitchFamily="34" charset="0"/>
                <a:ea typeface="Calibri" pitchFamily="34" charset="-122"/>
                <a:cs typeface="Calibri" pitchFamily="34" charset="-120"/>
              </a:rPr>
              <a:t>Show the exact source of every claim</a:t>
            </a:r>
            <a:endParaRPr lang="en-US" sz="1250" dirty="0"/>
          </a:p>
          <a:p>
            <a:pPr marL="152400" indent="-152400">
              <a:spcAft>
                <a:spcPts val="600"/>
              </a:spcAft>
              <a:buSzPct val="100000"/>
              <a:buChar char="•"/>
            </a:pPr>
            <a:r>
              <a:rPr lang="en-US" sz="1250" dirty="0">
                <a:solidFill>
                  <a:srgbClr val="C9D6EE"/>
                </a:solidFill>
                <a:latin typeface="Calibri" pitchFamily="34" charset="0"/>
                <a:ea typeface="Calibri" pitchFamily="34" charset="-122"/>
                <a:cs typeface="Calibri" pitchFamily="34" charset="-120"/>
              </a:rPr>
              <a:t>Refuse when the documents do not know</a:t>
            </a:r>
            <a:endParaRPr lang="en-US" sz="1250" dirty="0"/>
          </a:p>
          <a:p>
            <a:pPr marL="152400" indent="-152400">
              <a:spcAft>
                <a:spcPts val="600"/>
              </a:spcAft>
              <a:buSzPct val="100000"/>
              <a:buChar char="•"/>
            </a:pPr>
            <a:r>
              <a:rPr lang="en-US" sz="1250" dirty="0">
                <a:solidFill>
                  <a:srgbClr val="C9D6EE"/>
                </a:solidFill>
                <a:latin typeface="Calibri" pitchFamily="34" charset="0"/>
                <a:ea typeface="Calibri" pitchFamily="34" charset="-122"/>
                <a:cs typeface="Calibri" pitchFamily="34" charset="-120"/>
              </a:rPr>
              <a:t>Score retrieval and generation separately</a:t>
            </a:r>
            <a:endParaRPr lang="en-US" sz="1250" dirty="0"/>
          </a:p>
        </p:txBody>
      </p:sp>
      <p:sp>
        <p:nvSpPr>
          <p:cNvPr id="20" name="Text 15"/>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Multi-Document RAG  ·  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CONCEPT</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RAG = Retrieve, Augment, Generate</a:t>
            </a:r>
            <a:endParaRPr lang="en-US" sz="2800" dirty="0"/>
          </a:p>
        </p:txBody>
      </p:sp>
      <p:sp>
        <p:nvSpPr>
          <p:cNvPr id="4" name="Shape 2"/>
          <p:cNvSpPr/>
          <p:nvPr/>
        </p:nvSpPr>
        <p:spPr>
          <a:xfrm>
            <a:off x="457200" y="1325880"/>
            <a:ext cx="2560320" cy="2331720"/>
          </a:xfrm>
          <a:prstGeom prst="roundRect">
            <a:avLst>
              <a:gd name="adj" fmla="val 3922"/>
            </a:avLst>
          </a:prstGeom>
          <a:solidFill>
            <a:srgbClr val="F4F5F7"/>
          </a:solidFill>
          <a:ln w="9525">
            <a:solidFill>
              <a:srgbClr val="E5E7EB"/>
            </a:solidFill>
            <a:prstDash val="solid"/>
          </a:ln>
        </p:spPr>
      </p:sp>
      <p:sp>
        <p:nvSpPr>
          <p:cNvPr id="5" name="Shape 3"/>
          <p:cNvSpPr/>
          <p:nvPr/>
        </p:nvSpPr>
        <p:spPr>
          <a:xfrm>
            <a:off x="685800" y="1554480"/>
            <a:ext cx="566928" cy="566928"/>
          </a:xfrm>
          <a:prstGeom prst="ellipse">
            <a:avLst/>
          </a:prstGeom>
          <a:solidFill>
            <a:srgbClr val="FCA311"/>
          </a:solidFill>
          <a:ln w="12700">
            <a:solidFill>
              <a:srgbClr val="FCA311"/>
            </a:solidFill>
            <a:prstDash val="solid"/>
          </a:ln>
        </p:spPr>
      </p:sp>
      <p:pic>
        <p:nvPicPr>
          <p:cNvPr id="6" name="Image 0" descr="preencoded.png">    </p:cNvPr>
          <p:cNvPicPr>
            <a:picLocks noChangeAspect="1"/>
          </p:cNvPicPr>
          <p:nvPr/>
        </p:nvPicPr>
        <p:blipFill>
          <a:blip r:embed="rId1"/>
          <a:stretch>
            <a:fillRect/>
          </a:stretch>
        </p:blipFill>
        <p:spPr>
          <a:xfrm>
            <a:off x="821863" y="1690543"/>
            <a:ext cx="294803" cy="294803"/>
          </a:xfrm>
          <a:prstGeom prst="rect">
            <a:avLst/>
          </a:prstGeom>
        </p:spPr>
      </p:pic>
      <p:sp>
        <p:nvSpPr>
          <p:cNvPr id="7" name="Text 4"/>
          <p:cNvSpPr txBox="1"/>
          <p:nvPr/>
        </p:nvSpPr>
        <p:spPr>
          <a:xfrm>
            <a:off x="1371600" y="1572768"/>
            <a:ext cx="1554480" cy="50292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Retrieve</a:t>
            </a:r>
            <a:endParaRPr lang="en-US" sz="2000" dirty="0"/>
          </a:p>
        </p:txBody>
      </p:sp>
      <p:sp>
        <p:nvSpPr>
          <p:cNvPr id="8" name="Text 5"/>
          <p:cNvSpPr txBox="1"/>
          <p:nvPr/>
        </p:nvSpPr>
        <p:spPr>
          <a:xfrm>
            <a:off x="685800" y="2240280"/>
            <a:ext cx="2103120" cy="132588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Turn the question into a vector and find the most similar document chunks in a vector database.</a:t>
            </a:r>
            <a:endParaRPr lang="en-US" sz="1250" dirty="0"/>
          </a:p>
        </p:txBody>
      </p:sp>
      <p:sp>
        <p:nvSpPr>
          <p:cNvPr id="9" name="Shape 6"/>
          <p:cNvSpPr/>
          <p:nvPr/>
        </p:nvSpPr>
        <p:spPr>
          <a:xfrm>
            <a:off x="3035808" y="2487168"/>
            <a:ext cx="237744" cy="0"/>
          </a:xfrm>
          <a:prstGeom prst="line">
            <a:avLst/>
          </a:prstGeom>
          <a:noFill/>
          <a:ln w="25400">
            <a:solidFill>
              <a:srgbClr val="FCA311"/>
            </a:solidFill>
            <a:prstDash val="solid"/>
            <a:tailEnd type="triangle"/>
          </a:ln>
        </p:spPr>
      </p:sp>
      <p:sp>
        <p:nvSpPr>
          <p:cNvPr id="10" name="Shape 7"/>
          <p:cNvSpPr/>
          <p:nvPr/>
        </p:nvSpPr>
        <p:spPr>
          <a:xfrm>
            <a:off x="3291840" y="1325880"/>
            <a:ext cx="2560320" cy="2331720"/>
          </a:xfrm>
          <a:prstGeom prst="roundRect">
            <a:avLst>
              <a:gd name="adj" fmla="val 3922"/>
            </a:avLst>
          </a:prstGeom>
          <a:solidFill>
            <a:srgbClr val="F4F5F7"/>
          </a:solidFill>
          <a:ln w="9525">
            <a:solidFill>
              <a:srgbClr val="E5E7EB"/>
            </a:solidFill>
            <a:prstDash val="solid"/>
          </a:ln>
        </p:spPr>
      </p:sp>
      <p:sp>
        <p:nvSpPr>
          <p:cNvPr id="11" name="Shape 8"/>
          <p:cNvSpPr/>
          <p:nvPr/>
        </p:nvSpPr>
        <p:spPr>
          <a:xfrm>
            <a:off x="3520440" y="1554480"/>
            <a:ext cx="566928" cy="566928"/>
          </a:xfrm>
          <a:prstGeom prst="ellipse">
            <a:avLst/>
          </a:prstGeom>
          <a:solidFill>
            <a:srgbClr val="FCA311"/>
          </a:solidFill>
          <a:ln w="12700">
            <a:solidFill>
              <a:srgbClr val="FCA311"/>
            </a:solidFill>
            <a:prstDash val="solid"/>
          </a:ln>
        </p:spPr>
      </p:sp>
      <p:pic>
        <p:nvPicPr>
          <p:cNvPr id="12" name="Image 1" descr="preencoded.png">    </p:cNvPr>
          <p:cNvPicPr>
            <a:picLocks noChangeAspect="1"/>
          </p:cNvPicPr>
          <p:nvPr/>
        </p:nvPicPr>
        <p:blipFill>
          <a:blip r:embed="rId2"/>
          <a:stretch>
            <a:fillRect/>
          </a:stretch>
        </p:blipFill>
        <p:spPr>
          <a:xfrm>
            <a:off x="3656503" y="1690543"/>
            <a:ext cx="294803" cy="294803"/>
          </a:xfrm>
          <a:prstGeom prst="rect">
            <a:avLst/>
          </a:prstGeom>
        </p:spPr>
      </p:pic>
      <p:sp>
        <p:nvSpPr>
          <p:cNvPr id="13" name="Text 9"/>
          <p:cNvSpPr txBox="1"/>
          <p:nvPr/>
        </p:nvSpPr>
        <p:spPr>
          <a:xfrm>
            <a:off x="4206240" y="1572768"/>
            <a:ext cx="1554480" cy="50292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Augment</a:t>
            </a:r>
            <a:endParaRPr lang="en-US" sz="2000" dirty="0"/>
          </a:p>
        </p:txBody>
      </p:sp>
      <p:sp>
        <p:nvSpPr>
          <p:cNvPr id="14" name="Text 10"/>
          <p:cNvSpPr txBox="1"/>
          <p:nvPr/>
        </p:nvSpPr>
        <p:spPr>
          <a:xfrm>
            <a:off x="3520440" y="2240280"/>
            <a:ext cx="2103120" cy="132588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Paste those chunks — numbered — into the prompt as the only evidence the model may use.</a:t>
            </a:r>
            <a:endParaRPr lang="en-US" sz="1250" dirty="0"/>
          </a:p>
        </p:txBody>
      </p:sp>
      <p:sp>
        <p:nvSpPr>
          <p:cNvPr id="15" name="Shape 11"/>
          <p:cNvSpPr/>
          <p:nvPr/>
        </p:nvSpPr>
        <p:spPr>
          <a:xfrm>
            <a:off x="5870448" y="2487168"/>
            <a:ext cx="237744" cy="0"/>
          </a:xfrm>
          <a:prstGeom prst="line">
            <a:avLst/>
          </a:prstGeom>
          <a:noFill/>
          <a:ln w="25400">
            <a:solidFill>
              <a:srgbClr val="FCA311"/>
            </a:solidFill>
            <a:prstDash val="solid"/>
            <a:tailEnd type="triangle"/>
          </a:ln>
        </p:spPr>
      </p:sp>
      <p:sp>
        <p:nvSpPr>
          <p:cNvPr id="16" name="Shape 12"/>
          <p:cNvSpPr/>
          <p:nvPr/>
        </p:nvSpPr>
        <p:spPr>
          <a:xfrm>
            <a:off x="6126480" y="1325880"/>
            <a:ext cx="2560320" cy="2331720"/>
          </a:xfrm>
          <a:prstGeom prst="roundRect">
            <a:avLst>
              <a:gd name="adj" fmla="val 3922"/>
            </a:avLst>
          </a:prstGeom>
          <a:solidFill>
            <a:srgbClr val="F4F5F7"/>
          </a:solidFill>
          <a:ln w="9525">
            <a:solidFill>
              <a:srgbClr val="E5E7EB"/>
            </a:solidFill>
            <a:prstDash val="solid"/>
          </a:ln>
        </p:spPr>
      </p:sp>
      <p:sp>
        <p:nvSpPr>
          <p:cNvPr id="17" name="Shape 13"/>
          <p:cNvSpPr/>
          <p:nvPr/>
        </p:nvSpPr>
        <p:spPr>
          <a:xfrm>
            <a:off x="6355080" y="1554480"/>
            <a:ext cx="566928" cy="566928"/>
          </a:xfrm>
          <a:prstGeom prst="ellipse">
            <a:avLst/>
          </a:prstGeom>
          <a:solidFill>
            <a:srgbClr val="FCA311"/>
          </a:solidFill>
          <a:ln w="12700">
            <a:solidFill>
              <a:srgbClr val="FCA311"/>
            </a:solidFill>
            <a:prstDash val="solid"/>
          </a:ln>
        </p:spPr>
      </p:sp>
      <p:pic>
        <p:nvPicPr>
          <p:cNvPr id="18" name="Image 2" descr="preencoded.png">    </p:cNvPr>
          <p:cNvPicPr>
            <a:picLocks noChangeAspect="1"/>
          </p:cNvPicPr>
          <p:nvPr/>
        </p:nvPicPr>
        <p:blipFill>
          <a:blip r:embed="rId3"/>
          <a:stretch>
            <a:fillRect/>
          </a:stretch>
        </p:blipFill>
        <p:spPr>
          <a:xfrm>
            <a:off x="6491143" y="1690543"/>
            <a:ext cx="294803" cy="294803"/>
          </a:xfrm>
          <a:prstGeom prst="rect">
            <a:avLst/>
          </a:prstGeom>
        </p:spPr>
      </p:pic>
      <p:sp>
        <p:nvSpPr>
          <p:cNvPr id="19" name="Text 14"/>
          <p:cNvSpPr txBox="1"/>
          <p:nvPr/>
        </p:nvSpPr>
        <p:spPr>
          <a:xfrm>
            <a:off x="7040880" y="1572768"/>
            <a:ext cx="1554480" cy="50292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Generate</a:t>
            </a:r>
            <a:endParaRPr lang="en-US" sz="2000" dirty="0"/>
          </a:p>
        </p:txBody>
      </p:sp>
      <p:sp>
        <p:nvSpPr>
          <p:cNvPr id="20" name="Text 15"/>
          <p:cNvSpPr txBox="1"/>
          <p:nvPr/>
        </p:nvSpPr>
        <p:spPr>
          <a:xfrm>
            <a:off x="6355080" y="2240280"/>
            <a:ext cx="2103120" cy="132588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The LLM writes an answer grounded in that evidence and cites the passage numbers it used.</a:t>
            </a:r>
            <a:endParaRPr lang="en-US" sz="1250" dirty="0"/>
          </a:p>
        </p:txBody>
      </p:sp>
      <p:sp>
        <p:nvSpPr>
          <p:cNvPr id="21" name="Shape 16"/>
          <p:cNvSpPr/>
          <p:nvPr/>
        </p:nvSpPr>
        <p:spPr>
          <a:xfrm>
            <a:off x="457200" y="3886200"/>
            <a:ext cx="8229600" cy="685800"/>
          </a:xfrm>
          <a:prstGeom prst="roundRect">
            <a:avLst>
              <a:gd name="adj" fmla="val 13333"/>
            </a:avLst>
          </a:prstGeom>
          <a:solidFill>
            <a:srgbClr val="FFF4E0"/>
          </a:solidFill>
          <a:ln w="12700">
            <a:solidFill>
              <a:srgbClr val="FFF4E0"/>
            </a:solidFill>
            <a:prstDash val="solid"/>
          </a:ln>
        </p:spPr>
      </p:sp>
      <p:sp>
        <p:nvSpPr>
          <p:cNvPr id="22" name="Text 17"/>
          <p:cNvSpPr txBox="1"/>
          <p:nvPr/>
        </p:nvSpPr>
        <p:spPr>
          <a:xfrm>
            <a:off x="685800" y="3886200"/>
            <a:ext cx="7772400" cy="68580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Mental model:  </a:t>
            </a:r>
            <a:pPr indent="0" marL="0">
              <a:buNone/>
            </a:pPr>
            <a:r>
              <a:rPr lang="en-US" sz="1300" dirty="0">
                <a:solidFill>
                  <a:srgbClr val="1F2937"/>
                </a:solidFill>
                <a:latin typeface="Calibri" pitchFamily="34" charset="0"/>
                <a:ea typeface="Calibri" pitchFamily="34" charset="-122"/>
                <a:cs typeface="Calibri" pitchFamily="34" charset="-120"/>
              </a:rPr>
              <a:t>an open-book exam instead of a closed-book one. The model is not asked to remember — it is asked to read and quote.</a:t>
            </a:r>
            <a:endParaRPr lang="en-US" sz="1300" dirty="0"/>
          </a:p>
        </p:txBody>
      </p:sp>
      <p:sp>
        <p:nvSpPr>
          <p:cNvPr id="23" name="Text 18"/>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Multi-Document RAG  ·  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731520" y="1737360"/>
            <a:ext cx="7315200" cy="274320"/>
          </a:xfrm>
          <a:prstGeom prst="rect">
            <a:avLst/>
          </a:prstGeom>
          <a:noFill/>
          <a:ln/>
        </p:spPr>
        <p:txBody>
          <a:bodyPr wrap="square" lIns="0" tIns="0" rIns="0" bIns="0" rtlCol="0" anchor="ctr"/>
          <a:lstStyle/>
          <a:p>
            <a:pPr indent="0" marL="0">
              <a:buNone/>
            </a:pPr>
            <a:r>
              <a:rPr lang="en-US" sz="1200" b="1" spc="300" kern="0" dirty="0">
                <a:solidFill>
                  <a:srgbClr val="FCA311"/>
                </a:solidFill>
                <a:latin typeface="Calibri" pitchFamily="34" charset="0"/>
                <a:ea typeface="Calibri" pitchFamily="34" charset="-122"/>
                <a:cs typeface="Calibri" pitchFamily="34" charset="-120"/>
              </a:rPr>
              <a:t>PART 1</a:t>
            </a:r>
            <a:endParaRPr lang="en-US" sz="1200" dirty="0"/>
          </a:p>
        </p:txBody>
      </p:sp>
      <p:sp>
        <p:nvSpPr>
          <p:cNvPr id="3" name="Text 1"/>
          <p:cNvSpPr txBox="1"/>
          <p:nvPr/>
        </p:nvSpPr>
        <p:spPr>
          <a:xfrm>
            <a:off x="731520" y="2057400"/>
            <a:ext cx="768096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System architecture</a:t>
            </a:r>
            <a:endParaRPr lang="en-US" sz="4000" dirty="0"/>
          </a:p>
        </p:txBody>
      </p:sp>
      <p:sp>
        <p:nvSpPr>
          <p:cNvPr id="4" name="Text 2"/>
          <p:cNvSpPr txBox="1"/>
          <p:nvPr/>
        </p:nvSpPr>
        <p:spPr>
          <a:xfrm>
            <a:off x="731520" y="2926080"/>
            <a:ext cx="7315200" cy="548640"/>
          </a:xfrm>
          <a:prstGeom prst="rect">
            <a:avLst/>
          </a:prstGeom>
          <a:noFill/>
          <a:ln/>
        </p:spPr>
        <p:txBody>
          <a:bodyPr wrap="square" lIns="0" tIns="0" rIns="0" bIns="0" rtlCol="0" anchor="ctr"/>
          <a:lstStyle/>
          <a:p>
            <a:pPr indent="0" marL="0">
              <a:buNone/>
            </a:pPr>
            <a:r>
              <a:rPr lang="en-US" sz="1600" dirty="0">
                <a:solidFill>
                  <a:srgbClr val="C9D6EE"/>
                </a:solidFill>
                <a:latin typeface="Calibri" pitchFamily="34" charset="0"/>
                <a:ea typeface="Calibri" pitchFamily="34" charset="-122"/>
                <a:cs typeface="Calibri" pitchFamily="34" charset="-120"/>
              </a:rPr>
              <a:t>Three pipelines that share one core: ingestion, question answering and evaluation.</a:t>
            </a:r>
            <a:endParaRPr lang="en-US" sz="1600" dirty="0"/>
          </a:p>
        </p:txBody>
      </p:sp>
      <p:sp>
        <p:nvSpPr>
          <p:cNvPr id="5" name="Shape 3"/>
          <p:cNvSpPr/>
          <p:nvPr/>
        </p:nvSpPr>
        <p:spPr>
          <a:xfrm>
            <a:off x="731520" y="3931920"/>
            <a:ext cx="146304" cy="146304"/>
          </a:xfrm>
          <a:prstGeom prst="ellipse">
            <a:avLst/>
          </a:prstGeom>
          <a:solidFill>
            <a:srgbClr val="FCA311"/>
          </a:solidFill>
          <a:ln w="12700">
            <a:solidFill>
              <a:srgbClr val="FCA311"/>
            </a:solidFill>
            <a:prstDash val="solid"/>
          </a:ln>
        </p:spPr>
      </p:sp>
      <p:sp>
        <p:nvSpPr>
          <p:cNvPr id="6" name="Shape 4"/>
          <p:cNvSpPr/>
          <p:nvPr/>
        </p:nvSpPr>
        <p:spPr>
          <a:xfrm>
            <a:off x="987552" y="3931920"/>
            <a:ext cx="146304" cy="146304"/>
          </a:xfrm>
          <a:prstGeom prst="ellipse">
            <a:avLst/>
          </a:prstGeom>
          <a:solidFill>
            <a:srgbClr val="1F2F5C"/>
          </a:solidFill>
          <a:ln w="12700">
            <a:solidFill>
              <a:srgbClr val="FCA311"/>
            </a:solidFill>
            <a:prstDash val="solid"/>
          </a:ln>
        </p:spPr>
      </p:sp>
      <p:sp>
        <p:nvSpPr>
          <p:cNvPr id="7" name="Shape 5"/>
          <p:cNvSpPr/>
          <p:nvPr/>
        </p:nvSpPr>
        <p:spPr>
          <a:xfrm>
            <a:off x="1243584" y="3931920"/>
            <a:ext cx="146304" cy="146304"/>
          </a:xfrm>
          <a:prstGeom prst="ellipse">
            <a:avLst/>
          </a:prstGeom>
          <a:solidFill>
            <a:srgbClr val="1F2F5C"/>
          </a:solidFill>
          <a:ln w="12700">
            <a:solidFill>
              <a:srgbClr val="FCA311"/>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ARCHITECTURE</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End-to-end data flow</a:t>
            </a:r>
            <a:endParaRPr lang="en-US" sz="2800" dirty="0"/>
          </a:p>
        </p:txBody>
      </p:sp>
      <p:sp>
        <p:nvSpPr>
          <p:cNvPr id="4" name="Text 2"/>
          <p:cNvSpPr txBox="1"/>
          <p:nvPr/>
        </p:nvSpPr>
        <p:spPr>
          <a:xfrm>
            <a:off x="457200" y="1188720"/>
            <a:ext cx="3657600" cy="228600"/>
          </a:xfrm>
          <a:prstGeom prst="rect">
            <a:avLst/>
          </a:prstGeom>
          <a:noFill/>
          <a:ln/>
        </p:spPr>
        <p:txBody>
          <a:bodyPr wrap="square" lIns="0" tIns="0" rIns="0" bIns="0" rtlCol="0" anchor="ctr"/>
          <a:lstStyle/>
          <a:p>
            <a:pPr indent="0" marL="0">
              <a:buNone/>
            </a:pPr>
            <a:r>
              <a:rPr lang="en-US" sz="1000" b="1" spc="200" kern="0" dirty="0">
                <a:solidFill>
                  <a:srgbClr val="FCA311"/>
                </a:solidFill>
                <a:latin typeface="Calibri" pitchFamily="34" charset="0"/>
                <a:ea typeface="Calibri" pitchFamily="34" charset="-122"/>
                <a:cs typeface="Calibri" pitchFamily="34" charset="-120"/>
              </a:rPr>
              <a:t>INGESTION PIPELINE  ·  INGEST.PY</a:t>
            </a:r>
            <a:endParaRPr lang="en-US" sz="1000" dirty="0"/>
          </a:p>
        </p:txBody>
      </p:sp>
      <p:sp>
        <p:nvSpPr>
          <p:cNvPr id="5" name="Shape 3"/>
          <p:cNvSpPr/>
          <p:nvPr/>
        </p:nvSpPr>
        <p:spPr>
          <a:xfrm>
            <a:off x="457200" y="1444752"/>
            <a:ext cx="1371600" cy="566928"/>
          </a:xfrm>
          <a:prstGeom prst="roundRect">
            <a:avLst>
              <a:gd name="adj" fmla="val 19355"/>
            </a:avLst>
          </a:prstGeom>
          <a:solidFill>
            <a:srgbClr val="14213D"/>
          </a:solidFill>
          <a:ln w="12700">
            <a:solidFill>
              <a:srgbClr val="14213D"/>
            </a:solidFill>
            <a:prstDash val="solid"/>
          </a:ln>
        </p:spPr>
      </p:sp>
      <p:sp>
        <p:nvSpPr>
          <p:cNvPr id="6" name="Text 4"/>
          <p:cNvSpPr txBox="1"/>
          <p:nvPr/>
        </p:nvSpPr>
        <p:spPr>
          <a:xfrm>
            <a:off x="457200" y="1444752"/>
            <a:ext cx="1371600" cy="566928"/>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Documents</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(7 formats)</a:t>
            </a:r>
            <a:endParaRPr lang="en-US" sz="1100" dirty="0"/>
          </a:p>
        </p:txBody>
      </p:sp>
      <p:sp>
        <p:nvSpPr>
          <p:cNvPr id="7" name="Shape 5"/>
          <p:cNvSpPr/>
          <p:nvPr/>
        </p:nvSpPr>
        <p:spPr>
          <a:xfrm>
            <a:off x="1847088" y="1728216"/>
            <a:ext cx="301752" cy="0"/>
          </a:xfrm>
          <a:prstGeom prst="line">
            <a:avLst/>
          </a:prstGeom>
          <a:noFill/>
          <a:ln w="19050">
            <a:solidFill>
              <a:srgbClr val="6B7280"/>
            </a:solidFill>
            <a:prstDash val="solid"/>
            <a:tailEnd type="triangle"/>
          </a:ln>
        </p:spPr>
      </p:sp>
      <p:sp>
        <p:nvSpPr>
          <p:cNvPr id="8" name="Shape 6"/>
          <p:cNvSpPr/>
          <p:nvPr/>
        </p:nvSpPr>
        <p:spPr>
          <a:xfrm>
            <a:off x="2171700" y="1444752"/>
            <a:ext cx="1371600" cy="566928"/>
          </a:xfrm>
          <a:prstGeom prst="roundRect">
            <a:avLst>
              <a:gd name="adj" fmla="val 19355"/>
            </a:avLst>
          </a:prstGeom>
          <a:solidFill>
            <a:srgbClr val="14213D"/>
          </a:solidFill>
          <a:ln w="12700">
            <a:solidFill>
              <a:srgbClr val="14213D"/>
            </a:solidFill>
            <a:prstDash val="solid"/>
          </a:ln>
        </p:spPr>
      </p:sp>
      <p:sp>
        <p:nvSpPr>
          <p:cNvPr id="9" name="Text 7"/>
          <p:cNvSpPr txBox="1"/>
          <p:nvPr/>
        </p:nvSpPr>
        <p:spPr>
          <a:xfrm>
            <a:off x="2171700" y="1444752"/>
            <a:ext cx="1371600" cy="566928"/>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Loaders</a:t>
            </a:r>
            <a:endParaRPr lang="en-US" sz="1100" dirty="0"/>
          </a:p>
        </p:txBody>
      </p:sp>
      <p:sp>
        <p:nvSpPr>
          <p:cNvPr id="10" name="Shape 8"/>
          <p:cNvSpPr/>
          <p:nvPr/>
        </p:nvSpPr>
        <p:spPr>
          <a:xfrm>
            <a:off x="3561588" y="1728216"/>
            <a:ext cx="301752" cy="0"/>
          </a:xfrm>
          <a:prstGeom prst="line">
            <a:avLst/>
          </a:prstGeom>
          <a:noFill/>
          <a:ln w="19050">
            <a:solidFill>
              <a:srgbClr val="6B7280"/>
            </a:solidFill>
            <a:prstDash val="solid"/>
            <a:tailEnd type="triangle"/>
          </a:ln>
        </p:spPr>
      </p:sp>
      <p:sp>
        <p:nvSpPr>
          <p:cNvPr id="11" name="Shape 9"/>
          <p:cNvSpPr/>
          <p:nvPr/>
        </p:nvSpPr>
        <p:spPr>
          <a:xfrm>
            <a:off x="3886200" y="1444752"/>
            <a:ext cx="1371600" cy="566928"/>
          </a:xfrm>
          <a:prstGeom prst="roundRect">
            <a:avLst>
              <a:gd name="adj" fmla="val 19355"/>
            </a:avLst>
          </a:prstGeom>
          <a:solidFill>
            <a:srgbClr val="14213D"/>
          </a:solidFill>
          <a:ln w="12700">
            <a:solidFill>
              <a:srgbClr val="14213D"/>
            </a:solidFill>
            <a:prstDash val="solid"/>
          </a:ln>
        </p:spPr>
      </p:sp>
      <p:sp>
        <p:nvSpPr>
          <p:cNvPr id="12" name="Text 10"/>
          <p:cNvSpPr txBox="1"/>
          <p:nvPr/>
        </p:nvSpPr>
        <p:spPr>
          <a:xfrm>
            <a:off x="3886200" y="1444752"/>
            <a:ext cx="1371600" cy="566928"/>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Chunker</a:t>
            </a:r>
            <a:endParaRPr lang="en-US" sz="1100" dirty="0"/>
          </a:p>
        </p:txBody>
      </p:sp>
      <p:sp>
        <p:nvSpPr>
          <p:cNvPr id="13" name="Shape 11"/>
          <p:cNvSpPr/>
          <p:nvPr/>
        </p:nvSpPr>
        <p:spPr>
          <a:xfrm>
            <a:off x="5276088" y="1728216"/>
            <a:ext cx="301752" cy="0"/>
          </a:xfrm>
          <a:prstGeom prst="line">
            <a:avLst/>
          </a:prstGeom>
          <a:noFill/>
          <a:ln w="19050">
            <a:solidFill>
              <a:srgbClr val="6B7280"/>
            </a:solidFill>
            <a:prstDash val="solid"/>
            <a:tailEnd type="triangle"/>
          </a:ln>
        </p:spPr>
      </p:sp>
      <p:sp>
        <p:nvSpPr>
          <p:cNvPr id="14" name="Shape 12"/>
          <p:cNvSpPr/>
          <p:nvPr/>
        </p:nvSpPr>
        <p:spPr>
          <a:xfrm>
            <a:off x="5600700" y="1444752"/>
            <a:ext cx="1371600" cy="566928"/>
          </a:xfrm>
          <a:prstGeom prst="roundRect">
            <a:avLst>
              <a:gd name="adj" fmla="val 19355"/>
            </a:avLst>
          </a:prstGeom>
          <a:solidFill>
            <a:srgbClr val="14213D"/>
          </a:solidFill>
          <a:ln w="12700">
            <a:solidFill>
              <a:srgbClr val="14213D"/>
            </a:solidFill>
            <a:prstDash val="solid"/>
          </a:ln>
        </p:spPr>
      </p:sp>
      <p:sp>
        <p:nvSpPr>
          <p:cNvPr id="15" name="Text 13"/>
          <p:cNvSpPr txBox="1"/>
          <p:nvPr/>
        </p:nvSpPr>
        <p:spPr>
          <a:xfrm>
            <a:off x="5600700" y="1444752"/>
            <a:ext cx="1371600" cy="566928"/>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Embedder</a:t>
            </a:r>
            <a:endParaRPr lang="en-US" sz="1100" dirty="0"/>
          </a:p>
        </p:txBody>
      </p:sp>
      <p:sp>
        <p:nvSpPr>
          <p:cNvPr id="16" name="Shape 14"/>
          <p:cNvSpPr/>
          <p:nvPr/>
        </p:nvSpPr>
        <p:spPr>
          <a:xfrm>
            <a:off x="6990588" y="1728216"/>
            <a:ext cx="301752" cy="0"/>
          </a:xfrm>
          <a:prstGeom prst="line">
            <a:avLst/>
          </a:prstGeom>
          <a:noFill/>
          <a:ln w="19050">
            <a:solidFill>
              <a:srgbClr val="6B7280"/>
            </a:solidFill>
            <a:prstDash val="solid"/>
            <a:tailEnd type="triangle"/>
          </a:ln>
        </p:spPr>
      </p:sp>
      <p:sp>
        <p:nvSpPr>
          <p:cNvPr id="17" name="Shape 15"/>
          <p:cNvSpPr/>
          <p:nvPr/>
        </p:nvSpPr>
        <p:spPr>
          <a:xfrm>
            <a:off x="7315200" y="1444752"/>
            <a:ext cx="1371600" cy="566928"/>
          </a:xfrm>
          <a:prstGeom prst="roundRect">
            <a:avLst>
              <a:gd name="adj" fmla="val 19355"/>
            </a:avLst>
          </a:prstGeom>
          <a:solidFill>
            <a:srgbClr val="14213D"/>
          </a:solidFill>
          <a:ln w="12700">
            <a:solidFill>
              <a:srgbClr val="14213D"/>
            </a:solidFill>
            <a:prstDash val="solid"/>
          </a:ln>
        </p:spPr>
      </p:sp>
      <p:sp>
        <p:nvSpPr>
          <p:cNvPr id="18" name="Text 16"/>
          <p:cNvSpPr txBox="1"/>
          <p:nvPr/>
        </p:nvSpPr>
        <p:spPr>
          <a:xfrm>
            <a:off x="7315200" y="1444752"/>
            <a:ext cx="1371600" cy="566928"/>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ChromaDB</a:t>
            </a:r>
            <a:endParaRPr lang="en-US" sz="1100" dirty="0"/>
          </a:p>
        </p:txBody>
      </p:sp>
      <p:sp>
        <p:nvSpPr>
          <p:cNvPr id="19" name="Text 17"/>
          <p:cNvSpPr txBox="1"/>
          <p:nvPr/>
        </p:nvSpPr>
        <p:spPr>
          <a:xfrm>
            <a:off x="457200" y="2240280"/>
            <a:ext cx="3657600" cy="228600"/>
          </a:xfrm>
          <a:prstGeom prst="rect">
            <a:avLst/>
          </a:prstGeom>
          <a:noFill/>
          <a:ln/>
        </p:spPr>
        <p:txBody>
          <a:bodyPr wrap="square" lIns="0" tIns="0" rIns="0" bIns="0" rtlCol="0" anchor="ctr"/>
          <a:lstStyle/>
          <a:p>
            <a:pPr indent="0" marL="0">
              <a:buNone/>
            </a:pPr>
            <a:r>
              <a:rPr lang="en-US" sz="1000" b="1" spc="200" kern="0" dirty="0">
                <a:solidFill>
                  <a:srgbClr val="FCA311"/>
                </a:solidFill>
                <a:latin typeface="Calibri" pitchFamily="34" charset="0"/>
                <a:ea typeface="Calibri" pitchFamily="34" charset="-122"/>
                <a:cs typeface="Calibri" pitchFamily="34" charset="-120"/>
              </a:rPr>
              <a:t>QUESTION-ANSWERING PIPELINE  ·  MAIN.PY</a:t>
            </a:r>
            <a:endParaRPr lang="en-US" sz="1000" dirty="0"/>
          </a:p>
        </p:txBody>
      </p:sp>
      <p:sp>
        <p:nvSpPr>
          <p:cNvPr id="20" name="Shape 18"/>
          <p:cNvSpPr/>
          <p:nvPr/>
        </p:nvSpPr>
        <p:spPr>
          <a:xfrm>
            <a:off x="457200" y="2496312"/>
            <a:ext cx="1051560" cy="566928"/>
          </a:xfrm>
          <a:prstGeom prst="roundRect">
            <a:avLst>
              <a:gd name="adj" fmla="val 19355"/>
            </a:avLst>
          </a:prstGeom>
          <a:solidFill>
            <a:srgbClr val="14213D"/>
          </a:solidFill>
          <a:ln w="12700">
            <a:solidFill>
              <a:srgbClr val="14213D"/>
            </a:solidFill>
            <a:prstDash val="solid"/>
          </a:ln>
        </p:spPr>
      </p:sp>
      <p:sp>
        <p:nvSpPr>
          <p:cNvPr id="21" name="Text 19"/>
          <p:cNvSpPr txBox="1"/>
          <p:nvPr/>
        </p:nvSpPr>
        <p:spPr>
          <a:xfrm>
            <a:off x="457200" y="2496312"/>
            <a:ext cx="1051560" cy="566928"/>
          </a:xfrm>
          <a:prstGeom prst="rect">
            <a:avLst/>
          </a:prstGeom>
          <a:noFill/>
          <a:ln/>
        </p:spPr>
        <p:txBody>
          <a:bodyPr wrap="square" lIns="38100" tIns="38100" rIns="38100" bIns="3810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Question</a:t>
            </a:r>
            <a:endParaRPr lang="en-US" sz="1050" dirty="0"/>
          </a:p>
        </p:txBody>
      </p:sp>
      <p:sp>
        <p:nvSpPr>
          <p:cNvPr id="22" name="Shape 20"/>
          <p:cNvSpPr/>
          <p:nvPr/>
        </p:nvSpPr>
        <p:spPr>
          <a:xfrm>
            <a:off x="1527048" y="2779776"/>
            <a:ext cx="109728" cy="0"/>
          </a:xfrm>
          <a:prstGeom prst="line">
            <a:avLst/>
          </a:prstGeom>
          <a:noFill/>
          <a:ln w="19050">
            <a:solidFill>
              <a:srgbClr val="6B7280"/>
            </a:solidFill>
            <a:prstDash val="solid"/>
            <a:tailEnd type="triangle"/>
          </a:ln>
        </p:spPr>
      </p:sp>
      <p:sp>
        <p:nvSpPr>
          <p:cNvPr id="23" name="Shape 21"/>
          <p:cNvSpPr/>
          <p:nvPr/>
        </p:nvSpPr>
        <p:spPr>
          <a:xfrm>
            <a:off x="1655064" y="2496312"/>
            <a:ext cx="1051560" cy="566928"/>
          </a:xfrm>
          <a:prstGeom prst="roundRect">
            <a:avLst>
              <a:gd name="adj" fmla="val 19355"/>
            </a:avLst>
          </a:prstGeom>
          <a:solidFill>
            <a:srgbClr val="14213D"/>
          </a:solidFill>
          <a:ln w="12700">
            <a:solidFill>
              <a:srgbClr val="14213D"/>
            </a:solidFill>
            <a:prstDash val="solid"/>
          </a:ln>
        </p:spPr>
      </p:sp>
      <p:sp>
        <p:nvSpPr>
          <p:cNvPr id="24" name="Text 22"/>
          <p:cNvSpPr txBox="1"/>
          <p:nvPr/>
        </p:nvSpPr>
        <p:spPr>
          <a:xfrm>
            <a:off x="1655064" y="2496312"/>
            <a:ext cx="1051560" cy="566928"/>
          </a:xfrm>
          <a:prstGeom prst="rect">
            <a:avLst/>
          </a:prstGeom>
          <a:noFill/>
          <a:ln/>
        </p:spPr>
        <p:txBody>
          <a:bodyPr wrap="square" lIns="38100" tIns="38100" rIns="38100" bIns="3810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Query</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rewriter</a:t>
            </a:r>
            <a:endParaRPr lang="en-US" sz="1050" dirty="0"/>
          </a:p>
        </p:txBody>
      </p:sp>
      <p:sp>
        <p:nvSpPr>
          <p:cNvPr id="25" name="Shape 23"/>
          <p:cNvSpPr/>
          <p:nvPr/>
        </p:nvSpPr>
        <p:spPr>
          <a:xfrm>
            <a:off x="2724912" y="2779776"/>
            <a:ext cx="109728" cy="0"/>
          </a:xfrm>
          <a:prstGeom prst="line">
            <a:avLst/>
          </a:prstGeom>
          <a:noFill/>
          <a:ln w="19050">
            <a:solidFill>
              <a:srgbClr val="6B7280"/>
            </a:solidFill>
            <a:prstDash val="solid"/>
            <a:tailEnd type="triangle"/>
          </a:ln>
        </p:spPr>
      </p:sp>
      <p:sp>
        <p:nvSpPr>
          <p:cNvPr id="26" name="Shape 24"/>
          <p:cNvSpPr/>
          <p:nvPr/>
        </p:nvSpPr>
        <p:spPr>
          <a:xfrm>
            <a:off x="2852928" y="2496312"/>
            <a:ext cx="1051560" cy="566928"/>
          </a:xfrm>
          <a:prstGeom prst="roundRect">
            <a:avLst>
              <a:gd name="adj" fmla="val 19355"/>
            </a:avLst>
          </a:prstGeom>
          <a:solidFill>
            <a:srgbClr val="14213D"/>
          </a:solidFill>
          <a:ln w="12700">
            <a:solidFill>
              <a:srgbClr val="14213D"/>
            </a:solidFill>
            <a:prstDash val="solid"/>
          </a:ln>
        </p:spPr>
      </p:sp>
      <p:sp>
        <p:nvSpPr>
          <p:cNvPr id="27" name="Text 25"/>
          <p:cNvSpPr txBox="1"/>
          <p:nvPr/>
        </p:nvSpPr>
        <p:spPr>
          <a:xfrm>
            <a:off x="2852928" y="2496312"/>
            <a:ext cx="1051560" cy="566928"/>
          </a:xfrm>
          <a:prstGeom prst="rect">
            <a:avLst/>
          </a:prstGeom>
          <a:noFill/>
          <a:ln/>
        </p:spPr>
        <p:txBody>
          <a:bodyPr wrap="square" lIns="38100" tIns="38100" rIns="38100" bIns="3810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Embed</a:t>
            </a:r>
            <a:endParaRPr lang="en-US" sz="1050" dirty="0"/>
          </a:p>
        </p:txBody>
      </p:sp>
      <p:sp>
        <p:nvSpPr>
          <p:cNvPr id="28" name="Shape 26"/>
          <p:cNvSpPr/>
          <p:nvPr/>
        </p:nvSpPr>
        <p:spPr>
          <a:xfrm>
            <a:off x="3922776" y="2779776"/>
            <a:ext cx="109728" cy="0"/>
          </a:xfrm>
          <a:prstGeom prst="line">
            <a:avLst/>
          </a:prstGeom>
          <a:noFill/>
          <a:ln w="19050">
            <a:solidFill>
              <a:srgbClr val="6B7280"/>
            </a:solidFill>
            <a:prstDash val="solid"/>
            <a:tailEnd type="triangle"/>
          </a:ln>
        </p:spPr>
      </p:sp>
      <p:sp>
        <p:nvSpPr>
          <p:cNvPr id="29" name="Shape 27"/>
          <p:cNvSpPr/>
          <p:nvPr/>
        </p:nvSpPr>
        <p:spPr>
          <a:xfrm>
            <a:off x="4050792" y="2496312"/>
            <a:ext cx="1051560" cy="566928"/>
          </a:xfrm>
          <a:prstGeom prst="roundRect">
            <a:avLst>
              <a:gd name="adj" fmla="val 19355"/>
            </a:avLst>
          </a:prstGeom>
          <a:solidFill>
            <a:srgbClr val="14213D"/>
          </a:solidFill>
          <a:ln w="12700">
            <a:solidFill>
              <a:srgbClr val="14213D"/>
            </a:solidFill>
            <a:prstDash val="solid"/>
          </a:ln>
        </p:spPr>
      </p:sp>
      <p:sp>
        <p:nvSpPr>
          <p:cNvPr id="30" name="Text 28"/>
          <p:cNvSpPr txBox="1"/>
          <p:nvPr/>
        </p:nvSpPr>
        <p:spPr>
          <a:xfrm>
            <a:off x="4050792" y="2496312"/>
            <a:ext cx="1051560" cy="566928"/>
          </a:xfrm>
          <a:prstGeom prst="rect">
            <a:avLst/>
          </a:prstGeom>
          <a:noFill/>
          <a:ln/>
        </p:spPr>
        <p:txBody>
          <a:bodyPr wrap="square" lIns="38100" tIns="38100" rIns="38100" bIns="3810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Vector</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search</a:t>
            </a:r>
            <a:endParaRPr lang="en-US" sz="1050" dirty="0"/>
          </a:p>
        </p:txBody>
      </p:sp>
      <p:sp>
        <p:nvSpPr>
          <p:cNvPr id="31" name="Shape 29"/>
          <p:cNvSpPr/>
          <p:nvPr/>
        </p:nvSpPr>
        <p:spPr>
          <a:xfrm>
            <a:off x="5120640" y="2779776"/>
            <a:ext cx="109728" cy="0"/>
          </a:xfrm>
          <a:prstGeom prst="line">
            <a:avLst/>
          </a:prstGeom>
          <a:noFill/>
          <a:ln w="19050">
            <a:solidFill>
              <a:srgbClr val="6B7280"/>
            </a:solidFill>
            <a:prstDash val="solid"/>
            <a:tailEnd type="triangle"/>
          </a:ln>
        </p:spPr>
      </p:sp>
      <p:sp>
        <p:nvSpPr>
          <p:cNvPr id="32" name="Shape 30"/>
          <p:cNvSpPr/>
          <p:nvPr/>
        </p:nvSpPr>
        <p:spPr>
          <a:xfrm>
            <a:off x="5248656" y="2496312"/>
            <a:ext cx="1051560" cy="566928"/>
          </a:xfrm>
          <a:prstGeom prst="roundRect">
            <a:avLst>
              <a:gd name="adj" fmla="val 19355"/>
            </a:avLst>
          </a:prstGeom>
          <a:solidFill>
            <a:srgbClr val="14213D"/>
          </a:solidFill>
          <a:ln w="12700">
            <a:solidFill>
              <a:srgbClr val="14213D"/>
            </a:solidFill>
            <a:prstDash val="solid"/>
          </a:ln>
        </p:spPr>
      </p:sp>
      <p:sp>
        <p:nvSpPr>
          <p:cNvPr id="33" name="Text 31"/>
          <p:cNvSpPr txBox="1"/>
          <p:nvPr/>
        </p:nvSpPr>
        <p:spPr>
          <a:xfrm>
            <a:off x="5248656" y="2496312"/>
            <a:ext cx="1051560" cy="566928"/>
          </a:xfrm>
          <a:prstGeom prst="rect">
            <a:avLst/>
          </a:prstGeom>
          <a:noFill/>
          <a:ln/>
        </p:spPr>
        <p:txBody>
          <a:bodyPr wrap="square" lIns="38100" tIns="38100" rIns="38100" bIns="3810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Top-k +</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prompt</a:t>
            </a:r>
            <a:endParaRPr lang="en-US" sz="1050" dirty="0"/>
          </a:p>
        </p:txBody>
      </p:sp>
      <p:sp>
        <p:nvSpPr>
          <p:cNvPr id="34" name="Shape 32"/>
          <p:cNvSpPr/>
          <p:nvPr/>
        </p:nvSpPr>
        <p:spPr>
          <a:xfrm>
            <a:off x="6318504" y="2779776"/>
            <a:ext cx="109728" cy="0"/>
          </a:xfrm>
          <a:prstGeom prst="line">
            <a:avLst/>
          </a:prstGeom>
          <a:noFill/>
          <a:ln w="19050">
            <a:solidFill>
              <a:srgbClr val="6B7280"/>
            </a:solidFill>
            <a:prstDash val="solid"/>
            <a:tailEnd type="triangle"/>
          </a:ln>
        </p:spPr>
      </p:sp>
      <p:sp>
        <p:nvSpPr>
          <p:cNvPr id="35" name="Shape 33"/>
          <p:cNvSpPr/>
          <p:nvPr/>
        </p:nvSpPr>
        <p:spPr>
          <a:xfrm>
            <a:off x="6446520" y="2496312"/>
            <a:ext cx="1051560" cy="566928"/>
          </a:xfrm>
          <a:prstGeom prst="roundRect">
            <a:avLst>
              <a:gd name="adj" fmla="val 19355"/>
            </a:avLst>
          </a:prstGeom>
          <a:solidFill>
            <a:srgbClr val="14213D"/>
          </a:solidFill>
          <a:ln w="12700">
            <a:solidFill>
              <a:srgbClr val="14213D"/>
            </a:solidFill>
            <a:prstDash val="solid"/>
          </a:ln>
        </p:spPr>
      </p:sp>
      <p:sp>
        <p:nvSpPr>
          <p:cNvPr id="36" name="Text 34"/>
          <p:cNvSpPr txBox="1"/>
          <p:nvPr/>
        </p:nvSpPr>
        <p:spPr>
          <a:xfrm>
            <a:off x="6446520" y="2496312"/>
            <a:ext cx="1051560" cy="566928"/>
          </a:xfrm>
          <a:prstGeom prst="rect">
            <a:avLst/>
          </a:prstGeom>
          <a:noFill/>
          <a:ln/>
        </p:spPr>
        <p:txBody>
          <a:bodyPr wrap="square" lIns="38100" tIns="38100" rIns="38100" bIns="3810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LLM</a:t>
            </a:r>
            <a:endParaRPr lang="en-US" sz="1050" dirty="0"/>
          </a:p>
        </p:txBody>
      </p:sp>
      <p:sp>
        <p:nvSpPr>
          <p:cNvPr id="37" name="Shape 35"/>
          <p:cNvSpPr/>
          <p:nvPr/>
        </p:nvSpPr>
        <p:spPr>
          <a:xfrm>
            <a:off x="7516368" y="2779776"/>
            <a:ext cx="109728" cy="0"/>
          </a:xfrm>
          <a:prstGeom prst="line">
            <a:avLst/>
          </a:prstGeom>
          <a:noFill/>
          <a:ln w="19050">
            <a:solidFill>
              <a:srgbClr val="6B7280"/>
            </a:solidFill>
            <a:prstDash val="solid"/>
            <a:tailEnd type="triangle"/>
          </a:ln>
        </p:spPr>
      </p:sp>
      <p:sp>
        <p:nvSpPr>
          <p:cNvPr id="38" name="Shape 36"/>
          <p:cNvSpPr/>
          <p:nvPr/>
        </p:nvSpPr>
        <p:spPr>
          <a:xfrm>
            <a:off x="7644384" y="2496312"/>
            <a:ext cx="1051560" cy="566928"/>
          </a:xfrm>
          <a:prstGeom prst="roundRect">
            <a:avLst>
              <a:gd name="adj" fmla="val 19355"/>
            </a:avLst>
          </a:prstGeom>
          <a:solidFill>
            <a:srgbClr val="FCA311"/>
          </a:solidFill>
          <a:ln w="12700">
            <a:solidFill>
              <a:srgbClr val="FCA311"/>
            </a:solidFill>
            <a:prstDash val="solid"/>
          </a:ln>
        </p:spPr>
      </p:sp>
      <p:sp>
        <p:nvSpPr>
          <p:cNvPr id="39" name="Text 37"/>
          <p:cNvSpPr txBox="1"/>
          <p:nvPr/>
        </p:nvSpPr>
        <p:spPr>
          <a:xfrm>
            <a:off x="7644384" y="2496312"/>
            <a:ext cx="1051560" cy="566928"/>
          </a:xfrm>
          <a:prstGeom prst="rect">
            <a:avLst/>
          </a:prstGeom>
          <a:noFill/>
          <a:ln/>
        </p:spPr>
        <p:txBody>
          <a:bodyPr wrap="square" lIns="38100" tIns="38100" rIns="38100" bIns="38100" rtlCol="0" anchor="ctr"/>
          <a:lstStyle/>
          <a:p>
            <a:pPr algn="ctr" indent="0" marL="0">
              <a:buNone/>
            </a:pPr>
            <a:r>
              <a:rPr lang="en-US" sz="1050" b="1" dirty="0">
                <a:solidFill>
                  <a:srgbClr val="14213D"/>
                </a:solidFill>
                <a:latin typeface="Calibri" pitchFamily="34" charset="0"/>
                <a:ea typeface="Calibri" pitchFamily="34" charset="-122"/>
                <a:cs typeface="Calibri" pitchFamily="34" charset="-120"/>
              </a:rPr>
              <a:t>Answer +</a:t>
            </a:r>
            <a:endParaRPr lang="en-US" sz="1050" dirty="0"/>
          </a:p>
          <a:p>
            <a:pPr algn="ctr" indent="0" marL="0">
              <a:buNone/>
            </a:pPr>
            <a:r>
              <a:rPr lang="en-US" sz="1050" b="1" dirty="0">
                <a:solidFill>
                  <a:srgbClr val="14213D"/>
                </a:solidFill>
                <a:latin typeface="Calibri" pitchFamily="34" charset="0"/>
                <a:ea typeface="Calibri" pitchFamily="34" charset="-122"/>
                <a:cs typeface="Calibri" pitchFamily="34" charset="-120"/>
              </a:rPr>
              <a:t>citations</a:t>
            </a:r>
            <a:endParaRPr lang="en-US" sz="1050" dirty="0"/>
          </a:p>
        </p:txBody>
      </p:sp>
      <p:sp>
        <p:nvSpPr>
          <p:cNvPr id="40" name="Text 38"/>
          <p:cNvSpPr txBox="1"/>
          <p:nvPr/>
        </p:nvSpPr>
        <p:spPr>
          <a:xfrm>
            <a:off x="457200" y="3291840"/>
            <a:ext cx="3657600" cy="228600"/>
          </a:xfrm>
          <a:prstGeom prst="rect">
            <a:avLst/>
          </a:prstGeom>
          <a:noFill/>
          <a:ln/>
        </p:spPr>
        <p:txBody>
          <a:bodyPr wrap="square" lIns="0" tIns="0" rIns="0" bIns="0" rtlCol="0" anchor="ctr"/>
          <a:lstStyle/>
          <a:p>
            <a:pPr indent="0" marL="0">
              <a:buNone/>
            </a:pPr>
            <a:r>
              <a:rPr lang="en-US" sz="1000" b="1" spc="200" kern="0" dirty="0">
                <a:solidFill>
                  <a:srgbClr val="FCA311"/>
                </a:solidFill>
                <a:latin typeface="Calibri" pitchFamily="34" charset="0"/>
                <a:ea typeface="Calibri" pitchFamily="34" charset="-122"/>
                <a:cs typeface="Calibri" pitchFamily="34" charset="-120"/>
              </a:rPr>
              <a:t>EVALUATION PIPELINE  ·  EVALUATION/</a:t>
            </a:r>
            <a:endParaRPr lang="en-US" sz="1000" dirty="0"/>
          </a:p>
        </p:txBody>
      </p:sp>
      <p:sp>
        <p:nvSpPr>
          <p:cNvPr id="41" name="Shape 39"/>
          <p:cNvSpPr/>
          <p:nvPr/>
        </p:nvSpPr>
        <p:spPr>
          <a:xfrm>
            <a:off x="457200" y="3547872"/>
            <a:ext cx="1737360" cy="566928"/>
          </a:xfrm>
          <a:prstGeom prst="roundRect">
            <a:avLst>
              <a:gd name="adj" fmla="val 19355"/>
            </a:avLst>
          </a:prstGeom>
          <a:solidFill>
            <a:srgbClr val="1F2F5C"/>
          </a:solidFill>
          <a:ln w="12700">
            <a:solidFill>
              <a:srgbClr val="1F2F5C"/>
            </a:solidFill>
            <a:prstDash val="solid"/>
          </a:ln>
        </p:spPr>
      </p:sp>
      <p:sp>
        <p:nvSpPr>
          <p:cNvPr id="42" name="Text 40"/>
          <p:cNvSpPr txBox="1"/>
          <p:nvPr/>
        </p:nvSpPr>
        <p:spPr>
          <a:xfrm>
            <a:off x="457200" y="3547872"/>
            <a:ext cx="1737360" cy="566928"/>
          </a:xfrm>
          <a:prstGeom prst="rect">
            <a:avLst/>
          </a:prstGeom>
          <a:noFill/>
          <a:ln/>
        </p:spPr>
        <p:txBody>
          <a:bodyPr wrap="square" lIns="38100" tIns="38100" rIns="38100" bIns="381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Question + answer +</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contexts + ground truth</a:t>
            </a:r>
            <a:endParaRPr lang="en-US" sz="1000" dirty="0"/>
          </a:p>
        </p:txBody>
      </p:sp>
      <p:sp>
        <p:nvSpPr>
          <p:cNvPr id="43" name="Shape 41"/>
          <p:cNvSpPr/>
          <p:nvPr/>
        </p:nvSpPr>
        <p:spPr>
          <a:xfrm>
            <a:off x="2212848" y="3831336"/>
            <a:ext cx="393192" cy="0"/>
          </a:xfrm>
          <a:prstGeom prst="line">
            <a:avLst/>
          </a:prstGeom>
          <a:noFill/>
          <a:ln w="19050">
            <a:solidFill>
              <a:srgbClr val="6B7280"/>
            </a:solidFill>
            <a:prstDash val="solid"/>
            <a:tailEnd type="triangle"/>
          </a:ln>
        </p:spPr>
      </p:sp>
      <p:sp>
        <p:nvSpPr>
          <p:cNvPr id="44" name="Shape 42"/>
          <p:cNvSpPr/>
          <p:nvPr/>
        </p:nvSpPr>
        <p:spPr>
          <a:xfrm>
            <a:off x="2624328" y="3547872"/>
            <a:ext cx="1737360" cy="566928"/>
          </a:xfrm>
          <a:prstGeom prst="roundRect">
            <a:avLst>
              <a:gd name="adj" fmla="val 19355"/>
            </a:avLst>
          </a:prstGeom>
          <a:solidFill>
            <a:srgbClr val="1F2F5C"/>
          </a:solidFill>
          <a:ln w="12700">
            <a:solidFill>
              <a:srgbClr val="1F2F5C"/>
            </a:solidFill>
            <a:prstDash val="solid"/>
          </a:ln>
        </p:spPr>
      </p:sp>
      <p:sp>
        <p:nvSpPr>
          <p:cNvPr id="45" name="Text 43"/>
          <p:cNvSpPr txBox="1"/>
          <p:nvPr/>
        </p:nvSpPr>
        <p:spPr>
          <a:xfrm>
            <a:off x="2624328" y="3547872"/>
            <a:ext cx="1737360" cy="566928"/>
          </a:xfrm>
          <a:prstGeom prst="rect">
            <a:avLst/>
          </a:prstGeom>
          <a:noFill/>
          <a:ln/>
        </p:spPr>
        <p:txBody>
          <a:bodyPr wrap="square" lIns="38100" tIns="38100" rIns="38100" bIns="381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Manual metrics</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(evaluation_report.csv)</a:t>
            </a:r>
            <a:endParaRPr lang="en-US" sz="1000" dirty="0"/>
          </a:p>
        </p:txBody>
      </p:sp>
      <p:sp>
        <p:nvSpPr>
          <p:cNvPr id="46" name="Shape 44"/>
          <p:cNvSpPr/>
          <p:nvPr/>
        </p:nvSpPr>
        <p:spPr>
          <a:xfrm>
            <a:off x="4379976" y="3831336"/>
            <a:ext cx="393192" cy="0"/>
          </a:xfrm>
          <a:prstGeom prst="line">
            <a:avLst/>
          </a:prstGeom>
          <a:noFill/>
          <a:ln w="19050">
            <a:solidFill>
              <a:srgbClr val="6B7280"/>
            </a:solidFill>
            <a:prstDash val="solid"/>
            <a:tailEnd type="triangle"/>
          </a:ln>
        </p:spPr>
      </p:sp>
      <p:sp>
        <p:nvSpPr>
          <p:cNvPr id="47" name="Shape 45"/>
          <p:cNvSpPr/>
          <p:nvPr/>
        </p:nvSpPr>
        <p:spPr>
          <a:xfrm>
            <a:off x="4791456" y="3547872"/>
            <a:ext cx="1737360" cy="566928"/>
          </a:xfrm>
          <a:prstGeom prst="roundRect">
            <a:avLst>
              <a:gd name="adj" fmla="val 19355"/>
            </a:avLst>
          </a:prstGeom>
          <a:solidFill>
            <a:srgbClr val="1F2F5C"/>
          </a:solidFill>
          <a:ln w="12700">
            <a:solidFill>
              <a:srgbClr val="1F2F5C"/>
            </a:solidFill>
            <a:prstDash val="solid"/>
          </a:ln>
        </p:spPr>
      </p:sp>
      <p:sp>
        <p:nvSpPr>
          <p:cNvPr id="48" name="Text 46"/>
          <p:cNvSpPr txBox="1"/>
          <p:nvPr/>
        </p:nvSpPr>
        <p:spPr>
          <a:xfrm>
            <a:off x="4791456" y="3547872"/>
            <a:ext cx="1737360" cy="566928"/>
          </a:xfrm>
          <a:prstGeom prst="rect">
            <a:avLst/>
          </a:prstGeom>
          <a:noFill/>
          <a:ln/>
        </p:spPr>
        <p:txBody>
          <a:bodyPr wrap="square" lIns="38100" tIns="38100" rIns="38100" bIns="381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RAGAS metrics</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(ragas_results.csv)</a:t>
            </a:r>
            <a:endParaRPr lang="en-US" sz="1000" dirty="0"/>
          </a:p>
        </p:txBody>
      </p:sp>
      <p:sp>
        <p:nvSpPr>
          <p:cNvPr id="49" name="Shape 47"/>
          <p:cNvSpPr/>
          <p:nvPr/>
        </p:nvSpPr>
        <p:spPr>
          <a:xfrm>
            <a:off x="6547104" y="3831336"/>
            <a:ext cx="393192" cy="0"/>
          </a:xfrm>
          <a:prstGeom prst="line">
            <a:avLst/>
          </a:prstGeom>
          <a:noFill/>
          <a:ln w="19050">
            <a:solidFill>
              <a:srgbClr val="6B7280"/>
            </a:solidFill>
            <a:prstDash val="solid"/>
            <a:tailEnd type="triangle"/>
          </a:ln>
        </p:spPr>
      </p:sp>
      <p:sp>
        <p:nvSpPr>
          <p:cNvPr id="50" name="Shape 48"/>
          <p:cNvSpPr/>
          <p:nvPr/>
        </p:nvSpPr>
        <p:spPr>
          <a:xfrm>
            <a:off x="6958584" y="3547872"/>
            <a:ext cx="1737360" cy="566928"/>
          </a:xfrm>
          <a:prstGeom prst="roundRect">
            <a:avLst>
              <a:gd name="adj" fmla="val 19355"/>
            </a:avLst>
          </a:prstGeom>
          <a:solidFill>
            <a:srgbClr val="1F2F5C"/>
          </a:solidFill>
          <a:ln w="12700">
            <a:solidFill>
              <a:srgbClr val="1F2F5C"/>
            </a:solidFill>
            <a:prstDash val="solid"/>
          </a:ln>
        </p:spPr>
      </p:sp>
      <p:sp>
        <p:nvSpPr>
          <p:cNvPr id="51" name="Text 49"/>
          <p:cNvSpPr txBox="1"/>
          <p:nvPr/>
        </p:nvSpPr>
        <p:spPr>
          <a:xfrm>
            <a:off x="6958584" y="3547872"/>
            <a:ext cx="1737360" cy="566928"/>
          </a:xfrm>
          <a:prstGeom prst="rect">
            <a:avLst/>
          </a:prstGeom>
          <a:noFill/>
          <a:ln/>
        </p:spPr>
        <p:txBody>
          <a:bodyPr wrap="square" lIns="38100" tIns="38100" rIns="38100" bIns="381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Diagnosis: retrieval</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vs generation issue</a:t>
            </a:r>
            <a:endParaRPr lang="en-US" sz="1000" dirty="0"/>
          </a:p>
        </p:txBody>
      </p:sp>
      <p:sp>
        <p:nvSpPr>
          <p:cNvPr id="52" name="Text 50"/>
          <p:cNvSpPr txBox="1"/>
          <p:nvPr/>
        </p:nvSpPr>
        <p:spPr>
          <a:xfrm>
            <a:off x="457200" y="4297680"/>
            <a:ext cx="8229600" cy="457200"/>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Shared core:  src/rag_pipeline.py  →  RAGPipeline.ask()  returns one RAGResponse (rewrites, chunks, prompt, answer, sources, timings) consumed by the CLI and both evaluators.</a:t>
            </a:r>
            <a:endParaRPr lang="en-US" sz="1100" dirty="0"/>
          </a:p>
        </p:txBody>
      </p:sp>
      <p:sp>
        <p:nvSpPr>
          <p:cNvPr id="53" name="Text 51"/>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Multi-Document RAG  ·  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ARCHITECTURE</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How the code is organised</a:t>
            </a:r>
            <a:endParaRPr lang="en-US" sz="2800" dirty="0"/>
          </a:p>
        </p:txBody>
      </p:sp>
      <p:sp>
        <p:nvSpPr>
          <p:cNvPr id="4" name="Shape 2"/>
          <p:cNvSpPr/>
          <p:nvPr/>
        </p:nvSpPr>
        <p:spPr>
          <a:xfrm>
            <a:off x="457200" y="3063240"/>
            <a:ext cx="8138160" cy="1508760"/>
          </a:xfrm>
          <a:prstGeom prst="rect">
            <a:avLst/>
          </a:prstGeom>
          <a:noFill/>
          <a:ln w="9525">
            <a:solidFill>
              <a:srgbClr val="9CA3AF"/>
            </a:solidFill>
            <a:prstDash val="dash"/>
          </a:ln>
        </p:spPr>
      </p:sp>
      <p:sp>
        <p:nvSpPr>
          <p:cNvPr id="5" name="Text 3"/>
          <p:cNvSpPr txBox="1"/>
          <p:nvPr/>
        </p:nvSpPr>
        <p:spPr>
          <a:xfrm>
            <a:off x="548640" y="3081528"/>
            <a:ext cx="7955280" cy="228600"/>
          </a:xfrm>
          <a:prstGeom prst="rect">
            <a:avLst/>
          </a:prstGeom>
          <a:noFill/>
          <a:ln/>
        </p:spPr>
        <p:txBody>
          <a:bodyPr wrap="square" lIns="0" tIns="0" rIns="0" bIns="0" rtlCol="0" anchor="ctr"/>
          <a:lstStyle/>
          <a:p>
            <a:pPr indent="0" marL="0">
              <a:buNone/>
            </a:pPr>
            <a:r>
              <a:rPr lang="en-US" sz="900" b="1" spc="100" kern="0" dirty="0">
                <a:solidFill>
                  <a:srgbClr val="6B7280"/>
                </a:solidFill>
                <a:latin typeface="Calibri" pitchFamily="34" charset="0"/>
                <a:ea typeface="Calibri" pitchFamily="34" charset="-122"/>
                <a:cs typeface="Calibri" pitchFamily="34" charset="-120"/>
              </a:rPr>
              <a:t>STAGE MODULES  (src/)</a:t>
            </a:r>
            <a:endParaRPr lang="en-US" sz="900" dirty="0"/>
          </a:p>
        </p:txBody>
      </p:sp>
      <p:sp>
        <p:nvSpPr>
          <p:cNvPr id="6" name="Shape 4"/>
          <p:cNvSpPr/>
          <p:nvPr/>
        </p:nvSpPr>
        <p:spPr>
          <a:xfrm>
            <a:off x="1463040" y="1828800"/>
            <a:ext cx="0" cy="205740"/>
          </a:xfrm>
          <a:prstGeom prst="line">
            <a:avLst/>
          </a:prstGeom>
          <a:noFill/>
          <a:ln w="15875">
            <a:solidFill>
              <a:srgbClr val="6B7280"/>
            </a:solidFill>
            <a:prstDash val="solid"/>
          </a:ln>
        </p:spPr>
      </p:sp>
      <p:sp>
        <p:nvSpPr>
          <p:cNvPr id="7" name="Shape 5"/>
          <p:cNvSpPr/>
          <p:nvPr/>
        </p:nvSpPr>
        <p:spPr>
          <a:xfrm>
            <a:off x="1463040" y="2034540"/>
            <a:ext cx="3108960" cy="0"/>
          </a:xfrm>
          <a:prstGeom prst="line">
            <a:avLst/>
          </a:prstGeom>
          <a:noFill/>
          <a:ln w="15875">
            <a:solidFill>
              <a:srgbClr val="6B7280"/>
            </a:solidFill>
            <a:prstDash val="solid"/>
          </a:ln>
        </p:spPr>
      </p:sp>
      <p:sp>
        <p:nvSpPr>
          <p:cNvPr id="8" name="Shape 6"/>
          <p:cNvSpPr/>
          <p:nvPr/>
        </p:nvSpPr>
        <p:spPr>
          <a:xfrm>
            <a:off x="4572000" y="2034540"/>
            <a:ext cx="0" cy="205740"/>
          </a:xfrm>
          <a:prstGeom prst="line">
            <a:avLst/>
          </a:prstGeom>
          <a:noFill/>
          <a:ln w="15875">
            <a:solidFill>
              <a:srgbClr val="6B7280"/>
            </a:solidFill>
            <a:prstDash val="solid"/>
            <a:tailEnd type="triangle"/>
          </a:ln>
        </p:spPr>
      </p:sp>
      <p:sp>
        <p:nvSpPr>
          <p:cNvPr id="9" name="Shape 7"/>
          <p:cNvSpPr/>
          <p:nvPr/>
        </p:nvSpPr>
        <p:spPr>
          <a:xfrm>
            <a:off x="4572000" y="1828800"/>
            <a:ext cx="0" cy="411480"/>
          </a:xfrm>
          <a:prstGeom prst="line">
            <a:avLst/>
          </a:prstGeom>
          <a:noFill/>
          <a:ln w="15875">
            <a:solidFill>
              <a:srgbClr val="6B7280"/>
            </a:solidFill>
            <a:prstDash val="solid"/>
            <a:tailEnd type="triangle"/>
          </a:ln>
        </p:spPr>
      </p:sp>
      <p:sp>
        <p:nvSpPr>
          <p:cNvPr id="10" name="Shape 8"/>
          <p:cNvSpPr/>
          <p:nvPr/>
        </p:nvSpPr>
        <p:spPr>
          <a:xfrm>
            <a:off x="4572000" y="2788920"/>
            <a:ext cx="0" cy="274320"/>
          </a:xfrm>
          <a:prstGeom prst="line">
            <a:avLst/>
          </a:prstGeom>
          <a:noFill/>
          <a:ln w="15875">
            <a:solidFill>
              <a:srgbClr val="6B7280"/>
            </a:solidFill>
            <a:prstDash val="solid"/>
            <a:tailEnd type="triangle"/>
          </a:ln>
        </p:spPr>
      </p:sp>
      <p:sp>
        <p:nvSpPr>
          <p:cNvPr id="11" name="Text 9"/>
          <p:cNvSpPr txBox="1"/>
          <p:nvPr/>
        </p:nvSpPr>
        <p:spPr>
          <a:xfrm>
            <a:off x="4846320" y="2825496"/>
            <a:ext cx="822960" cy="201168"/>
          </a:xfrm>
          <a:prstGeom prst="rect">
            <a:avLst/>
          </a:prstGeom>
          <a:solidFill>
            <a:srgbClr val="FFFFFF"/>
          </a:solidFill>
          <a:ln/>
        </p:spPr>
        <p:txBody>
          <a:bodyPr wrap="square" lIns="0" tIns="0" rIns="0" bIns="0" rtlCol="0" anchor="ctr"/>
          <a:lstStyle/>
          <a:p>
            <a:pPr algn="ctr" indent="0" marL="0">
              <a:buNone/>
            </a:pPr>
            <a:r>
              <a:rPr lang="en-US" sz="800" i="1" dirty="0">
                <a:solidFill>
                  <a:srgbClr val="6B7280"/>
                </a:solidFill>
                <a:latin typeface="Calibri" pitchFamily="34" charset="0"/>
                <a:ea typeface="Calibri" pitchFamily="34" charset="-122"/>
                <a:cs typeface="Calibri" pitchFamily="34" charset="-120"/>
              </a:rPr>
              <a:t>orchestrates</a:t>
            </a:r>
            <a:endParaRPr lang="en-US" sz="800" dirty="0"/>
          </a:p>
        </p:txBody>
      </p:sp>
      <p:sp>
        <p:nvSpPr>
          <p:cNvPr id="12" name="Shape 10"/>
          <p:cNvSpPr/>
          <p:nvPr/>
        </p:nvSpPr>
        <p:spPr>
          <a:xfrm>
            <a:off x="7589520" y="1828800"/>
            <a:ext cx="0" cy="201168"/>
          </a:xfrm>
          <a:prstGeom prst="line">
            <a:avLst/>
          </a:prstGeom>
          <a:noFill/>
          <a:ln w="15875">
            <a:solidFill>
              <a:srgbClr val="6B7280"/>
            </a:solidFill>
            <a:prstDash val="solid"/>
          </a:ln>
        </p:spPr>
      </p:sp>
      <p:sp>
        <p:nvSpPr>
          <p:cNvPr id="13" name="Shape 11"/>
          <p:cNvSpPr/>
          <p:nvPr/>
        </p:nvSpPr>
        <p:spPr>
          <a:xfrm>
            <a:off x="7589520" y="2029968"/>
            <a:ext cx="914400" cy="0"/>
          </a:xfrm>
          <a:prstGeom prst="line">
            <a:avLst/>
          </a:prstGeom>
          <a:noFill/>
          <a:ln w="15875">
            <a:solidFill>
              <a:srgbClr val="6B7280"/>
            </a:solidFill>
            <a:prstDash val="solid"/>
          </a:ln>
        </p:spPr>
      </p:sp>
      <p:sp>
        <p:nvSpPr>
          <p:cNvPr id="14" name="Shape 12"/>
          <p:cNvSpPr/>
          <p:nvPr/>
        </p:nvSpPr>
        <p:spPr>
          <a:xfrm>
            <a:off x="8503920" y="2029968"/>
            <a:ext cx="0" cy="2199132"/>
          </a:xfrm>
          <a:prstGeom prst="line">
            <a:avLst/>
          </a:prstGeom>
          <a:noFill/>
          <a:ln w="15875">
            <a:solidFill>
              <a:srgbClr val="6B7280"/>
            </a:solidFill>
            <a:prstDash val="solid"/>
          </a:ln>
        </p:spPr>
      </p:sp>
      <p:sp>
        <p:nvSpPr>
          <p:cNvPr id="15" name="Shape 13"/>
          <p:cNvSpPr/>
          <p:nvPr/>
        </p:nvSpPr>
        <p:spPr>
          <a:xfrm flipH="1">
            <a:off x="8366760" y="4229100"/>
            <a:ext cx="137160" cy="0"/>
          </a:xfrm>
          <a:prstGeom prst="line">
            <a:avLst/>
          </a:prstGeom>
          <a:noFill/>
          <a:ln w="15875">
            <a:solidFill>
              <a:srgbClr val="6B7280"/>
            </a:solidFill>
            <a:prstDash val="solid"/>
            <a:tailEnd type="triangle"/>
          </a:ln>
        </p:spPr>
      </p:sp>
      <p:sp>
        <p:nvSpPr>
          <p:cNvPr id="16" name="Text 14"/>
          <p:cNvSpPr txBox="1"/>
          <p:nvPr/>
        </p:nvSpPr>
        <p:spPr>
          <a:xfrm>
            <a:off x="7292340" y="2900934"/>
            <a:ext cx="1600200" cy="201168"/>
          </a:xfrm>
          <a:prstGeom prst="rect">
            <a:avLst/>
          </a:prstGeom>
          <a:solidFill>
            <a:srgbClr val="FFFFFF"/>
          </a:solidFill>
          <a:ln/>
        </p:spPr>
        <p:txBody>
          <a:bodyPr wrap="square" lIns="0" tIns="0" rIns="0" bIns="0" rtlCol="0" anchor="ctr"/>
          <a:lstStyle/>
          <a:p>
            <a:pPr algn="ctr" indent="0" marL="0">
              <a:buNone/>
            </a:pPr>
            <a:r>
              <a:rPr lang="en-US" sz="800" i="1" dirty="0">
                <a:solidFill>
                  <a:srgbClr val="6B7280"/>
                </a:solidFill>
                <a:latin typeface="Calibri" pitchFamily="34" charset="0"/>
                <a:ea typeface="Calibri" pitchFamily="34" charset="-122"/>
                <a:cs typeface="Calibri" pitchFamily="34" charset="-120"/>
              </a:rPr>
              <a:t>ingest uses the stages directly</a:t>
            </a:r>
            <a:endParaRPr lang="en-US" sz="800" dirty="0"/>
          </a:p>
        </p:txBody>
      </p:sp>
      <p:sp>
        <p:nvSpPr>
          <p:cNvPr id="17" name="Shape 15"/>
          <p:cNvSpPr/>
          <p:nvPr/>
        </p:nvSpPr>
        <p:spPr>
          <a:xfrm>
            <a:off x="457200" y="1280160"/>
            <a:ext cx="2011680" cy="548640"/>
          </a:xfrm>
          <a:prstGeom prst="roundRect">
            <a:avLst>
              <a:gd name="adj" fmla="val 13333"/>
            </a:avLst>
          </a:prstGeom>
          <a:solidFill>
            <a:srgbClr val="F4F5F7"/>
          </a:solidFill>
          <a:ln w="9525">
            <a:solidFill>
              <a:srgbClr val="CBD5E1"/>
            </a:solidFill>
            <a:prstDash val="solid"/>
          </a:ln>
        </p:spPr>
      </p:sp>
      <p:sp>
        <p:nvSpPr>
          <p:cNvPr id="18" name="Text 16"/>
          <p:cNvSpPr txBox="1"/>
          <p:nvPr/>
        </p:nvSpPr>
        <p:spPr>
          <a:xfrm>
            <a:off x="512064" y="1280160"/>
            <a:ext cx="1901952" cy="548640"/>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main.py</a:t>
            </a:r>
            <a:endParaRPr lang="en-US" sz="1000" dirty="0"/>
          </a:p>
          <a:p>
            <a:pPr algn="ctr" indent="0" marL="0">
              <a:buNone/>
            </a:pPr>
            <a:r>
              <a:rPr lang="en-US" sz="850" dirty="0">
                <a:solidFill>
                  <a:srgbClr val="6B7280"/>
                </a:solidFill>
                <a:latin typeface="Calibri" pitchFamily="34" charset="0"/>
                <a:ea typeface="Calibri" pitchFamily="34" charset="-122"/>
                <a:cs typeface="Calibri" pitchFamily="34" charset="-120"/>
              </a:rPr>
              <a:t>interactive CLI</a:t>
            </a:r>
            <a:endParaRPr lang="en-US" sz="1000" dirty="0"/>
          </a:p>
        </p:txBody>
      </p:sp>
      <p:sp>
        <p:nvSpPr>
          <p:cNvPr id="19" name="Shape 17"/>
          <p:cNvSpPr/>
          <p:nvPr/>
        </p:nvSpPr>
        <p:spPr>
          <a:xfrm>
            <a:off x="3566160" y="1280160"/>
            <a:ext cx="2011680" cy="548640"/>
          </a:xfrm>
          <a:prstGeom prst="roundRect">
            <a:avLst>
              <a:gd name="adj" fmla="val 13333"/>
            </a:avLst>
          </a:prstGeom>
          <a:solidFill>
            <a:srgbClr val="F4F5F7"/>
          </a:solidFill>
          <a:ln w="9525">
            <a:solidFill>
              <a:srgbClr val="CBD5E1"/>
            </a:solidFill>
            <a:prstDash val="solid"/>
          </a:ln>
        </p:spPr>
      </p:sp>
      <p:sp>
        <p:nvSpPr>
          <p:cNvPr id="20" name="Text 18"/>
          <p:cNvSpPr txBox="1"/>
          <p:nvPr/>
        </p:nvSpPr>
        <p:spPr>
          <a:xfrm>
            <a:off x="3621024" y="1280160"/>
            <a:ext cx="1901952" cy="548640"/>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evaluation/</a:t>
            </a:r>
            <a:endParaRPr lang="en-US" sz="1000" dirty="0"/>
          </a:p>
          <a:p>
            <a:pPr algn="ctr" indent="0" marL="0">
              <a:buNone/>
            </a:pPr>
            <a:r>
              <a:rPr lang="en-US" sz="850" dirty="0">
                <a:solidFill>
                  <a:srgbClr val="6B7280"/>
                </a:solidFill>
                <a:latin typeface="Calibri" pitchFamily="34" charset="0"/>
                <a:ea typeface="Calibri" pitchFamily="34" charset="-122"/>
                <a:cs typeface="Calibri" pitchFamily="34" charset="-120"/>
              </a:rPr>
              <a:t>manual + RAGAS scoring</a:t>
            </a:r>
            <a:endParaRPr lang="en-US" sz="1000" dirty="0"/>
          </a:p>
        </p:txBody>
      </p:sp>
      <p:sp>
        <p:nvSpPr>
          <p:cNvPr id="21" name="Shape 19"/>
          <p:cNvSpPr/>
          <p:nvPr/>
        </p:nvSpPr>
        <p:spPr>
          <a:xfrm>
            <a:off x="6583680" y="1280160"/>
            <a:ext cx="2011680" cy="548640"/>
          </a:xfrm>
          <a:prstGeom prst="roundRect">
            <a:avLst>
              <a:gd name="adj" fmla="val 13333"/>
            </a:avLst>
          </a:prstGeom>
          <a:solidFill>
            <a:srgbClr val="F4F5F7"/>
          </a:solidFill>
          <a:ln w="9525">
            <a:solidFill>
              <a:srgbClr val="CBD5E1"/>
            </a:solidFill>
            <a:prstDash val="solid"/>
          </a:ln>
        </p:spPr>
      </p:sp>
      <p:sp>
        <p:nvSpPr>
          <p:cNvPr id="22" name="Text 20"/>
          <p:cNvSpPr txBox="1"/>
          <p:nvPr/>
        </p:nvSpPr>
        <p:spPr>
          <a:xfrm>
            <a:off x="6638544" y="1280160"/>
            <a:ext cx="1901952" cy="548640"/>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ingest.py</a:t>
            </a:r>
            <a:endParaRPr lang="en-US" sz="1000" dirty="0"/>
          </a:p>
          <a:p>
            <a:pPr algn="ctr" indent="0" marL="0">
              <a:buNone/>
            </a:pPr>
            <a:r>
              <a:rPr lang="en-US" sz="850" dirty="0">
                <a:solidFill>
                  <a:srgbClr val="6B7280"/>
                </a:solidFill>
                <a:latin typeface="Calibri" pitchFamily="34" charset="0"/>
                <a:ea typeface="Calibri" pitchFamily="34" charset="-122"/>
                <a:cs typeface="Calibri" pitchFamily="34" charset="-120"/>
              </a:rPr>
              <a:t>ingestion pipeline</a:t>
            </a:r>
            <a:endParaRPr lang="en-US" sz="1000" dirty="0"/>
          </a:p>
        </p:txBody>
      </p:sp>
      <p:sp>
        <p:nvSpPr>
          <p:cNvPr id="23" name="Shape 21"/>
          <p:cNvSpPr/>
          <p:nvPr/>
        </p:nvSpPr>
        <p:spPr>
          <a:xfrm>
            <a:off x="3566160" y="2240280"/>
            <a:ext cx="2011680" cy="548640"/>
          </a:xfrm>
          <a:prstGeom prst="roundRect">
            <a:avLst>
              <a:gd name="adj" fmla="val 50000"/>
            </a:avLst>
          </a:prstGeom>
          <a:solidFill>
            <a:srgbClr val="14213D"/>
          </a:solidFill>
          <a:ln w="9525">
            <a:solidFill>
              <a:srgbClr val="14213D"/>
            </a:solidFill>
            <a:prstDash val="solid"/>
          </a:ln>
        </p:spPr>
      </p:sp>
      <p:sp>
        <p:nvSpPr>
          <p:cNvPr id="24" name="Text 22"/>
          <p:cNvSpPr txBox="1"/>
          <p:nvPr/>
        </p:nvSpPr>
        <p:spPr>
          <a:xfrm>
            <a:off x="3621024" y="2240280"/>
            <a:ext cx="1901952" cy="548640"/>
          </a:xfrm>
          <a:prstGeom prst="rect">
            <a:avLst/>
          </a:prstGeom>
          <a:noFill/>
          <a:ln/>
        </p:spPr>
        <p:txBody>
          <a:bodyPr wrap="square" lIns="25400" tIns="25400" rIns="25400" bIns="254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src/rag_pipeline.py</a:t>
            </a:r>
            <a:endParaRPr lang="en-US" sz="1000" dirty="0"/>
          </a:p>
          <a:p>
            <a:pPr algn="ctr" indent="0" marL="0">
              <a:buNone/>
            </a:pPr>
            <a:r>
              <a:rPr lang="en-US" sz="850" dirty="0">
                <a:solidFill>
                  <a:srgbClr val="C9D6EE"/>
                </a:solidFill>
                <a:latin typeface="Calibri" pitchFamily="34" charset="0"/>
                <a:ea typeface="Calibri" pitchFamily="34" charset="-122"/>
                <a:cs typeface="Calibri" pitchFamily="34" charset="-120"/>
              </a:rPr>
              <a:t>RAGPipeline.ask() → RAGResponse</a:t>
            </a:r>
            <a:endParaRPr lang="en-US" sz="1000" dirty="0"/>
          </a:p>
        </p:txBody>
      </p:sp>
      <p:sp>
        <p:nvSpPr>
          <p:cNvPr id="25" name="Shape 23"/>
          <p:cNvSpPr/>
          <p:nvPr/>
        </p:nvSpPr>
        <p:spPr>
          <a:xfrm>
            <a:off x="640080" y="3337560"/>
            <a:ext cx="1828800" cy="502920"/>
          </a:xfrm>
          <a:prstGeom prst="roundRect">
            <a:avLst>
              <a:gd name="adj" fmla="val 14545"/>
            </a:avLst>
          </a:prstGeom>
          <a:solidFill>
            <a:srgbClr val="F4F5F7"/>
          </a:solidFill>
          <a:ln w="9525">
            <a:solidFill>
              <a:srgbClr val="CBD5E1"/>
            </a:solidFill>
            <a:prstDash val="solid"/>
          </a:ln>
        </p:spPr>
      </p:sp>
      <p:sp>
        <p:nvSpPr>
          <p:cNvPr id="26" name="Text 24"/>
          <p:cNvSpPr txBox="1"/>
          <p:nvPr/>
        </p:nvSpPr>
        <p:spPr>
          <a:xfrm>
            <a:off x="694944" y="3337560"/>
            <a:ext cx="1719072" cy="502920"/>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query_rewriter.py</a:t>
            </a:r>
            <a:endParaRPr lang="en-US" sz="1000" dirty="0"/>
          </a:p>
          <a:p>
            <a:pPr algn="ctr" indent="0" marL="0">
              <a:buNone/>
            </a:pPr>
            <a:r>
              <a:rPr lang="en-US" sz="850" dirty="0">
                <a:solidFill>
                  <a:srgbClr val="6B7280"/>
                </a:solidFill>
                <a:latin typeface="Calibri" pitchFamily="34" charset="0"/>
                <a:ea typeface="Calibri" pitchFamily="34" charset="-122"/>
                <a:cs typeface="Calibri" pitchFamily="34" charset="-120"/>
              </a:rPr>
              <a:t>manual + LLM rewrites</a:t>
            </a:r>
            <a:endParaRPr lang="en-US" sz="1000" dirty="0"/>
          </a:p>
        </p:txBody>
      </p:sp>
      <p:sp>
        <p:nvSpPr>
          <p:cNvPr id="27" name="Shape 25"/>
          <p:cNvSpPr/>
          <p:nvPr/>
        </p:nvSpPr>
        <p:spPr>
          <a:xfrm>
            <a:off x="2651760" y="3337560"/>
            <a:ext cx="1737360" cy="502920"/>
          </a:xfrm>
          <a:prstGeom prst="roundRect">
            <a:avLst>
              <a:gd name="adj" fmla="val 14545"/>
            </a:avLst>
          </a:prstGeom>
          <a:solidFill>
            <a:srgbClr val="F4F5F7"/>
          </a:solidFill>
          <a:ln w="9525">
            <a:solidFill>
              <a:srgbClr val="CBD5E1"/>
            </a:solidFill>
            <a:prstDash val="solid"/>
          </a:ln>
        </p:spPr>
      </p:sp>
      <p:sp>
        <p:nvSpPr>
          <p:cNvPr id="28" name="Text 26"/>
          <p:cNvSpPr txBox="1"/>
          <p:nvPr/>
        </p:nvSpPr>
        <p:spPr>
          <a:xfrm>
            <a:off x="2706624" y="3337560"/>
            <a:ext cx="1627632" cy="502920"/>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retriever.py</a:t>
            </a:r>
            <a:endParaRPr lang="en-US" sz="1000" dirty="0"/>
          </a:p>
          <a:p>
            <a:pPr algn="ctr" indent="0" marL="0">
              <a:buNone/>
            </a:pPr>
            <a:r>
              <a:rPr lang="en-US" sz="850" dirty="0">
                <a:solidFill>
                  <a:srgbClr val="6B7280"/>
                </a:solidFill>
                <a:latin typeface="Calibri" pitchFamily="34" charset="0"/>
                <a:ea typeface="Calibri" pitchFamily="34" charset="-122"/>
                <a:cs typeface="Calibri" pitchFamily="34" charset="-120"/>
              </a:rPr>
              <a:t>top-k · RRF</a:t>
            </a:r>
            <a:endParaRPr lang="en-US" sz="1000" dirty="0"/>
          </a:p>
        </p:txBody>
      </p:sp>
      <p:sp>
        <p:nvSpPr>
          <p:cNvPr id="29" name="Shape 27"/>
          <p:cNvSpPr/>
          <p:nvPr/>
        </p:nvSpPr>
        <p:spPr>
          <a:xfrm>
            <a:off x="4572000" y="3337560"/>
            <a:ext cx="1554480" cy="502920"/>
          </a:xfrm>
          <a:prstGeom prst="roundRect">
            <a:avLst>
              <a:gd name="adj" fmla="val 14545"/>
            </a:avLst>
          </a:prstGeom>
          <a:solidFill>
            <a:srgbClr val="F4F5F7"/>
          </a:solidFill>
          <a:ln w="9525">
            <a:solidFill>
              <a:srgbClr val="CBD5E1"/>
            </a:solidFill>
            <a:prstDash val="solid"/>
          </a:ln>
        </p:spPr>
      </p:sp>
      <p:sp>
        <p:nvSpPr>
          <p:cNvPr id="30" name="Text 28"/>
          <p:cNvSpPr txBox="1"/>
          <p:nvPr/>
        </p:nvSpPr>
        <p:spPr>
          <a:xfrm>
            <a:off x="4626864" y="3337560"/>
            <a:ext cx="1444752" cy="502920"/>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prompt.py</a:t>
            </a:r>
            <a:endParaRPr lang="en-US" sz="1000" dirty="0"/>
          </a:p>
          <a:p>
            <a:pPr algn="ctr" indent="0" marL="0">
              <a:buNone/>
            </a:pPr>
            <a:r>
              <a:rPr lang="en-US" sz="850" dirty="0">
                <a:solidFill>
                  <a:srgbClr val="6B7280"/>
                </a:solidFill>
                <a:latin typeface="Calibri" pitchFamily="34" charset="0"/>
                <a:ea typeface="Calibri" pitchFamily="34" charset="-122"/>
                <a:cs typeface="Calibri" pitchFamily="34" charset="-120"/>
              </a:rPr>
              <a:t>grounded prompts</a:t>
            </a:r>
            <a:endParaRPr lang="en-US" sz="1000" dirty="0"/>
          </a:p>
        </p:txBody>
      </p:sp>
      <p:sp>
        <p:nvSpPr>
          <p:cNvPr id="31" name="Shape 29"/>
          <p:cNvSpPr/>
          <p:nvPr/>
        </p:nvSpPr>
        <p:spPr>
          <a:xfrm>
            <a:off x="6309360" y="3337560"/>
            <a:ext cx="2057400" cy="502920"/>
          </a:xfrm>
          <a:prstGeom prst="roundRect">
            <a:avLst>
              <a:gd name="adj" fmla="val 14545"/>
            </a:avLst>
          </a:prstGeom>
          <a:solidFill>
            <a:srgbClr val="F4F5F7"/>
          </a:solidFill>
          <a:ln w="9525">
            <a:solidFill>
              <a:srgbClr val="CBD5E1"/>
            </a:solidFill>
            <a:prstDash val="solid"/>
          </a:ln>
        </p:spPr>
      </p:sp>
      <p:sp>
        <p:nvSpPr>
          <p:cNvPr id="32" name="Text 30"/>
          <p:cNvSpPr txBox="1"/>
          <p:nvPr/>
        </p:nvSpPr>
        <p:spPr>
          <a:xfrm>
            <a:off x="6364224" y="3337560"/>
            <a:ext cx="1947672" cy="502920"/>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llm.py</a:t>
            </a:r>
            <a:endParaRPr lang="en-US" sz="1000" dirty="0"/>
          </a:p>
          <a:p>
            <a:pPr algn="ctr" indent="0" marL="0">
              <a:buNone/>
            </a:pPr>
            <a:r>
              <a:rPr lang="en-US" sz="850" dirty="0">
                <a:solidFill>
                  <a:srgbClr val="6B7280"/>
                </a:solidFill>
                <a:latin typeface="Calibri" pitchFamily="34" charset="0"/>
                <a:ea typeface="Calibri" pitchFamily="34" charset="-122"/>
                <a:cs typeface="Calibri" pitchFamily="34" charset="-120"/>
              </a:rPr>
              <a:t>OpenAI-compatible client</a:t>
            </a:r>
            <a:endParaRPr lang="en-US" sz="1000" dirty="0"/>
          </a:p>
        </p:txBody>
      </p:sp>
      <p:sp>
        <p:nvSpPr>
          <p:cNvPr id="33" name="Shape 31"/>
          <p:cNvSpPr/>
          <p:nvPr/>
        </p:nvSpPr>
        <p:spPr>
          <a:xfrm>
            <a:off x="640080" y="3977640"/>
            <a:ext cx="1828800" cy="502920"/>
          </a:xfrm>
          <a:prstGeom prst="roundRect">
            <a:avLst>
              <a:gd name="adj" fmla="val 14545"/>
            </a:avLst>
          </a:prstGeom>
          <a:solidFill>
            <a:srgbClr val="F4F5F7"/>
          </a:solidFill>
          <a:ln w="9525">
            <a:solidFill>
              <a:srgbClr val="CBD5E1"/>
            </a:solidFill>
            <a:prstDash val="solid"/>
          </a:ln>
        </p:spPr>
      </p:sp>
      <p:sp>
        <p:nvSpPr>
          <p:cNvPr id="34" name="Text 32"/>
          <p:cNvSpPr txBox="1"/>
          <p:nvPr/>
        </p:nvSpPr>
        <p:spPr>
          <a:xfrm>
            <a:off x="694944" y="3977640"/>
            <a:ext cx="1719072" cy="502920"/>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embeddings.py</a:t>
            </a:r>
            <a:endParaRPr lang="en-US" sz="1000" dirty="0"/>
          </a:p>
          <a:p>
            <a:pPr algn="ctr" indent="0" marL="0">
              <a:buNone/>
            </a:pPr>
            <a:r>
              <a:rPr lang="en-US" sz="850" dirty="0">
                <a:solidFill>
                  <a:srgbClr val="6B7280"/>
                </a:solidFill>
                <a:latin typeface="Calibri" pitchFamily="34" charset="0"/>
                <a:ea typeface="Calibri" pitchFamily="34" charset="-122"/>
                <a:cs typeface="Calibri" pitchFamily="34" charset="-120"/>
              </a:rPr>
              <a:t>sentence-transformers</a:t>
            </a:r>
            <a:endParaRPr lang="en-US" sz="1000" dirty="0"/>
          </a:p>
        </p:txBody>
      </p:sp>
      <p:sp>
        <p:nvSpPr>
          <p:cNvPr id="35" name="Shape 33"/>
          <p:cNvSpPr/>
          <p:nvPr/>
        </p:nvSpPr>
        <p:spPr>
          <a:xfrm>
            <a:off x="2651760" y="3977640"/>
            <a:ext cx="1737360" cy="502920"/>
          </a:xfrm>
          <a:prstGeom prst="roundRect">
            <a:avLst>
              <a:gd name="adj" fmla="val 14545"/>
            </a:avLst>
          </a:prstGeom>
          <a:solidFill>
            <a:srgbClr val="F4F5F7"/>
          </a:solidFill>
          <a:ln w="9525">
            <a:solidFill>
              <a:srgbClr val="CBD5E1"/>
            </a:solidFill>
            <a:prstDash val="solid"/>
          </a:ln>
        </p:spPr>
      </p:sp>
      <p:sp>
        <p:nvSpPr>
          <p:cNvPr id="36" name="Text 34"/>
          <p:cNvSpPr txBox="1"/>
          <p:nvPr/>
        </p:nvSpPr>
        <p:spPr>
          <a:xfrm>
            <a:off x="2706624" y="3977640"/>
            <a:ext cx="1627632" cy="502920"/>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vector_database.py</a:t>
            </a:r>
            <a:endParaRPr lang="en-US" sz="1000" dirty="0"/>
          </a:p>
          <a:p>
            <a:pPr algn="ctr" indent="0" marL="0">
              <a:buNone/>
            </a:pPr>
            <a:r>
              <a:rPr lang="en-US" sz="850" dirty="0">
                <a:solidFill>
                  <a:srgbClr val="6B7280"/>
                </a:solidFill>
                <a:latin typeface="Calibri" pitchFamily="34" charset="0"/>
                <a:ea typeface="Calibri" pitchFamily="34" charset="-122"/>
                <a:cs typeface="Calibri" pitchFamily="34" charset="-120"/>
              </a:rPr>
              <a:t>ChromaDB store</a:t>
            </a:r>
            <a:endParaRPr lang="en-US" sz="1000" dirty="0"/>
          </a:p>
        </p:txBody>
      </p:sp>
      <p:sp>
        <p:nvSpPr>
          <p:cNvPr id="37" name="Shape 35"/>
          <p:cNvSpPr/>
          <p:nvPr/>
        </p:nvSpPr>
        <p:spPr>
          <a:xfrm>
            <a:off x="4572000" y="3977640"/>
            <a:ext cx="1554480" cy="502920"/>
          </a:xfrm>
          <a:prstGeom prst="roundRect">
            <a:avLst>
              <a:gd name="adj" fmla="val 14545"/>
            </a:avLst>
          </a:prstGeom>
          <a:solidFill>
            <a:srgbClr val="F4F5F7"/>
          </a:solidFill>
          <a:ln w="9525">
            <a:solidFill>
              <a:srgbClr val="CBD5E1"/>
            </a:solidFill>
            <a:prstDash val="solid"/>
          </a:ln>
        </p:spPr>
      </p:sp>
      <p:sp>
        <p:nvSpPr>
          <p:cNvPr id="38" name="Text 36"/>
          <p:cNvSpPr txBox="1"/>
          <p:nvPr/>
        </p:nvSpPr>
        <p:spPr>
          <a:xfrm>
            <a:off x="4626864" y="3977640"/>
            <a:ext cx="1444752" cy="502920"/>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text_splitter.py</a:t>
            </a:r>
            <a:endParaRPr lang="en-US" sz="1000" dirty="0"/>
          </a:p>
          <a:p>
            <a:pPr algn="ctr" indent="0" marL="0">
              <a:buNone/>
            </a:pPr>
            <a:r>
              <a:rPr lang="en-US" sz="850" dirty="0">
                <a:solidFill>
                  <a:srgbClr val="6B7280"/>
                </a:solidFill>
                <a:latin typeface="Calibri" pitchFamily="34" charset="0"/>
                <a:ea typeface="Calibri" pitchFamily="34" charset="-122"/>
                <a:cs typeface="Calibri" pitchFamily="34" charset="-120"/>
              </a:rPr>
              <a:t>chunking</a:t>
            </a:r>
            <a:endParaRPr lang="en-US" sz="1000" dirty="0"/>
          </a:p>
        </p:txBody>
      </p:sp>
      <p:sp>
        <p:nvSpPr>
          <p:cNvPr id="39" name="Shape 37"/>
          <p:cNvSpPr/>
          <p:nvPr/>
        </p:nvSpPr>
        <p:spPr>
          <a:xfrm>
            <a:off x="6309360" y="3977640"/>
            <a:ext cx="2057400" cy="502920"/>
          </a:xfrm>
          <a:prstGeom prst="roundRect">
            <a:avLst>
              <a:gd name="adj" fmla="val 14545"/>
            </a:avLst>
          </a:prstGeom>
          <a:solidFill>
            <a:srgbClr val="F4F5F7"/>
          </a:solidFill>
          <a:ln w="9525">
            <a:solidFill>
              <a:srgbClr val="CBD5E1"/>
            </a:solidFill>
            <a:prstDash val="solid"/>
          </a:ln>
        </p:spPr>
      </p:sp>
      <p:sp>
        <p:nvSpPr>
          <p:cNvPr id="40" name="Text 38"/>
          <p:cNvSpPr txBox="1"/>
          <p:nvPr/>
        </p:nvSpPr>
        <p:spPr>
          <a:xfrm>
            <a:off x="6364224" y="3977640"/>
            <a:ext cx="1947672" cy="502920"/>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document_loader.py</a:t>
            </a:r>
            <a:endParaRPr lang="en-US" sz="1000" dirty="0"/>
          </a:p>
          <a:p>
            <a:pPr algn="ctr" indent="0" marL="0">
              <a:buNone/>
            </a:pPr>
            <a:r>
              <a:rPr lang="en-US" sz="850" dirty="0">
                <a:solidFill>
                  <a:srgbClr val="6B7280"/>
                </a:solidFill>
                <a:latin typeface="Calibri" pitchFamily="34" charset="0"/>
                <a:ea typeface="Calibri" pitchFamily="34" charset="-122"/>
                <a:cs typeface="Calibri" pitchFamily="34" charset="-120"/>
              </a:rPr>
              <a:t>+ loaders/ · 7 formats</a:t>
            </a:r>
            <a:endParaRPr lang="en-US" sz="1000" dirty="0"/>
          </a:p>
        </p:txBody>
      </p:sp>
      <p:sp>
        <p:nvSpPr>
          <p:cNvPr id="41" name="Text 39"/>
          <p:cNvSpPr txBox="1"/>
          <p:nvPr/>
        </p:nvSpPr>
        <p:spPr>
          <a:xfrm>
            <a:off x="457200" y="4590288"/>
            <a:ext cx="8229600" cy="256032"/>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src/config.py supplies settings to every module (paths, models, chunk size, top-k, keyword vocabulary) from .env.</a:t>
            </a:r>
            <a:endParaRPr lang="en-US" sz="900" dirty="0"/>
          </a:p>
        </p:txBody>
      </p:sp>
      <p:sp>
        <p:nvSpPr>
          <p:cNvPr id="42" name="Text 40"/>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Multi-Document RAG  ·  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TECH STACK</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Tools chosen to run locally and for free</a:t>
            </a:r>
            <a:endParaRPr lang="en-US" sz="2800" dirty="0"/>
          </a:p>
        </p:txBody>
      </p:sp>
      <p:sp>
        <p:nvSpPr>
          <p:cNvPr id="4" name="Shape 2"/>
          <p:cNvSpPr/>
          <p:nvPr/>
        </p:nvSpPr>
        <p:spPr>
          <a:xfrm>
            <a:off x="457200" y="1325880"/>
            <a:ext cx="1920240" cy="1463040"/>
          </a:xfrm>
          <a:prstGeom prst="roundRect">
            <a:avLst>
              <a:gd name="adj" fmla="val 6250"/>
            </a:avLst>
          </a:prstGeom>
          <a:solidFill>
            <a:srgbClr val="F4F5F7"/>
          </a:solidFill>
          <a:ln w="9525">
            <a:solidFill>
              <a:srgbClr val="E5E7EB"/>
            </a:solidFill>
            <a:prstDash val="solid"/>
          </a:ln>
        </p:spPr>
      </p:sp>
      <p:sp>
        <p:nvSpPr>
          <p:cNvPr id="5" name="Shape 3"/>
          <p:cNvSpPr/>
          <p:nvPr/>
        </p:nvSpPr>
        <p:spPr>
          <a:xfrm>
            <a:off x="640080" y="1508760"/>
            <a:ext cx="457200" cy="457200"/>
          </a:xfrm>
          <a:prstGeom prst="ellipse">
            <a:avLst/>
          </a:prstGeom>
          <a:solidFill>
            <a:srgbClr val="FCA311"/>
          </a:solidFill>
          <a:ln w="12700">
            <a:solidFill>
              <a:srgbClr val="FCA311"/>
            </a:solidFill>
            <a:prstDash val="solid"/>
          </a:ln>
        </p:spPr>
      </p:sp>
      <p:pic>
        <p:nvPicPr>
          <p:cNvPr id="6" name="Image 0" descr="preencoded.png">    </p:cNvPr>
          <p:cNvPicPr>
            <a:picLocks noChangeAspect="1"/>
          </p:cNvPicPr>
          <p:nvPr/>
        </p:nvPicPr>
        <p:blipFill>
          <a:blip r:embed="rId1"/>
          <a:stretch>
            <a:fillRect/>
          </a:stretch>
        </p:blipFill>
        <p:spPr>
          <a:xfrm>
            <a:off x="749808" y="1618488"/>
            <a:ext cx="237744" cy="237744"/>
          </a:xfrm>
          <a:prstGeom prst="rect">
            <a:avLst/>
          </a:prstGeom>
        </p:spPr>
      </p:pic>
      <p:sp>
        <p:nvSpPr>
          <p:cNvPr id="7" name="Text 4"/>
          <p:cNvSpPr txBox="1"/>
          <p:nvPr/>
        </p:nvSpPr>
        <p:spPr>
          <a:xfrm>
            <a:off x="594360" y="2039112"/>
            <a:ext cx="1691640" cy="292608"/>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Python 3.14</a:t>
            </a:r>
            <a:endParaRPr lang="en-US" sz="1300" dirty="0"/>
          </a:p>
        </p:txBody>
      </p:sp>
      <p:sp>
        <p:nvSpPr>
          <p:cNvPr id="8" name="Text 5"/>
          <p:cNvSpPr txBox="1"/>
          <p:nvPr/>
        </p:nvSpPr>
        <p:spPr>
          <a:xfrm>
            <a:off x="594360" y="2313432"/>
            <a:ext cx="1691640" cy="43891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Type hints, dataclasses, ABCs</a:t>
            </a:r>
            <a:endParaRPr lang="en-US" sz="1050" dirty="0"/>
          </a:p>
        </p:txBody>
      </p:sp>
      <p:sp>
        <p:nvSpPr>
          <p:cNvPr id="9" name="Shape 6"/>
          <p:cNvSpPr/>
          <p:nvPr/>
        </p:nvSpPr>
        <p:spPr>
          <a:xfrm>
            <a:off x="2560320" y="1325880"/>
            <a:ext cx="1920240" cy="1463040"/>
          </a:xfrm>
          <a:prstGeom prst="roundRect">
            <a:avLst>
              <a:gd name="adj" fmla="val 6250"/>
            </a:avLst>
          </a:prstGeom>
          <a:solidFill>
            <a:srgbClr val="F4F5F7"/>
          </a:solidFill>
          <a:ln w="9525">
            <a:solidFill>
              <a:srgbClr val="E5E7EB"/>
            </a:solidFill>
            <a:prstDash val="solid"/>
          </a:ln>
        </p:spPr>
      </p:sp>
      <p:sp>
        <p:nvSpPr>
          <p:cNvPr id="10" name="Shape 7"/>
          <p:cNvSpPr/>
          <p:nvPr/>
        </p:nvSpPr>
        <p:spPr>
          <a:xfrm>
            <a:off x="2743200" y="1508760"/>
            <a:ext cx="457200" cy="457200"/>
          </a:xfrm>
          <a:prstGeom prst="ellipse">
            <a:avLst/>
          </a:prstGeom>
          <a:solidFill>
            <a:srgbClr val="FCA311"/>
          </a:solidFill>
          <a:ln w="12700">
            <a:solidFill>
              <a:srgbClr val="FCA311"/>
            </a:solidFill>
            <a:prstDash val="solid"/>
          </a:ln>
        </p:spPr>
      </p:sp>
      <p:pic>
        <p:nvPicPr>
          <p:cNvPr id="11" name="Image 1" descr="preencoded.png">    </p:cNvPr>
          <p:cNvPicPr>
            <a:picLocks noChangeAspect="1"/>
          </p:cNvPicPr>
          <p:nvPr/>
        </p:nvPicPr>
        <p:blipFill>
          <a:blip r:embed="rId2"/>
          <a:stretch>
            <a:fillRect/>
          </a:stretch>
        </p:blipFill>
        <p:spPr>
          <a:xfrm>
            <a:off x="2852928" y="1618488"/>
            <a:ext cx="237744" cy="237744"/>
          </a:xfrm>
          <a:prstGeom prst="rect">
            <a:avLst/>
          </a:prstGeom>
        </p:spPr>
      </p:pic>
      <p:sp>
        <p:nvSpPr>
          <p:cNvPr id="12" name="Text 8"/>
          <p:cNvSpPr txBox="1"/>
          <p:nvPr/>
        </p:nvSpPr>
        <p:spPr>
          <a:xfrm>
            <a:off x="2697480" y="2039112"/>
            <a:ext cx="1691640" cy="292608"/>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sentence-transformers</a:t>
            </a:r>
            <a:endParaRPr lang="en-US" sz="1300" dirty="0"/>
          </a:p>
        </p:txBody>
      </p:sp>
      <p:sp>
        <p:nvSpPr>
          <p:cNvPr id="13" name="Text 9"/>
          <p:cNvSpPr txBox="1"/>
          <p:nvPr/>
        </p:nvSpPr>
        <p:spPr>
          <a:xfrm>
            <a:off x="2697480" y="2313432"/>
            <a:ext cx="1691640" cy="43891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all-MiniLM-L6-v2 · 384-d · local</a:t>
            </a:r>
            <a:endParaRPr lang="en-US" sz="1050" dirty="0"/>
          </a:p>
        </p:txBody>
      </p:sp>
      <p:sp>
        <p:nvSpPr>
          <p:cNvPr id="14" name="Shape 10"/>
          <p:cNvSpPr/>
          <p:nvPr/>
        </p:nvSpPr>
        <p:spPr>
          <a:xfrm>
            <a:off x="4663440" y="1325880"/>
            <a:ext cx="1920240" cy="1463040"/>
          </a:xfrm>
          <a:prstGeom prst="roundRect">
            <a:avLst>
              <a:gd name="adj" fmla="val 6250"/>
            </a:avLst>
          </a:prstGeom>
          <a:solidFill>
            <a:srgbClr val="F4F5F7"/>
          </a:solidFill>
          <a:ln w="9525">
            <a:solidFill>
              <a:srgbClr val="E5E7EB"/>
            </a:solidFill>
            <a:prstDash val="solid"/>
          </a:ln>
        </p:spPr>
      </p:sp>
      <p:sp>
        <p:nvSpPr>
          <p:cNvPr id="15" name="Shape 11"/>
          <p:cNvSpPr/>
          <p:nvPr/>
        </p:nvSpPr>
        <p:spPr>
          <a:xfrm>
            <a:off x="4846320" y="1508760"/>
            <a:ext cx="457200" cy="457200"/>
          </a:xfrm>
          <a:prstGeom prst="ellipse">
            <a:avLst/>
          </a:prstGeom>
          <a:solidFill>
            <a:srgbClr val="FCA311"/>
          </a:solidFill>
          <a:ln w="12700">
            <a:solidFill>
              <a:srgbClr val="FCA311"/>
            </a:solidFill>
            <a:prstDash val="solid"/>
          </a:ln>
        </p:spPr>
      </p:sp>
      <p:pic>
        <p:nvPicPr>
          <p:cNvPr id="16" name="Image 2" descr="preencoded.png">    </p:cNvPr>
          <p:cNvPicPr>
            <a:picLocks noChangeAspect="1"/>
          </p:cNvPicPr>
          <p:nvPr/>
        </p:nvPicPr>
        <p:blipFill>
          <a:blip r:embed="rId3"/>
          <a:stretch>
            <a:fillRect/>
          </a:stretch>
        </p:blipFill>
        <p:spPr>
          <a:xfrm>
            <a:off x="4956048" y="1618488"/>
            <a:ext cx="237744" cy="237744"/>
          </a:xfrm>
          <a:prstGeom prst="rect">
            <a:avLst/>
          </a:prstGeom>
        </p:spPr>
      </p:pic>
      <p:sp>
        <p:nvSpPr>
          <p:cNvPr id="17" name="Text 12"/>
          <p:cNvSpPr txBox="1"/>
          <p:nvPr/>
        </p:nvSpPr>
        <p:spPr>
          <a:xfrm>
            <a:off x="4800600" y="2039112"/>
            <a:ext cx="1691640" cy="292608"/>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ChromaDB 1.5</a:t>
            </a:r>
            <a:endParaRPr lang="en-US" sz="1300" dirty="0"/>
          </a:p>
        </p:txBody>
      </p:sp>
      <p:sp>
        <p:nvSpPr>
          <p:cNvPr id="18" name="Text 13"/>
          <p:cNvSpPr txBox="1"/>
          <p:nvPr/>
        </p:nvSpPr>
        <p:spPr>
          <a:xfrm>
            <a:off x="4800600" y="2313432"/>
            <a:ext cx="1691640" cy="43891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Embedded, persistent, HNSW, cosine</a:t>
            </a:r>
            <a:endParaRPr lang="en-US" sz="1050" dirty="0"/>
          </a:p>
        </p:txBody>
      </p:sp>
      <p:sp>
        <p:nvSpPr>
          <p:cNvPr id="19" name="Shape 14"/>
          <p:cNvSpPr/>
          <p:nvPr/>
        </p:nvSpPr>
        <p:spPr>
          <a:xfrm>
            <a:off x="6766560" y="1325880"/>
            <a:ext cx="1920240" cy="1463040"/>
          </a:xfrm>
          <a:prstGeom prst="roundRect">
            <a:avLst>
              <a:gd name="adj" fmla="val 6250"/>
            </a:avLst>
          </a:prstGeom>
          <a:solidFill>
            <a:srgbClr val="F4F5F7"/>
          </a:solidFill>
          <a:ln w="9525">
            <a:solidFill>
              <a:srgbClr val="E5E7EB"/>
            </a:solidFill>
            <a:prstDash val="solid"/>
          </a:ln>
        </p:spPr>
      </p:sp>
      <p:sp>
        <p:nvSpPr>
          <p:cNvPr id="20" name="Shape 15"/>
          <p:cNvSpPr/>
          <p:nvPr/>
        </p:nvSpPr>
        <p:spPr>
          <a:xfrm>
            <a:off x="6949440" y="1508760"/>
            <a:ext cx="457200" cy="457200"/>
          </a:xfrm>
          <a:prstGeom prst="ellipse">
            <a:avLst/>
          </a:prstGeom>
          <a:solidFill>
            <a:srgbClr val="FCA311"/>
          </a:solidFill>
          <a:ln w="12700">
            <a:solidFill>
              <a:srgbClr val="FCA311"/>
            </a:solidFill>
            <a:prstDash val="solid"/>
          </a:ln>
        </p:spPr>
      </p:sp>
      <p:pic>
        <p:nvPicPr>
          <p:cNvPr id="21" name="Image 3" descr="preencoded.png">    </p:cNvPr>
          <p:cNvPicPr>
            <a:picLocks noChangeAspect="1"/>
          </p:cNvPicPr>
          <p:nvPr/>
        </p:nvPicPr>
        <p:blipFill>
          <a:blip r:embed="rId4"/>
          <a:stretch>
            <a:fillRect/>
          </a:stretch>
        </p:blipFill>
        <p:spPr>
          <a:xfrm>
            <a:off x="7059168" y="1618488"/>
            <a:ext cx="237744" cy="237744"/>
          </a:xfrm>
          <a:prstGeom prst="rect">
            <a:avLst/>
          </a:prstGeom>
        </p:spPr>
      </p:pic>
      <p:sp>
        <p:nvSpPr>
          <p:cNvPr id="22" name="Text 16"/>
          <p:cNvSpPr txBox="1"/>
          <p:nvPr/>
        </p:nvSpPr>
        <p:spPr>
          <a:xfrm>
            <a:off x="6903720" y="2039112"/>
            <a:ext cx="1691640" cy="292608"/>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Groq · Hugging Face · Ollama</a:t>
            </a:r>
            <a:endParaRPr lang="en-US" sz="1300" dirty="0"/>
          </a:p>
        </p:txBody>
      </p:sp>
      <p:sp>
        <p:nvSpPr>
          <p:cNvPr id="23" name="Text 17"/>
          <p:cNvSpPr txBox="1"/>
          <p:nvPr/>
        </p:nvSpPr>
        <p:spPr>
          <a:xfrm>
            <a:off x="6903720" y="2313432"/>
            <a:ext cx="1691640" cy="43891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Via one OpenAI-compatible client</a:t>
            </a:r>
            <a:endParaRPr lang="en-US" sz="1050" dirty="0"/>
          </a:p>
        </p:txBody>
      </p:sp>
      <p:sp>
        <p:nvSpPr>
          <p:cNvPr id="24" name="Shape 18"/>
          <p:cNvSpPr/>
          <p:nvPr/>
        </p:nvSpPr>
        <p:spPr>
          <a:xfrm>
            <a:off x="457200" y="2971800"/>
            <a:ext cx="1920240" cy="1463040"/>
          </a:xfrm>
          <a:prstGeom prst="roundRect">
            <a:avLst>
              <a:gd name="adj" fmla="val 6250"/>
            </a:avLst>
          </a:prstGeom>
          <a:solidFill>
            <a:srgbClr val="F4F5F7"/>
          </a:solidFill>
          <a:ln w="9525">
            <a:solidFill>
              <a:srgbClr val="E5E7EB"/>
            </a:solidFill>
            <a:prstDash val="solid"/>
          </a:ln>
        </p:spPr>
      </p:sp>
      <p:sp>
        <p:nvSpPr>
          <p:cNvPr id="25" name="Shape 19"/>
          <p:cNvSpPr/>
          <p:nvPr/>
        </p:nvSpPr>
        <p:spPr>
          <a:xfrm>
            <a:off x="640080" y="3154680"/>
            <a:ext cx="457200" cy="457200"/>
          </a:xfrm>
          <a:prstGeom prst="ellipse">
            <a:avLst/>
          </a:prstGeom>
          <a:solidFill>
            <a:srgbClr val="FCA311"/>
          </a:solidFill>
          <a:ln w="12700">
            <a:solidFill>
              <a:srgbClr val="FCA311"/>
            </a:solidFill>
            <a:prstDash val="solid"/>
          </a:ln>
        </p:spPr>
      </p:sp>
      <p:pic>
        <p:nvPicPr>
          <p:cNvPr id="26" name="Image 4" descr="preencoded.png">    </p:cNvPr>
          <p:cNvPicPr>
            <a:picLocks noChangeAspect="1"/>
          </p:cNvPicPr>
          <p:nvPr/>
        </p:nvPicPr>
        <p:blipFill>
          <a:blip r:embed="rId5"/>
          <a:stretch>
            <a:fillRect/>
          </a:stretch>
        </p:blipFill>
        <p:spPr>
          <a:xfrm>
            <a:off x="749808" y="3264408"/>
            <a:ext cx="237744" cy="237744"/>
          </a:xfrm>
          <a:prstGeom prst="rect">
            <a:avLst/>
          </a:prstGeom>
        </p:spPr>
      </p:pic>
      <p:sp>
        <p:nvSpPr>
          <p:cNvPr id="27" name="Text 20"/>
          <p:cNvSpPr txBox="1"/>
          <p:nvPr/>
        </p:nvSpPr>
        <p:spPr>
          <a:xfrm>
            <a:off x="594360" y="3685032"/>
            <a:ext cx="1691640" cy="292608"/>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Command-line app</a:t>
            </a:r>
            <a:endParaRPr lang="en-US" sz="1300" dirty="0"/>
          </a:p>
        </p:txBody>
      </p:sp>
      <p:sp>
        <p:nvSpPr>
          <p:cNvPr id="28" name="Text 21"/>
          <p:cNvSpPr txBox="1"/>
          <p:nvPr/>
        </p:nvSpPr>
        <p:spPr>
          <a:xfrm>
            <a:off x="594360" y="3959352"/>
            <a:ext cx="1691640" cy="43891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argparse + interactive loop with /commands</a:t>
            </a:r>
            <a:endParaRPr lang="en-US" sz="1050" dirty="0"/>
          </a:p>
        </p:txBody>
      </p:sp>
      <p:sp>
        <p:nvSpPr>
          <p:cNvPr id="29" name="Shape 22"/>
          <p:cNvSpPr/>
          <p:nvPr/>
        </p:nvSpPr>
        <p:spPr>
          <a:xfrm>
            <a:off x="2560320" y="2971800"/>
            <a:ext cx="1920240" cy="1463040"/>
          </a:xfrm>
          <a:prstGeom prst="roundRect">
            <a:avLst>
              <a:gd name="adj" fmla="val 6250"/>
            </a:avLst>
          </a:prstGeom>
          <a:solidFill>
            <a:srgbClr val="F4F5F7"/>
          </a:solidFill>
          <a:ln w="9525">
            <a:solidFill>
              <a:srgbClr val="E5E7EB"/>
            </a:solidFill>
            <a:prstDash val="solid"/>
          </a:ln>
        </p:spPr>
      </p:sp>
      <p:sp>
        <p:nvSpPr>
          <p:cNvPr id="30" name="Shape 23"/>
          <p:cNvSpPr/>
          <p:nvPr/>
        </p:nvSpPr>
        <p:spPr>
          <a:xfrm>
            <a:off x="2743200" y="3154680"/>
            <a:ext cx="457200" cy="457200"/>
          </a:xfrm>
          <a:prstGeom prst="ellipse">
            <a:avLst/>
          </a:prstGeom>
          <a:solidFill>
            <a:srgbClr val="FCA311"/>
          </a:solidFill>
          <a:ln w="12700">
            <a:solidFill>
              <a:srgbClr val="FCA311"/>
            </a:solidFill>
            <a:prstDash val="solid"/>
          </a:ln>
        </p:spPr>
      </p:sp>
      <p:pic>
        <p:nvPicPr>
          <p:cNvPr id="31" name="Image 5" descr="preencoded.png">    </p:cNvPr>
          <p:cNvPicPr>
            <a:picLocks noChangeAspect="1"/>
          </p:cNvPicPr>
          <p:nvPr/>
        </p:nvPicPr>
        <p:blipFill>
          <a:blip r:embed="rId6"/>
          <a:stretch>
            <a:fillRect/>
          </a:stretch>
        </p:blipFill>
        <p:spPr>
          <a:xfrm>
            <a:off x="2852928" y="3264408"/>
            <a:ext cx="237744" cy="237744"/>
          </a:xfrm>
          <a:prstGeom prst="rect">
            <a:avLst/>
          </a:prstGeom>
        </p:spPr>
      </p:pic>
      <p:sp>
        <p:nvSpPr>
          <p:cNvPr id="32" name="Text 24"/>
          <p:cNvSpPr txBox="1"/>
          <p:nvPr/>
        </p:nvSpPr>
        <p:spPr>
          <a:xfrm>
            <a:off x="2697480" y="3685032"/>
            <a:ext cx="1691640" cy="292608"/>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RAGAS 0.4.3</a:t>
            </a:r>
            <a:endParaRPr lang="en-US" sz="1300" dirty="0"/>
          </a:p>
        </p:txBody>
      </p:sp>
      <p:sp>
        <p:nvSpPr>
          <p:cNvPr id="33" name="Text 25"/>
          <p:cNvSpPr txBox="1"/>
          <p:nvPr/>
        </p:nvSpPr>
        <p:spPr>
          <a:xfrm>
            <a:off x="2697480" y="3959352"/>
            <a:ext cx="1691640" cy="43891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Faithfulness, relevance, precision, recall</a:t>
            </a:r>
            <a:endParaRPr lang="en-US" sz="1050" dirty="0"/>
          </a:p>
        </p:txBody>
      </p:sp>
      <p:sp>
        <p:nvSpPr>
          <p:cNvPr id="34" name="Shape 26"/>
          <p:cNvSpPr/>
          <p:nvPr/>
        </p:nvSpPr>
        <p:spPr>
          <a:xfrm>
            <a:off x="4663440" y="2971800"/>
            <a:ext cx="1920240" cy="1463040"/>
          </a:xfrm>
          <a:prstGeom prst="roundRect">
            <a:avLst>
              <a:gd name="adj" fmla="val 6250"/>
            </a:avLst>
          </a:prstGeom>
          <a:solidFill>
            <a:srgbClr val="F4F5F7"/>
          </a:solidFill>
          <a:ln w="9525">
            <a:solidFill>
              <a:srgbClr val="E5E7EB"/>
            </a:solidFill>
            <a:prstDash val="solid"/>
          </a:ln>
        </p:spPr>
      </p:sp>
      <p:sp>
        <p:nvSpPr>
          <p:cNvPr id="35" name="Shape 27"/>
          <p:cNvSpPr/>
          <p:nvPr/>
        </p:nvSpPr>
        <p:spPr>
          <a:xfrm>
            <a:off x="4846320" y="3154680"/>
            <a:ext cx="457200" cy="457200"/>
          </a:xfrm>
          <a:prstGeom prst="ellipse">
            <a:avLst/>
          </a:prstGeom>
          <a:solidFill>
            <a:srgbClr val="FCA311"/>
          </a:solidFill>
          <a:ln w="12700">
            <a:solidFill>
              <a:srgbClr val="FCA311"/>
            </a:solidFill>
            <a:prstDash val="solid"/>
          </a:ln>
        </p:spPr>
      </p:sp>
      <p:pic>
        <p:nvPicPr>
          <p:cNvPr id="36" name="Image 6" descr="preencoded.png">    </p:cNvPr>
          <p:cNvPicPr>
            <a:picLocks noChangeAspect="1"/>
          </p:cNvPicPr>
          <p:nvPr/>
        </p:nvPicPr>
        <p:blipFill>
          <a:blip r:embed="rId7"/>
          <a:stretch>
            <a:fillRect/>
          </a:stretch>
        </p:blipFill>
        <p:spPr>
          <a:xfrm>
            <a:off x="4956048" y="3264408"/>
            <a:ext cx="237744" cy="237744"/>
          </a:xfrm>
          <a:prstGeom prst="rect">
            <a:avLst/>
          </a:prstGeom>
        </p:spPr>
      </p:pic>
      <p:sp>
        <p:nvSpPr>
          <p:cNvPr id="37" name="Text 28"/>
          <p:cNvSpPr txBox="1"/>
          <p:nvPr/>
        </p:nvSpPr>
        <p:spPr>
          <a:xfrm>
            <a:off x="4800600" y="3685032"/>
            <a:ext cx="1691640" cy="292608"/>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Text extractors</a:t>
            </a:r>
            <a:endParaRPr lang="en-US" sz="1300" dirty="0"/>
          </a:p>
        </p:txBody>
      </p:sp>
      <p:sp>
        <p:nvSpPr>
          <p:cNvPr id="38" name="Text 29"/>
          <p:cNvSpPr txBox="1"/>
          <p:nvPr/>
        </p:nvSpPr>
        <p:spPr>
          <a:xfrm>
            <a:off x="4800600" y="3959352"/>
            <a:ext cx="1691640" cy="43891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pypdf · python-docx · BeautifulSoup</a:t>
            </a:r>
            <a:endParaRPr lang="en-US" sz="1050" dirty="0"/>
          </a:p>
        </p:txBody>
      </p:sp>
      <p:sp>
        <p:nvSpPr>
          <p:cNvPr id="39" name="Shape 30"/>
          <p:cNvSpPr/>
          <p:nvPr/>
        </p:nvSpPr>
        <p:spPr>
          <a:xfrm>
            <a:off x="6766560" y="2971800"/>
            <a:ext cx="1920240" cy="1463040"/>
          </a:xfrm>
          <a:prstGeom prst="roundRect">
            <a:avLst>
              <a:gd name="adj" fmla="val 6250"/>
            </a:avLst>
          </a:prstGeom>
          <a:solidFill>
            <a:srgbClr val="F4F5F7"/>
          </a:solidFill>
          <a:ln w="9525">
            <a:solidFill>
              <a:srgbClr val="E5E7EB"/>
            </a:solidFill>
            <a:prstDash val="solid"/>
          </a:ln>
        </p:spPr>
      </p:sp>
      <p:sp>
        <p:nvSpPr>
          <p:cNvPr id="40" name="Shape 31"/>
          <p:cNvSpPr/>
          <p:nvPr/>
        </p:nvSpPr>
        <p:spPr>
          <a:xfrm>
            <a:off x="6949440" y="3154680"/>
            <a:ext cx="457200" cy="457200"/>
          </a:xfrm>
          <a:prstGeom prst="ellipse">
            <a:avLst/>
          </a:prstGeom>
          <a:solidFill>
            <a:srgbClr val="FCA311"/>
          </a:solidFill>
          <a:ln w="12700">
            <a:solidFill>
              <a:srgbClr val="FCA311"/>
            </a:solidFill>
            <a:prstDash val="solid"/>
          </a:ln>
        </p:spPr>
      </p:sp>
      <p:pic>
        <p:nvPicPr>
          <p:cNvPr id="41" name="Image 7" descr="preencoded.png">    </p:cNvPr>
          <p:cNvPicPr>
            <a:picLocks noChangeAspect="1"/>
          </p:cNvPicPr>
          <p:nvPr/>
        </p:nvPicPr>
        <p:blipFill>
          <a:blip r:embed="rId8"/>
          <a:stretch>
            <a:fillRect/>
          </a:stretch>
        </p:blipFill>
        <p:spPr>
          <a:xfrm>
            <a:off x="7059168" y="3264408"/>
            <a:ext cx="237744" cy="237744"/>
          </a:xfrm>
          <a:prstGeom prst="rect">
            <a:avLst/>
          </a:prstGeom>
        </p:spPr>
      </p:pic>
      <p:sp>
        <p:nvSpPr>
          <p:cNvPr id="42" name="Text 32"/>
          <p:cNvSpPr txBox="1"/>
          <p:nvPr/>
        </p:nvSpPr>
        <p:spPr>
          <a:xfrm>
            <a:off x="6903720" y="3685032"/>
            <a:ext cx="1691640" cy="292608"/>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NumPy · pandas</a:t>
            </a:r>
            <a:endParaRPr lang="en-US" sz="1300" dirty="0"/>
          </a:p>
        </p:txBody>
      </p:sp>
      <p:sp>
        <p:nvSpPr>
          <p:cNvPr id="43" name="Text 33"/>
          <p:cNvSpPr txBox="1"/>
          <p:nvPr/>
        </p:nvSpPr>
        <p:spPr>
          <a:xfrm>
            <a:off x="6903720" y="3959352"/>
            <a:ext cx="1691640" cy="43891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Vector maths, CSV/JSON handling</a:t>
            </a:r>
            <a:endParaRPr lang="en-US" sz="1050" dirty="0"/>
          </a:p>
        </p:txBody>
      </p:sp>
      <p:sp>
        <p:nvSpPr>
          <p:cNvPr id="44" name="Text 34"/>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Multi-Document RAG  ·  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731520" y="1737360"/>
            <a:ext cx="7315200" cy="274320"/>
          </a:xfrm>
          <a:prstGeom prst="rect">
            <a:avLst/>
          </a:prstGeom>
          <a:noFill/>
          <a:ln/>
        </p:spPr>
        <p:txBody>
          <a:bodyPr wrap="square" lIns="0" tIns="0" rIns="0" bIns="0" rtlCol="0" anchor="ctr"/>
          <a:lstStyle/>
          <a:p>
            <a:pPr indent="0" marL="0">
              <a:buNone/>
            </a:pPr>
            <a:r>
              <a:rPr lang="en-US" sz="1200" b="1" spc="300" kern="0" dirty="0">
                <a:solidFill>
                  <a:srgbClr val="FCA311"/>
                </a:solidFill>
                <a:latin typeface="Calibri" pitchFamily="34" charset="0"/>
                <a:ea typeface="Calibri" pitchFamily="34" charset="-122"/>
                <a:cs typeface="Calibri" pitchFamily="34" charset="-120"/>
              </a:rPr>
              <a:t>PART 2</a:t>
            </a:r>
            <a:endParaRPr lang="en-US" sz="1200" dirty="0"/>
          </a:p>
        </p:txBody>
      </p:sp>
      <p:sp>
        <p:nvSpPr>
          <p:cNvPr id="3" name="Text 1"/>
          <p:cNvSpPr txBox="1"/>
          <p:nvPr/>
        </p:nvSpPr>
        <p:spPr>
          <a:xfrm>
            <a:off x="731520" y="2057400"/>
            <a:ext cx="768096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Ingestion pipeline</a:t>
            </a:r>
            <a:endParaRPr lang="en-US" sz="4000" dirty="0"/>
          </a:p>
        </p:txBody>
      </p:sp>
      <p:sp>
        <p:nvSpPr>
          <p:cNvPr id="4" name="Text 2"/>
          <p:cNvSpPr txBox="1"/>
          <p:nvPr/>
        </p:nvSpPr>
        <p:spPr>
          <a:xfrm>
            <a:off x="731520" y="2926080"/>
            <a:ext cx="7315200" cy="548640"/>
          </a:xfrm>
          <a:prstGeom prst="rect">
            <a:avLst/>
          </a:prstGeom>
          <a:noFill/>
          <a:ln/>
        </p:spPr>
        <p:txBody>
          <a:bodyPr wrap="square" lIns="0" tIns="0" rIns="0" bIns="0" rtlCol="0" anchor="ctr"/>
          <a:lstStyle/>
          <a:p>
            <a:pPr indent="0" marL="0">
              <a:buNone/>
            </a:pPr>
            <a:r>
              <a:rPr lang="en-US" sz="1600" dirty="0">
                <a:solidFill>
                  <a:srgbClr val="C9D6EE"/>
                </a:solidFill>
                <a:latin typeface="Calibri" pitchFamily="34" charset="0"/>
                <a:ea typeface="Calibri" pitchFamily="34" charset="-122"/>
                <a:cs typeface="Calibri" pitchFamily="34" charset="-120"/>
              </a:rPr>
              <a:t>Documents  →  loaders  →  chunks  →  embeddings  →  vector database</a:t>
            </a:r>
            <a:endParaRPr lang="en-US" sz="1600" dirty="0"/>
          </a:p>
        </p:txBody>
      </p:sp>
      <p:sp>
        <p:nvSpPr>
          <p:cNvPr id="5" name="Shape 3"/>
          <p:cNvSpPr/>
          <p:nvPr/>
        </p:nvSpPr>
        <p:spPr>
          <a:xfrm>
            <a:off x="731520" y="3931920"/>
            <a:ext cx="146304" cy="146304"/>
          </a:xfrm>
          <a:prstGeom prst="ellipse">
            <a:avLst/>
          </a:prstGeom>
          <a:solidFill>
            <a:srgbClr val="FCA311"/>
          </a:solidFill>
          <a:ln w="12700">
            <a:solidFill>
              <a:srgbClr val="FCA311"/>
            </a:solidFill>
            <a:prstDash val="solid"/>
          </a:ln>
        </p:spPr>
      </p:sp>
      <p:sp>
        <p:nvSpPr>
          <p:cNvPr id="6" name="Shape 4"/>
          <p:cNvSpPr/>
          <p:nvPr/>
        </p:nvSpPr>
        <p:spPr>
          <a:xfrm>
            <a:off x="987552" y="3931920"/>
            <a:ext cx="146304" cy="146304"/>
          </a:xfrm>
          <a:prstGeom prst="ellipse">
            <a:avLst/>
          </a:prstGeom>
          <a:solidFill>
            <a:srgbClr val="1F2F5C"/>
          </a:solidFill>
          <a:ln w="12700">
            <a:solidFill>
              <a:srgbClr val="FCA311"/>
            </a:solidFill>
            <a:prstDash val="solid"/>
          </a:ln>
        </p:spPr>
      </p:sp>
      <p:sp>
        <p:nvSpPr>
          <p:cNvPr id="7" name="Shape 5"/>
          <p:cNvSpPr/>
          <p:nvPr/>
        </p:nvSpPr>
        <p:spPr>
          <a:xfrm>
            <a:off x="1243584" y="3931920"/>
            <a:ext cx="146304" cy="146304"/>
          </a:xfrm>
          <a:prstGeom prst="ellipse">
            <a:avLst/>
          </a:prstGeom>
          <a:solidFill>
            <a:srgbClr val="1F2F5C"/>
          </a:solidFill>
          <a:ln w="12700">
            <a:solidFill>
              <a:srgbClr val="FCA311"/>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INGESTION · OVERVIEW</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Ingestion pipeline, step by step</a:t>
            </a:r>
            <a:endParaRPr lang="en-US" sz="2800" dirty="0"/>
          </a:p>
        </p:txBody>
      </p:sp>
      <p:sp>
        <p:nvSpPr>
          <p:cNvPr id="4" name="Shape 2"/>
          <p:cNvSpPr/>
          <p:nvPr/>
        </p:nvSpPr>
        <p:spPr>
          <a:xfrm>
            <a:off x="2057400" y="1636776"/>
            <a:ext cx="365760" cy="0"/>
          </a:xfrm>
          <a:prstGeom prst="line">
            <a:avLst/>
          </a:prstGeom>
          <a:noFill/>
          <a:ln w="15875">
            <a:solidFill>
              <a:srgbClr val="6B7280"/>
            </a:solidFill>
            <a:prstDash val="solid"/>
            <a:tailEnd type="triangle"/>
          </a:ln>
        </p:spPr>
      </p:sp>
      <p:sp>
        <p:nvSpPr>
          <p:cNvPr id="5" name="Shape 3"/>
          <p:cNvSpPr/>
          <p:nvPr/>
        </p:nvSpPr>
        <p:spPr>
          <a:xfrm>
            <a:off x="4251960" y="1636776"/>
            <a:ext cx="365760" cy="0"/>
          </a:xfrm>
          <a:prstGeom prst="line">
            <a:avLst/>
          </a:prstGeom>
          <a:noFill/>
          <a:ln w="15875">
            <a:solidFill>
              <a:srgbClr val="6B7280"/>
            </a:solidFill>
            <a:prstDash val="solid"/>
            <a:tailEnd type="triangle"/>
          </a:ln>
        </p:spPr>
      </p:sp>
      <p:sp>
        <p:nvSpPr>
          <p:cNvPr id="6" name="Shape 4"/>
          <p:cNvSpPr/>
          <p:nvPr/>
        </p:nvSpPr>
        <p:spPr>
          <a:xfrm>
            <a:off x="6446520" y="1636776"/>
            <a:ext cx="365760" cy="0"/>
          </a:xfrm>
          <a:prstGeom prst="line">
            <a:avLst/>
          </a:prstGeom>
          <a:noFill/>
          <a:ln w="15875">
            <a:solidFill>
              <a:srgbClr val="6B7280"/>
            </a:solidFill>
            <a:prstDash val="solid"/>
            <a:tailEnd type="triangle"/>
          </a:ln>
        </p:spPr>
      </p:sp>
      <p:sp>
        <p:nvSpPr>
          <p:cNvPr id="7" name="Shape 5"/>
          <p:cNvSpPr/>
          <p:nvPr/>
        </p:nvSpPr>
        <p:spPr>
          <a:xfrm>
            <a:off x="7749540" y="1947672"/>
            <a:ext cx="0" cy="329184"/>
          </a:xfrm>
          <a:prstGeom prst="line">
            <a:avLst/>
          </a:prstGeom>
          <a:noFill/>
          <a:ln w="15875">
            <a:solidFill>
              <a:srgbClr val="6B7280"/>
            </a:solidFill>
            <a:prstDash val="solid"/>
          </a:ln>
        </p:spPr>
      </p:sp>
      <p:sp>
        <p:nvSpPr>
          <p:cNvPr id="8" name="Shape 6"/>
          <p:cNvSpPr/>
          <p:nvPr/>
        </p:nvSpPr>
        <p:spPr>
          <a:xfrm flipH="1">
            <a:off x="1371600" y="2276856"/>
            <a:ext cx="6377940" cy="0"/>
          </a:xfrm>
          <a:prstGeom prst="line">
            <a:avLst/>
          </a:prstGeom>
          <a:noFill/>
          <a:ln w="15875">
            <a:solidFill>
              <a:srgbClr val="6B7280"/>
            </a:solidFill>
            <a:prstDash val="solid"/>
          </a:ln>
        </p:spPr>
      </p:sp>
      <p:sp>
        <p:nvSpPr>
          <p:cNvPr id="9" name="Shape 7"/>
          <p:cNvSpPr/>
          <p:nvPr/>
        </p:nvSpPr>
        <p:spPr>
          <a:xfrm>
            <a:off x="1371600" y="2276856"/>
            <a:ext cx="0" cy="329184"/>
          </a:xfrm>
          <a:prstGeom prst="line">
            <a:avLst/>
          </a:prstGeom>
          <a:noFill/>
          <a:ln w="15875">
            <a:solidFill>
              <a:srgbClr val="6B7280"/>
            </a:solidFill>
            <a:prstDash val="solid"/>
            <a:tailEnd type="triangle"/>
          </a:ln>
        </p:spPr>
      </p:sp>
      <p:sp>
        <p:nvSpPr>
          <p:cNvPr id="10" name="Shape 8"/>
          <p:cNvSpPr/>
          <p:nvPr/>
        </p:nvSpPr>
        <p:spPr>
          <a:xfrm>
            <a:off x="2286000" y="2916936"/>
            <a:ext cx="365760" cy="0"/>
          </a:xfrm>
          <a:prstGeom prst="line">
            <a:avLst/>
          </a:prstGeom>
          <a:noFill/>
          <a:ln w="15875">
            <a:solidFill>
              <a:srgbClr val="6B7280"/>
            </a:solidFill>
            <a:prstDash val="solid"/>
            <a:tailEnd type="triangle"/>
          </a:ln>
        </p:spPr>
      </p:sp>
      <p:sp>
        <p:nvSpPr>
          <p:cNvPr id="11" name="Shape 9"/>
          <p:cNvSpPr/>
          <p:nvPr/>
        </p:nvSpPr>
        <p:spPr>
          <a:xfrm>
            <a:off x="4480560" y="2916936"/>
            <a:ext cx="365760" cy="0"/>
          </a:xfrm>
          <a:prstGeom prst="line">
            <a:avLst/>
          </a:prstGeom>
          <a:noFill/>
          <a:ln w="15875">
            <a:solidFill>
              <a:srgbClr val="6B7280"/>
            </a:solidFill>
            <a:prstDash val="solid"/>
            <a:tailEnd type="triangle"/>
          </a:ln>
        </p:spPr>
      </p:sp>
      <p:sp>
        <p:nvSpPr>
          <p:cNvPr id="12" name="Shape 10"/>
          <p:cNvSpPr/>
          <p:nvPr/>
        </p:nvSpPr>
        <p:spPr>
          <a:xfrm>
            <a:off x="6675120" y="2916936"/>
            <a:ext cx="365760" cy="0"/>
          </a:xfrm>
          <a:prstGeom prst="line">
            <a:avLst/>
          </a:prstGeom>
          <a:noFill/>
          <a:ln w="15875">
            <a:solidFill>
              <a:srgbClr val="6B7280"/>
            </a:solidFill>
            <a:prstDash val="solid"/>
            <a:tailEnd type="triangle"/>
          </a:ln>
        </p:spPr>
      </p:sp>
      <p:sp>
        <p:nvSpPr>
          <p:cNvPr id="13" name="Shape 11"/>
          <p:cNvSpPr/>
          <p:nvPr/>
        </p:nvSpPr>
        <p:spPr>
          <a:xfrm>
            <a:off x="3566160" y="3227832"/>
            <a:ext cx="0" cy="612648"/>
          </a:xfrm>
          <a:prstGeom prst="line">
            <a:avLst/>
          </a:prstGeom>
          <a:noFill/>
          <a:ln w="15875">
            <a:solidFill>
              <a:srgbClr val="6B7280"/>
            </a:solidFill>
            <a:prstDash val="dash"/>
            <a:tailEnd type="triangle"/>
          </a:ln>
        </p:spPr>
      </p:sp>
      <p:sp>
        <p:nvSpPr>
          <p:cNvPr id="14" name="Text 12"/>
          <p:cNvSpPr txBox="1"/>
          <p:nvPr/>
        </p:nvSpPr>
        <p:spPr>
          <a:xfrm>
            <a:off x="3794760" y="3433572"/>
            <a:ext cx="1463040" cy="201168"/>
          </a:xfrm>
          <a:prstGeom prst="rect">
            <a:avLst/>
          </a:prstGeom>
          <a:solidFill>
            <a:srgbClr val="FFFFFF"/>
          </a:solidFill>
          <a:ln/>
        </p:spPr>
        <p:txBody>
          <a:bodyPr wrap="square" lIns="0" tIns="0" rIns="0" bIns="0" rtlCol="0" anchor="ctr"/>
          <a:lstStyle/>
          <a:p>
            <a:pPr algn="ctr" indent="0" marL="0">
              <a:buNone/>
            </a:pPr>
            <a:r>
              <a:rPr lang="en-US" sz="800" i="1" dirty="0">
                <a:solidFill>
                  <a:srgbClr val="6B7280"/>
                </a:solidFill>
                <a:latin typeface="Calibri" pitchFamily="34" charset="0"/>
                <a:ea typeface="Calibri" pitchFamily="34" charset="-122"/>
                <a:cs typeface="Calibri" pitchFamily="34" charset="-120"/>
              </a:rPr>
              <a:t>written before embedding</a:t>
            </a:r>
            <a:endParaRPr lang="en-US" sz="800" dirty="0"/>
          </a:p>
        </p:txBody>
      </p:sp>
      <p:sp>
        <p:nvSpPr>
          <p:cNvPr id="15" name="Shape 13"/>
          <p:cNvSpPr/>
          <p:nvPr/>
        </p:nvSpPr>
        <p:spPr>
          <a:xfrm>
            <a:off x="7863840" y="3273552"/>
            <a:ext cx="0" cy="566928"/>
          </a:xfrm>
          <a:prstGeom prst="line">
            <a:avLst/>
          </a:prstGeom>
          <a:noFill/>
          <a:ln w="15875">
            <a:solidFill>
              <a:srgbClr val="6B7280"/>
            </a:solidFill>
            <a:prstDash val="dash"/>
            <a:tailEnd type="triangle"/>
          </a:ln>
        </p:spPr>
      </p:sp>
      <p:sp>
        <p:nvSpPr>
          <p:cNvPr id="16" name="Shape 14"/>
          <p:cNvSpPr/>
          <p:nvPr/>
        </p:nvSpPr>
        <p:spPr>
          <a:xfrm>
            <a:off x="457200" y="1325880"/>
            <a:ext cx="1600200" cy="621792"/>
          </a:xfrm>
          <a:prstGeom prst="roundRect">
            <a:avLst>
              <a:gd name="adj" fmla="val 50000"/>
            </a:avLst>
          </a:prstGeom>
          <a:solidFill>
            <a:srgbClr val="14213D"/>
          </a:solidFill>
          <a:ln w="9525">
            <a:solidFill>
              <a:srgbClr val="14213D"/>
            </a:solidFill>
            <a:prstDash val="solid"/>
          </a:ln>
        </p:spPr>
      </p:sp>
      <p:sp>
        <p:nvSpPr>
          <p:cNvPr id="17" name="Text 15"/>
          <p:cNvSpPr txBox="1"/>
          <p:nvPr/>
        </p:nvSpPr>
        <p:spPr>
          <a:xfrm>
            <a:off x="512064" y="1325880"/>
            <a:ext cx="1490472" cy="621792"/>
          </a:xfrm>
          <a:prstGeom prst="rect">
            <a:avLst/>
          </a:prstGeom>
          <a:noFill/>
          <a:ln/>
        </p:spPr>
        <p:txBody>
          <a:bodyPr wrap="square" lIns="25400" tIns="25400" rIns="25400" bIns="254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python ingest.py</a:t>
            </a:r>
            <a:endParaRPr lang="en-US" sz="1000" dirty="0"/>
          </a:p>
          <a:p>
            <a:pPr algn="ctr" indent="0" marL="0">
              <a:buNone/>
            </a:pPr>
            <a:r>
              <a:rPr lang="en-US" sz="850" dirty="0">
                <a:solidFill>
                  <a:srgbClr val="C9D6EE"/>
                </a:solidFill>
                <a:latin typeface="Calibri" pitchFamily="34" charset="0"/>
                <a:ea typeface="Calibri" pitchFamily="34" charset="-122"/>
                <a:cs typeface="Calibri" pitchFamily="34" charset="-120"/>
              </a:rPr>
              <a:t>rebuilds the index</a:t>
            </a:r>
            <a:endParaRPr lang="en-US" sz="1000" dirty="0"/>
          </a:p>
        </p:txBody>
      </p:sp>
      <p:sp>
        <p:nvSpPr>
          <p:cNvPr id="18" name="Shape 16"/>
          <p:cNvSpPr/>
          <p:nvPr/>
        </p:nvSpPr>
        <p:spPr>
          <a:xfrm>
            <a:off x="2423160" y="1325880"/>
            <a:ext cx="1828800" cy="621792"/>
          </a:xfrm>
          <a:prstGeom prst="flowChartDocument">
            <a:avLst/>
          </a:prstGeom>
          <a:solidFill>
            <a:srgbClr val="FFFFFF"/>
          </a:solidFill>
          <a:ln w="9525">
            <a:solidFill>
              <a:srgbClr val="9CA3AF"/>
            </a:solidFill>
            <a:prstDash val="solid"/>
          </a:ln>
        </p:spPr>
      </p:sp>
      <p:sp>
        <p:nvSpPr>
          <p:cNvPr id="19" name="Text 17"/>
          <p:cNvSpPr txBox="1"/>
          <p:nvPr/>
        </p:nvSpPr>
        <p:spPr>
          <a:xfrm>
            <a:off x="2478024" y="1325880"/>
            <a:ext cx="1719072" cy="621792"/>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data/  ·  your files</a:t>
            </a:r>
            <a:endParaRPr lang="en-US" sz="1000" dirty="0"/>
          </a:p>
          <a:p>
            <a:pPr algn="ctr" indent="0" marL="0">
              <a:buNone/>
            </a:pPr>
            <a:r>
              <a:rPr lang="en-US" sz="850" dirty="0">
                <a:solidFill>
                  <a:srgbClr val="6B7280"/>
                </a:solidFill>
                <a:latin typeface="Calibri" pitchFamily="34" charset="0"/>
                <a:ea typeface="Calibri" pitchFamily="34" charset="-122"/>
                <a:cs typeface="Calibri" pitchFamily="34" charset="-120"/>
              </a:rPr>
              <a:t>pdf docx txt csv json md html</a:t>
            </a:r>
            <a:endParaRPr lang="en-US" sz="1000" dirty="0"/>
          </a:p>
        </p:txBody>
      </p:sp>
      <p:sp>
        <p:nvSpPr>
          <p:cNvPr id="20" name="Shape 18"/>
          <p:cNvSpPr/>
          <p:nvPr/>
        </p:nvSpPr>
        <p:spPr>
          <a:xfrm>
            <a:off x="4617720" y="1325880"/>
            <a:ext cx="1828800" cy="621792"/>
          </a:xfrm>
          <a:prstGeom prst="roundRect">
            <a:avLst>
              <a:gd name="adj" fmla="val 11765"/>
            </a:avLst>
          </a:prstGeom>
          <a:solidFill>
            <a:srgbClr val="F4F5F7"/>
          </a:solidFill>
          <a:ln w="9525">
            <a:solidFill>
              <a:srgbClr val="CBD5E1"/>
            </a:solidFill>
            <a:prstDash val="solid"/>
          </a:ln>
        </p:spPr>
      </p:sp>
      <p:sp>
        <p:nvSpPr>
          <p:cNvPr id="21" name="Text 19"/>
          <p:cNvSpPr txBox="1"/>
          <p:nvPr/>
        </p:nvSpPr>
        <p:spPr>
          <a:xfrm>
            <a:off x="4672584" y="1325880"/>
            <a:ext cx="1719072" cy="621792"/>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Loader per extension</a:t>
            </a:r>
            <a:endParaRPr lang="en-US" sz="1000" dirty="0"/>
          </a:p>
          <a:p>
            <a:pPr algn="ctr" indent="0" marL="0">
              <a:buNone/>
            </a:pPr>
            <a:r>
              <a:rPr lang="en-US" sz="850" dirty="0">
                <a:solidFill>
                  <a:srgbClr val="6B7280"/>
                </a:solidFill>
                <a:latin typeface="Calibri" pitchFamily="34" charset="0"/>
                <a:ea typeface="Calibri" pitchFamily="34" charset="-122"/>
                <a:cs typeface="Calibri" pitchFamily="34" charset="-120"/>
              </a:rPr>
              <a:t>document_loader.py → loaders/</a:t>
            </a:r>
            <a:endParaRPr lang="en-US" sz="1000" dirty="0"/>
          </a:p>
        </p:txBody>
      </p:sp>
      <p:sp>
        <p:nvSpPr>
          <p:cNvPr id="22" name="Shape 20"/>
          <p:cNvSpPr/>
          <p:nvPr/>
        </p:nvSpPr>
        <p:spPr>
          <a:xfrm>
            <a:off x="6812280" y="1325880"/>
            <a:ext cx="1874520" cy="621792"/>
          </a:xfrm>
          <a:prstGeom prst="roundRect">
            <a:avLst>
              <a:gd name="adj" fmla="val 11765"/>
            </a:avLst>
          </a:prstGeom>
          <a:solidFill>
            <a:srgbClr val="F4F5F7"/>
          </a:solidFill>
          <a:ln w="9525">
            <a:solidFill>
              <a:srgbClr val="CBD5E1"/>
            </a:solidFill>
            <a:prstDash val="solid"/>
          </a:ln>
        </p:spPr>
      </p:sp>
      <p:sp>
        <p:nvSpPr>
          <p:cNvPr id="23" name="Text 21"/>
          <p:cNvSpPr txBox="1"/>
          <p:nvPr/>
        </p:nvSpPr>
        <p:spPr>
          <a:xfrm>
            <a:off x="6867144" y="1325880"/>
            <a:ext cx="1764792" cy="621792"/>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LoadedDocument list</a:t>
            </a:r>
            <a:endParaRPr lang="en-US" sz="1000" dirty="0"/>
          </a:p>
          <a:p>
            <a:pPr algn="ctr" indent="0" marL="0">
              <a:buNone/>
            </a:pPr>
            <a:r>
              <a:rPr lang="en-US" sz="850" dirty="0">
                <a:solidFill>
                  <a:srgbClr val="6B7280"/>
                </a:solidFill>
                <a:latin typeface="Calibri" pitchFamily="34" charset="0"/>
                <a:ea typeface="Calibri" pitchFamily="34" charset="-122"/>
                <a:cs typeface="Calibri" pitchFamily="34" charset="-120"/>
              </a:rPr>
              <a:t>text + citation metadata</a:t>
            </a:r>
            <a:endParaRPr lang="en-US" sz="1000" dirty="0"/>
          </a:p>
        </p:txBody>
      </p:sp>
      <p:sp>
        <p:nvSpPr>
          <p:cNvPr id="24" name="Shape 22"/>
          <p:cNvSpPr/>
          <p:nvPr/>
        </p:nvSpPr>
        <p:spPr>
          <a:xfrm>
            <a:off x="457200" y="2606040"/>
            <a:ext cx="1828800" cy="621792"/>
          </a:xfrm>
          <a:prstGeom prst="roundRect">
            <a:avLst>
              <a:gd name="adj" fmla="val 11765"/>
            </a:avLst>
          </a:prstGeom>
          <a:solidFill>
            <a:srgbClr val="F4F5F7"/>
          </a:solidFill>
          <a:ln w="9525">
            <a:solidFill>
              <a:srgbClr val="CBD5E1"/>
            </a:solidFill>
            <a:prstDash val="solid"/>
          </a:ln>
        </p:spPr>
      </p:sp>
      <p:sp>
        <p:nvSpPr>
          <p:cNvPr id="25" name="Text 23"/>
          <p:cNvSpPr txBox="1"/>
          <p:nvPr/>
        </p:nvSpPr>
        <p:spPr>
          <a:xfrm>
            <a:off x="512064" y="2606040"/>
            <a:ext cx="1719072" cy="621792"/>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Recursive splitter</a:t>
            </a:r>
            <a:endParaRPr lang="en-US" sz="1000" dirty="0"/>
          </a:p>
          <a:p>
            <a:pPr algn="ctr" indent="0" marL="0">
              <a:buNone/>
            </a:pPr>
            <a:r>
              <a:rPr lang="en-US" sz="850" dirty="0">
                <a:solidFill>
                  <a:srgbClr val="6B7280"/>
                </a:solidFill>
                <a:latin typeface="Calibri" pitchFamily="34" charset="0"/>
                <a:ea typeface="Calibri" pitchFamily="34" charset="-122"/>
                <a:cs typeface="Calibri" pitchFamily="34" charset="-120"/>
              </a:rPr>
              <a:t>800 chars · 150 overlap</a:t>
            </a:r>
            <a:endParaRPr lang="en-US" sz="1000" dirty="0"/>
          </a:p>
        </p:txBody>
      </p:sp>
      <p:sp>
        <p:nvSpPr>
          <p:cNvPr id="26" name="Shape 24"/>
          <p:cNvSpPr/>
          <p:nvPr/>
        </p:nvSpPr>
        <p:spPr>
          <a:xfrm>
            <a:off x="2651760" y="2606040"/>
            <a:ext cx="1828800" cy="621792"/>
          </a:xfrm>
          <a:prstGeom prst="roundRect">
            <a:avLst>
              <a:gd name="adj" fmla="val 11765"/>
            </a:avLst>
          </a:prstGeom>
          <a:solidFill>
            <a:srgbClr val="F4F5F7"/>
          </a:solidFill>
          <a:ln w="9525">
            <a:solidFill>
              <a:srgbClr val="CBD5E1"/>
            </a:solidFill>
            <a:prstDash val="solid"/>
          </a:ln>
        </p:spPr>
      </p:sp>
      <p:sp>
        <p:nvSpPr>
          <p:cNvPr id="27" name="Text 25"/>
          <p:cNvSpPr txBox="1"/>
          <p:nvPr/>
        </p:nvSpPr>
        <p:spPr>
          <a:xfrm>
            <a:off x="2706624" y="2606040"/>
            <a:ext cx="1719072" cy="621792"/>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Chunk list</a:t>
            </a:r>
            <a:endParaRPr lang="en-US" sz="1000" dirty="0"/>
          </a:p>
          <a:p>
            <a:pPr algn="ctr" indent="0" marL="0">
              <a:buNone/>
            </a:pPr>
            <a:r>
              <a:rPr lang="en-US" sz="850" dirty="0">
                <a:solidFill>
                  <a:srgbClr val="6B7280"/>
                </a:solidFill>
                <a:latin typeface="Calibri" pitchFamily="34" charset="0"/>
                <a:ea typeface="Calibri" pitchFamily="34" charset="-122"/>
                <a:cs typeface="Calibri" pitchFamily="34" charset="-120"/>
              </a:rPr>
              <a:t>stable chunk_id per chunk</a:t>
            </a:r>
            <a:endParaRPr lang="en-US" sz="1000" dirty="0"/>
          </a:p>
        </p:txBody>
      </p:sp>
      <p:sp>
        <p:nvSpPr>
          <p:cNvPr id="28" name="Shape 26"/>
          <p:cNvSpPr/>
          <p:nvPr/>
        </p:nvSpPr>
        <p:spPr>
          <a:xfrm>
            <a:off x="4846320" y="2606040"/>
            <a:ext cx="1828800" cy="621792"/>
          </a:xfrm>
          <a:prstGeom prst="roundRect">
            <a:avLst>
              <a:gd name="adj" fmla="val 11765"/>
            </a:avLst>
          </a:prstGeom>
          <a:solidFill>
            <a:srgbClr val="F4F5F7"/>
          </a:solidFill>
          <a:ln w="9525">
            <a:solidFill>
              <a:srgbClr val="CBD5E1"/>
            </a:solidFill>
            <a:prstDash val="solid"/>
          </a:ln>
        </p:spPr>
      </p:sp>
      <p:sp>
        <p:nvSpPr>
          <p:cNvPr id="29" name="Text 27"/>
          <p:cNvSpPr txBox="1"/>
          <p:nvPr/>
        </p:nvSpPr>
        <p:spPr>
          <a:xfrm>
            <a:off x="4901184" y="2606040"/>
            <a:ext cx="1719072" cy="621792"/>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EmbeddingModel</a:t>
            </a:r>
            <a:endParaRPr lang="en-US" sz="1000" dirty="0"/>
          </a:p>
          <a:p>
            <a:pPr algn="ctr" indent="0" marL="0">
              <a:buNone/>
            </a:pPr>
            <a:r>
              <a:rPr lang="en-US" sz="850" dirty="0">
                <a:solidFill>
                  <a:srgbClr val="6B7280"/>
                </a:solidFill>
                <a:latin typeface="Calibri" pitchFamily="34" charset="0"/>
                <a:ea typeface="Calibri" pitchFamily="34" charset="-122"/>
                <a:cs typeface="Calibri" pitchFamily="34" charset="-120"/>
              </a:rPr>
              <a:t>all-MiniLM-L6-v2 · 384-d</a:t>
            </a:r>
            <a:endParaRPr lang="en-US" sz="1000" dirty="0"/>
          </a:p>
        </p:txBody>
      </p:sp>
      <p:sp>
        <p:nvSpPr>
          <p:cNvPr id="30" name="Shape 28"/>
          <p:cNvSpPr/>
          <p:nvPr/>
        </p:nvSpPr>
        <p:spPr>
          <a:xfrm>
            <a:off x="7040880" y="2560320"/>
            <a:ext cx="1645920" cy="713232"/>
          </a:xfrm>
          <a:prstGeom prst="can">
            <a:avLst/>
          </a:prstGeom>
          <a:solidFill>
            <a:srgbClr val="C9D6EE"/>
          </a:solidFill>
          <a:ln w="9525">
            <a:solidFill>
              <a:srgbClr val="9DB2D9"/>
            </a:solidFill>
            <a:prstDash val="solid"/>
          </a:ln>
        </p:spPr>
      </p:sp>
      <p:sp>
        <p:nvSpPr>
          <p:cNvPr id="31" name="Text 29"/>
          <p:cNvSpPr txBox="1"/>
          <p:nvPr/>
        </p:nvSpPr>
        <p:spPr>
          <a:xfrm>
            <a:off x="7095744" y="2560320"/>
            <a:ext cx="1536192" cy="713232"/>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ChromaDB</a:t>
            </a:r>
            <a:endParaRPr lang="en-US" sz="1000" dirty="0"/>
          </a:p>
          <a:p>
            <a:pPr algn="ctr" indent="0" marL="0">
              <a:buNone/>
            </a:pPr>
            <a:r>
              <a:rPr lang="en-US" sz="850" dirty="0">
                <a:solidFill>
                  <a:srgbClr val="1F2F5C"/>
                </a:solidFill>
                <a:latin typeface="Calibri" pitchFamily="34" charset="0"/>
                <a:ea typeface="Calibri" pitchFamily="34" charset="-122"/>
                <a:cs typeface="Calibri" pitchFamily="34" charset="-120"/>
              </a:rPr>
              <a:t>rag_&lt;model&gt; collection</a:t>
            </a:r>
            <a:endParaRPr lang="en-US" sz="1000" dirty="0"/>
          </a:p>
        </p:txBody>
      </p:sp>
      <p:sp>
        <p:nvSpPr>
          <p:cNvPr id="32" name="Shape 30"/>
          <p:cNvSpPr/>
          <p:nvPr/>
        </p:nvSpPr>
        <p:spPr>
          <a:xfrm>
            <a:off x="2651760" y="3840480"/>
            <a:ext cx="1828800" cy="548640"/>
          </a:xfrm>
          <a:prstGeom prst="flowChartDocument">
            <a:avLst/>
          </a:prstGeom>
          <a:solidFill>
            <a:srgbClr val="FFFFFF"/>
          </a:solidFill>
          <a:ln w="9525">
            <a:solidFill>
              <a:srgbClr val="9CA3AF"/>
            </a:solidFill>
            <a:prstDash val="solid"/>
          </a:ln>
        </p:spPr>
      </p:sp>
      <p:sp>
        <p:nvSpPr>
          <p:cNvPr id="33" name="Text 31"/>
          <p:cNvSpPr txBox="1"/>
          <p:nvPr/>
        </p:nvSpPr>
        <p:spPr>
          <a:xfrm>
            <a:off x="2706624" y="3840480"/>
            <a:ext cx="1719072" cy="548640"/>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results/chunks.json</a:t>
            </a:r>
            <a:endParaRPr lang="en-US" sz="1000" dirty="0"/>
          </a:p>
          <a:p>
            <a:pPr algn="ctr" indent="0" marL="0">
              <a:buNone/>
            </a:pPr>
            <a:r>
              <a:rPr lang="en-US" sz="850" dirty="0">
                <a:solidFill>
                  <a:srgbClr val="6B7280"/>
                </a:solidFill>
                <a:latin typeface="Calibri" pitchFamily="34" charset="0"/>
                <a:ea typeface="Calibri" pitchFamily="34" charset="-122"/>
                <a:cs typeface="Calibri" pitchFamily="34" charset="-120"/>
              </a:rPr>
              <a:t>every chunk, for inspection</a:t>
            </a:r>
            <a:endParaRPr lang="en-US" sz="1000" dirty="0"/>
          </a:p>
        </p:txBody>
      </p:sp>
      <p:sp>
        <p:nvSpPr>
          <p:cNvPr id="34" name="Shape 32"/>
          <p:cNvSpPr/>
          <p:nvPr/>
        </p:nvSpPr>
        <p:spPr>
          <a:xfrm>
            <a:off x="7040880" y="3840480"/>
            <a:ext cx="1645920" cy="548640"/>
          </a:xfrm>
          <a:prstGeom prst="flowChartDocument">
            <a:avLst/>
          </a:prstGeom>
          <a:solidFill>
            <a:srgbClr val="FFFFFF"/>
          </a:solidFill>
          <a:ln w="9525">
            <a:solidFill>
              <a:srgbClr val="9CA3AF"/>
            </a:solidFill>
            <a:prstDash val="solid"/>
          </a:ln>
        </p:spPr>
      </p:sp>
      <p:sp>
        <p:nvSpPr>
          <p:cNvPr id="35" name="Text 33"/>
          <p:cNvSpPr txBox="1"/>
          <p:nvPr/>
        </p:nvSpPr>
        <p:spPr>
          <a:xfrm>
            <a:off x="7095744" y="3840480"/>
            <a:ext cx="1536192" cy="548640"/>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ingest_manifest.json</a:t>
            </a:r>
            <a:endParaRPr lang="en-US" sz="1000" dirty="0"/>
          </a:p>
          <a:p>
            <a:pPr algn="ctr" indent="0" marL="0">
              <a:buNone/>
            </a:pPr>
            <a:r>
              <a:rPr lang="en-US" sz="850" dirty="0">
                <a:solidFill>
                  <a:srgbClr val="6B7280"/>
                </a:solidFill>
                <a:latin typeface="Calibri" pitchFamily="34" charset="0"/>
                <a:ea typeface="Calibri" pitchFamily="34" charset="-122"/>
                <a:cs typeface="Calibri" pitchFamily="34" charset="-120"/>
              </a:rPr>
              <a:t>per-file counts, timings</a:t>
            </a:r>
            <a:endParaRPr lang="en-US" sz="1000" dirty="0"/>
          </a:p>
        </p:txBody>
      </p:sp>
      <p:sp>
        <p:nvSpPr>
          <p:cNvPr id="36" name="Text 34"/>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Multi-Document RAG  ·  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INGESTION · STEP 1</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Seven formats, one loader interface</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120640" cy="914400"/>
        </p:xfrm>
        <a:graphic>
          <a:graphicData uri="http://schemas.openxmlformats.org/drawingml/2006/table">
            <a:tbl>
              <a:tblPr/>
              <a:tblGrid>
                <a:gridCol w="914400"/>
                <a:gridCol w="1188720"/>
                <a:gridCol w="3017520"/>
              </a:tblGrid>
              <a:tr h="32918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Format</a:t>
                      </a:r>
                      <a:endParaRPr lang="en-US" sz="11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Library</a:t>
                      </a:r>
                      <a:endParaRPr lang="en-US" sz="11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Citation metadata captured</a:t>
                      </a:r>
                      <a:endParaRPr lang="en-US" sz="11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r>
              <a:tr h="329184">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PDF</a:t>
                      </a:r>
                      <a:endParaRPr lang="en-US" sz="11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pypdf</a:t>
                      </a:r>
                      <a:endParaRPr lang="en-US" sz="11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page number</a:t>
                      </a:r>
                      <a:endParaRPr lang="en-US" sz="11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DOCX</a:t>
                      </a:r>
                      <a:endParaRPr lang="en-US" sz="11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python-docx</a:t>
                      </a:r>
                      <a:endParaRPr lang="en-US" sz="11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heading → section name</a:t>
                      </a:r>
                      <a:endParaRPr lang="en-US" sz="11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TXT</a:t>
                      </a:r>
                      <a:endParaRPr lang="en-US" sz="11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built-in</a:t>
                      </a:r>
                      <a:endParaRPr lang="en-US" sz="11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numbered / ALL-CAPS section headers</a:t>
                      </a:r>
                      <a:endParaRPr lang="en-US" sz="11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CSV</a:t>
                      </a:r>
                      <a:endParaRPr lang="en-US" sz="11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csv module</a:t>
                      </a:r>
                      <a:endParaRPr lang="en-US" sz="11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row number as a sentence + a summary chunk</a:t>
                      </a:r>
                      <a:endParaRPr lang="en-US" sz="11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JSON</a:t>
                      </a:r>
                      <a:endParaRPr lang="en-US" sz="11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json module</a:t>
                      </a:r>
                      <a:endParaRPr lang="en-US" sz="11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item index + category</a:t>
                      </a:r>
                      <a:endParaRPr lang="en-US" sz="11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Markdown</a:t>
                      </a:r>
                      <a:endParaRPr lang="en-US" sz="11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built-in</a:t>
                      </a:r>
                      <a:endParaRPr lang="en-US" sz="11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heading path (H1 › H2 › H3)</a:t>
                      </a:r>
                      <a:endParaRPr lang="en-US" sz="11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HTML</a:t>
                      </a:r>
                      <a:endParaRPr lang="en-US" sz="11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BeautifulSoup</a:t>
                      </a:r>
                      <a:endParaRPr lang="en-US" sz="11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section headings; scripts/nav stripped</a:t>
                      </a:r>
                      <a:endParaRPr lang="en-US" sz="11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bl>
          </a:graphicData>
        </a:graphic>
      </p:graphicFrame>
      <p:sp>
        <p:nvSpPr>
          <p:cNvPr id="5" name="Shape 2"/>
          <p:cNvSpPr/>
          <p:nvPr/>
        </p:nvSpPr>
        <p:spPr>
          <a:xfrm>
            <a:off x="5852160" y="1280160"/>
            <a:ext cx="2834640" cy="3291840"/>
          </a:xfrm>
          <a:prstGeom prst="roundRect">
            <a:avLst>
              <a:gd name="adj" fmla="val 3226"/>
            </a:avLst>
          </a:prstGeom>
          <a:solidFill>
            <a:srgbClr val="F4F5F7"/>
          </a:solidFill>
          <a:ln w="9525">
            <a:solidFill>
              <a:srgbClr val="E5E7EB"/>
            </a:solidFill>
            <a:prstDash val="solid"/>
          </a:ln>
        </p:spPr>
      </p:sp>
      <p:sp>
        <p:nvSpPr>
          <p:cNvPr id="6" name="Shape 3"/>
          <p:cNvSpPr/>
          <p:nvPr/>
        </p:nvSpPr>
        <p:spPr>
          <a:xfrm>
            <a:off x="6035040" y="1463040"/>
            <a:ext cx="457200" cy="457200"/>
          </a:xfrm>
          <a:prstGeom prst="ellipse">
            <a:avLst/>
          </a:prstGeom>
          <a:solidFill>
            <a:srgbClr val="FCA311"/>
          </a:solidFill>
          <a:ln w="12700">
            <a:solidFill>
              <a:srgbClr val="FCA311"/>
            </a:solidFill>
            <a:prstDash val="solid"/>
          </a:ln>
        </p:spPr>
      </p:sp>
      <p:pic>
        <p:nvPicPr>
          <p:cNvPr id="7" name="Image 0" descr="preencoded.png">    </p:cNvPr>
          <p:cNvPicPr>
            <a:picLocks noChangeAspect="1"/>
          </p:cNvPicPr>
          <p:nvPr/>
        </p:nvPicPr>
        <p:blipFill>
          <a:blip r:embed="rId1"/>
          <a:stretch>
            <a:fillRect/>
          </a:stretch>
        </p:blipFill>
        <p:spPr>
          <a:xfrm>
            <a:off x="6144768" y="1572768"/>
            <a:ext cx="237744" cy="237744"/>
          </a:xfrm>
          <a:prstGeom prst="rect">
            <a:avLst/>
          </a:prstGeom>
        </p:spPr>
      </p:pic>
      <p:sp>
        <p:nvSpPr>
          <p:cNvPr id="8" name="Text 4"/>
          <p:cNvSpPr txBox="1"/>
          <p:nvPr/>
        </p:nvSpPr>
        <p:spPr>
          <a:xfrm>
            <a:off x="6583680" y="1463040"/>
            <a:ext cx="2011680" cy="45720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LoadedDocument</a:t>
            </a:r>
            <a:endParaRPr lang="en-US" sz="1400" dirty="0"/>
          </a:p>
        </p:txBody>
      </p:sp>
      <p:sp>
        <p:nvSpPr>
          <p:cNvPr id="9" name="Text 5"/>
          <p:cNvSpPr txBox="1"/>
          <p:nvPr/>
        </p:nvSpPr>
        <p:spPr>
          <a:xfrm>
            <a:off x="6035040" y="2011680"/>
            <a:ext cx="2514600" cy="246888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Every loader returns the same dataclass: text + metadata (source, file type, page / row / section / item)</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document_loader.py maps the extension to a loader — adding a format is one file and one dict entry</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Metadata travels with each chunk into the vector DB, so answers can say "leave_policy.txt, section 2"</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Sample corpus: 7 files → 83 parts → 89 chunks</a:t>
            </a:r>
            <a:endParaRPr lang="en-US" sz="1150" dirty="0"/>
          </a:p>
        </p:txBody>
      </p:sp>
      <p:sp>
        <p:nvSpPr>
          <p:cNvPr id="10" name="Text 6"/>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Multi-Document RAG  ·  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INGESTION · STEP 2</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Chunking: recursive character splitting with overlap</a:t>
            </a:r>
            <a:endParaRPr lang="en-US" sz="2800" dirty="0"/>
          </a:p>
        </p:txBody>
      </p:sp>
      <p:sp>
        <p:nvSpPr>
          <p:cNvPr id="4" name="Text 2"/>
          <p:cNvSpPr txBox="1"/>
          <p:nvPr/>
        </p:nvSpPr>
        <p:spPr>
          <a:xfrm>
            <a:off x="457200" y="1280160"/>
            <a:ext cx="4480560" cy="338328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Why chunk? Embeddings summarise a passage into one vector — a whole document blurs into "HR stuff". Small chunks keep vectors specific.</a:t>
            </a:r>
            <a:endParaRPr lang="en-US" sz="1200" dirty="0"/>
          </a:p>
          <a:p>
            <a:pPr marL="152400" indent="-1524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Algorithm: try to split on "\n\n", then "\n", then ". ", then " ", then characters — always the largest separator that fits the size limit.</a:t>
            </a:r>
            <a:endParaRPr lang="en-US" sz="1200" dirty="0"/>
          </a:p>
          <a:p>
            <a:pPr marL="152400" indent="-1524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chunk_size = 800 characters, overlap = 150 — a sentence cut at a boundary survives in the neighbouring chunk.</a:t>
            </a:r>
            <a:endParaRPr lang="en-US" sz="1200" dirty="0"/>
          </a:p>
          <a:p>
            <a:pPr marL="152400" indent="-1524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Stable IDs: &lt;source&gt;__&lt;part&gt;__c&lt;n&gt; — re-ingesting a file upserts the same IDs instead of duplicating.</a:t>
            </a:r>
            <a:endParaRPr lang="en-US" sz="1200" dirty="0"/>
          </a:p>
          <a:p>
            <a:pPr marL="152400" indent="-1524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Every chunk is written to results/chunks.json for inspection (next slide).</a:t>
            </a:r>
            <a:endParaRPr lang="en-US" sz="1200" dirty="0"/>
          </a:p>
        </p:txBody>
      </p:sp>
      <p:sp>
        <p:nvSpPr>
          <p:cNvPr id="5" name="Shape 3"/>
          <p:cNvSpPr/>
          <p:nvPr/>
        </p:nvSpPr>
        <p:spPr>
          <a:xfrm>
            <a:off x="5212080" y="1280160"/>
            <a:ext cx="3474720" cy="3383280"/>
          </a:xfrm>
          <a:prstGeom prst="roundRect">
            <a:avLst>
              <a:gd name="adj" fmla="val 2703"/>
            </a:avLst>
          </a:prstGeom>
          <a:solidFill>
            <a:srgbClr val="F4F5F7"/>
          </a:solidFill>
          <a:ln w="9525">
            <a:solidFill>
              <a:srgbClr val="E5E7EB"/>
            </a:solidFill>
            <a:prstDash val="solid"/>
          </a:ln>
        </p:spPr>
      </p:sp>
      <p:sp>
        <p:nvSpPr>
          <p:cNvPr id="6" name="Text 4"/>
          <p:cNvSpPr txBox="1"/>
          <p:nvPr/>
        </p:nvSpPr>
        <p:spPr>
          <a:xfrm>
            <a:off x="5394960" y="1417320"/>
            <a:ext cx="3108960" cy="274320"/>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One document part</a:t>
            </a:r>
            <a:endParaRPr lang="en-US" sz="1100" dirty="0"/>
          </a:p>
        </p:txBody>
      </p:sp>
      <p:sp>
        <p:nvSpPr>
          <p:cNvPr id="7" name="Shape 5"/>
          <p:cNvSpPr/>
          <p:nvPr/>
        </p:nvSpPr>
        <p:spPr>
          <a:xfrm>
            <a:off x="5394960" y="1737360"/>
            <a:ext cx="3108960" cy="365760"/>
          </a:xfrm>
          <a:prstGeom prst="roundRect">
            <a:avLst>
              <a:gd name="adj" fmla="val 12500"/>
            </a:avLst>
          </a:prstGeom>
          <a:solidFill>
            <a:srgbClr val="C9D6EE"/>
          </a:solidFill>
          <a:ln w="12700">
            <a:solidFill>
              <a:srgbClr val="C9D6EE"/>
            </a:solidFill>
            <a:prstDash val="solid"/>
          </a:ln>
        </p:spPr>
      </p:sp>
      <p:sp>
        <p:nvSpPr>
          <p:cNvPr id="8" name="Shape 6"/>
          <p:cNvSpPr/>
          <p:nvPr/>
        </p:nvSpPr>
        <p:spPr>
          <a:xfrm>
            <a:off x="5394960" y="2331720"/>
            <a:ext cx="1188720" cy="365760"/>
          </a:xfrm>
          <a:prstGeom prst="roundRect">
            <a:avLst>
              <a:gd name="adj" fmla="val 12500"/>
            </a:avLst>
          </a:prstGeom>
          <a:solidFill>
            <a:srgbClr val="14213D"/>
          </a:solidFill>
          <a:ln w="12700">
            <a:solidFill>
              <a:srgbClr val="14213D"/>
            </a:solidFill>
            <a:prstDash val="solid"/>
          </a:ln>
        </p:spPr>
      </p:sp>
      <p:sp>
        <p:nvSpPr>
          <p:cNvPr id="9" name="Text 7"/>
          <p:cNvSpPr txBox="1"/>
          <p:nvPr/>
        </p:nvSpPr>
        <p:spPr>
          <a:xfrm>
            <a:off x="5394960" y="2331720"/>
            <a:ext cx="118872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chunk 1</a:t>
            </a:r>
            <a:endParaRPr lang="en-US" sz="1050" dirty="0"/>
          </a:p>
        </p:txBody>
      </p:sp>
      <p:sp>
        <p:nvSpPr>
          <p:cNvPr id="10" name="Shape 8"/>
          <p:cNvSpPr/>
          <p:nvPr/>
        </p:nvSpPr>
        <p:spPr>
          <a:xfrm>
            <a:off x="6309360" y="2788920"/>
            <a:ext cx="1188720" cy="365760"/>
          </a:xfrm>
          <a:prstGeom prst="roundRect">
            <a:avLst>
              <a:gd name="adj" fmla="val 12500"/>
            </a:avLst>
          </a:prstGeom>
          <a:solidFill>
            <a:srgbClr val="FCA311"/>
          </a:solidFill>
          <a:ln w="12700">
            <a:solidFill>
              <a:srgbClr val="FCA311"/>
            </a:solidFill>
            <a:prstDash val="solid"/>
          </a:ln>
        </p:spPr>
      </p:sp>
      <p:sp>
        <p:nvSpPr>
          <p:cNvPr id="11" name="Text 9"/>
          <p:cNvSpPr txBox="1"/>
          <p:nvPr/>
        </p:nvSpPr>
        <p:spPr>
          <a:xfrm>
            <a:off x="6309360" y="2788920"/>
            <a:ext cx="1188720" cy="365760"/>
          </a:xfrm>
          <a:prstGeom prst="rect">
            <a:avLst/>
          </a:prstGeom>
          <a:noFill/>
          <a:ln/>
        </p:spPr>
        <p:txBody>
          <a:bodyPr wrap="square" lIns="0" tIns="0" rIns="0" bIns="0" rtlCol="0" anchor="ctr"/>
          <a:lstStyle/>
          <a:p>
            <a:pPr algn="ctr" indent="0" marL="0">
              <a:buNone/>
            </a:pPr>
            <a:r>
              <a:rPr lang="en-US" sz="1050" b="1" dirty="0">
                <a:solidFill>
                  <a:srgbClr val="14213D"/>
                </a:solidFill>
                <a:latin typeface="Calibri" pitchFamily="34" charset="0"/>
                <a:ea typeface="Calibri" pitchFamily="34" charset="-122"/>
                <a:cs typeface="Calibri" pitchFamily="34" charset="-120"/>
              </a:rPr>
              <a:t>chunk 2</a:t>
            </a:r>
            <a:endParaRPr lang="en-US" sz="1050" dirty="0"/>
          </a:p>
        </p:txBody>
      </p:sp>
      <p:sp>
        <p:nvSpPr>
          <p:cNvPr id="12" name="Shape 10"/>
          <p:cNvSpPr/>
          <p:nvPr/>
        </p:nvSpPr>
        <p:spPr>
          <a:xfrm>
            <a:off x="7223760" y="3246120"/>
            <a:ext cx="1188720" cy="365760"/>
          </a:xfrm>
          <a:prstGeom prst="roundRect">
            <a:avLst>
              <a:gd name="adj" fmla="val 12500"/>
            </a:avLst>
          </a:prstGeom>
          <a:solidFill>
            <a:srgbClr val="14213D"/>
          </a:solidFill>
          <a:ln w="12700">
            <a:solidFill>
              <a:srgbClr val="14213D"/>
            </a:solidFill>
            <a:prstDash val="solid"/>
          </a:ln>
        </p:spPr>
      </p:sp>
      <p:sp>
        <p:nvSpPr>
          <p:cNvPr id="13" name="Text 11"/>
          <p:cNvSpPr txBox="1"/>
          <p:nvPr/>
        </p:nvSpPr>
        <p:spPr>
          <a:xfrm>
            <a:off x="7223760" y="3246120"/>
            <a:ext cx="118872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chunk 3</a:t>
            </a:r>
            <a:endParaRPr lang="en-US" sz="1050" dirty="0"/>
          </a:p>
        </p:txBody>
      </p:sp>
      <p:sp>
        <p:nvSpPr>
          <p:cNvPr id="14" name="Shape 12"/>
          <p:cNvSpPr/>
          <p:nvPr/>
        </p:nvSpPr>
        <p:spPr>
          <a:xfrm>
            <a:off x="6309360" y="3794760"/>
            <a:ext cx="274320" cy="0"/>
          </a:xfrm>
          <a:prstGeom prst="line">
            <a:avLst/>
          </a:prstGeom>
          <a:noFill/>
          <a:ln w="25400">
            <a:solidFill>
              <a:srgbClr val="B91C1C"/>
            </a:solidFill>
            <a:prstDash val="solid"/>
          </a:ln>
        </p:spPr>
      </p:sp>
      <p:sp>
        <p:nvSpPr>
          <p:cNvPr id="15" name="Text 13"/>
          <p:cNvSpPr txBox="1"/>
          <p:nvPr/>
        </p:nvSpPr>
        <p:spPr>
          <a:xfrm>
            <a:off x="5806440" y="3840480"/>
            <a:ext cx="1280160" cy="228600"/>
          </a:xfrm>
          <a:prstGeom prst="rect">
            <a:avLst/>
          </a:prstGeom>
          <a:noFill/>
          <a:ln/>
        </p:spPr>
        <p:txBody>
          <a:bodyPr wrap="square" lIns="0" tIns="0" rIns="0" bIns="0" rtlCol="0" anchor="ctr"/>
          <a:lstStyle/>
          <a:p>
            <a:pPr algn="ctr" indent="0" marL="0">
              <a:buNone/>
            </a:pPr>
            <a:r>
              <a:rPr lang="en-US" sz="950" dirty="0">
                <a:solidFill>
                  <a:srgbClr val="B91C1C"/>
                </a:solidFill>
                <a:latin typeface="Calibri" pitchFamily="34" charset="0"/>
                <a:ea typeface="Calibri" pitchFamily="34" charset="-122"/>
                <a:cs typeface="Calibri" pitchFamily="34" charset="-120"/>
              </a:rPr>
              <a:t>150-char overlap</a:t>
            </a:r>
            <a:endParaRPr lang="en-US" sz="950" dirty="0"/>
          </a:p>
        </p:txBody>
      </p:sp>
      <p:sp>
        <p:nvSpPr>
          <p:cNvPr id="16" name="Text 14"/>
          <p:cNvSpPr txBox="1"/>
          <p:nvPr/>
        </p:nvSpPr>
        <p:spPr>
          <a:xfrm>
            <a:off x="5394960" y="4206240"/>
            <a:ext cx="3108960" cy="274320"/>
          </a:xfrm>
          <a:prstGeom prst="rect">
            <a:avLst/>
          </a:prstGeom>
          <a:noFill/>
          <a:ln/>
        </p:spPr>
        <p:txBody>
          <a:bodyPr wrap="square" lIns="0" tIns="0" rIns="0" bIns="0"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83 parts  →  89 chunks  ·  384-dim each</a:t>
            </a:r>
            <a:endParaRPr lang="en-US" sz="1100" dirty="0"/>
          </a:p>
        </p:txBody>
      </p:sp>
      <p:sp>
        <p:nvSpPr>
          <p:cNvPr id="17" name="Text 15"/>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Multi-Document RAG  ·  9</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INGESTION · INSPECT</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Seeing the split: results/chunks.json</a:t>
            </a:r>
            <a:endParaRPr lang="en-US" sz="2800" dirty="0"/>
          </a:p>
        </p:txBody>
      </p:sp>
      <p:sp>
        <p:nvSpPr>
          <p:cNvPr id="4" name="Shape 2"/>
          <p:cNvSpPr/>
          <p:nvPr/>
        </p:nvSpPr>
        <p:spPr>
          <a:xfrm>
            <a:off x="457200" y="1280160"/>
            <a:ext cx="4480560" cy="3429000"/>
          </a:xfrm>
          <a:prstGeom prst="roundRect">
            <a:avLst>
              <a:gd name="adj" fmla="val 2667"/>
            </a:avLst>
          </a:prstGeom>
          <a:solidFill>
            <a:srgbClr val="F4F5F7"/>
          </a:solidFill>
          <a:ln w="9525">
            <a:solidFill>
              <a:srgbClr val="E5E7EB"/>
            </a:solidFill>
            <a:prstDash val="solid"/>
          </a:ln>
        </p:spPr>
      </p:sp>
      <p:sp>
        <p:nvSpPr>
          <p:cNvPr id="5" name="Text 3"/>
          <p:cNvSpPr txBox="1"/>
          <p:nvPr/>
        </p:nvSpPr>
        <p:spPr>
          <a:xfrm>
            <a:off x="640080" y="1371600"/>
            <a:ext cx="4114800" cy="274320"/>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One entry per chunk, in document order</a:t>
            </a:r>
            <a:endParaRPr lang="en-US" sz="1100" dirty="0"/>
          </a:p>
        </p:txBody>
      </p:sp>
      <p:sp>
        <p:nvSpPr>
          <p:cNvPr id="6" name="Text 4"/>
          <p:cNvSpPr txBox="1"/>
          <p:nvPr/>
        </p:nvSpPr>
        <p:spPr>
          <a:xfrm>
            <a:off x="640080" y="1691640"/>
            <a:ext cx="4114800" cy="2148840"/>
          </a:xfrm>
          <a:prstGeom prst="rect">
            <a:avLst/>
          </a:prstGeom>
          <a:noFill/>
          <a:ln/>
        </p:spPr>
        <p:txBody>
          <a:bodyPr wrap="square" lIns="0" tIns="0" rIns="0" bIns="0" rtlCol="0" anchor="t"/>
          <a:lstStyle/>
          <a:p>
            <a:pPr indent="0" marL="0">
              <a:buNone/>
            </a:pPr>
            <a:r>
              <a:rPr lang="en-US" sz="900" dirty="0">
                <a:solidFill>
                  <a:srgbClr val="1F2937"/>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1F2937"/>
                </a:solidFill>
                <a:latin typeface="Courier New" pitchFamily="34" charset="0"/>
                <a:ea typeface="Courier New" pitchFamily="34" charset="-122"/>
                <a:cs typeface="Courier New" pitchFamily="34" charset="-120"/>
              </a:rPr>
              <a:t>  "order": 40,</a:t>
            </a:r>
            <a:endParaRPr lang="en-US" sz="900" dirty="0"/>
          </a:p>
          <a:p>
            <a:pPr indent="0" marL="0">
              <a:buNone/>
            </a:pPr>
            <a:r>
              <a:rPr lang="en-US" sz="900" dirty="0">
                <a:solidFill>
                  <a:srgbClr val="1F2937"/>
                </a:solidFill>
                <a:latin typeface="Courier New" pitchFamily="34" charset="0"/>
                <a:ea typeface="Courier New" pitchFamily="34" charset="-122"/>
                <a:cs typeface="Courier New" pitchFamily="34" charset="-120"/>
              </a:rPr>
              <a:t>  "chunk_id": "hr-data__r8__c0",</a:t>
            </a:r>
            <a:endParaRPr lang="en-US" sz="900" dirty="0"/>
          </a:p>
          <a:p>
            <a:pPr indent="0" marL="0">
              <a:buNone/>
            </a:pPr>
            <a:r>
              <a:rPr lang="en-US" sz="900" dirty="0">
                <a:solidFill>
                  <a:srgbClr val="1F2937"/>
                </a:solidFill>
                <a:latin typeface="Courier New" pitchFamily="34" charset="0"/>
                <a:ea typeface="Courier New" pitchFamily="34" charset="-122"/>
                <a:cs typeface="Courier New" pitchFamily="34" charset="-120"/>
              </a:rPr>
              <a:t>  "source": "hr_data.csv",  "file_type": "csv",</a:t>
            </a:r>
            <a:endParaRPr lang="en-US" sz="900" dirty="0"/>
          </a:p>
          <a:p>
            <a:pPr indent="0" marL="0">
              <a:buNone/>
            </a:pPr>
            <a:r>
              <a:rPr lang="en-US" sz="900" dirty="0">
                <a:solidFill>
                  <a:srgbClr val="1F2937"/>
                </a:solidFill>
                <a:latin typeface="Courier New" pitchFamily="34" charset="0"/>
                <a:ea typeface="Courier New" pitchFamily="34" charset="-122"/>
                <a:cs typeface="Courier New" pitchFamily="34" charset="-120"/>
              </a:rPr>
              <a:t>  "locator": "row 8",  "chunk_index": 0,</a:t>
            </a:r>
            <a:endParaRPr lang="en-US" sz="900" dirty="0"/>
          </a:p>
          <a:p>
            <a:pPr indent="0" marL="0">
              <a:buNone/>
            </a:pPr>
            <a:r>
              <a:rPr lang="en-US" sz="900" dirty="0">
                <a:solidFill>
                  <a:srgbClr val="1F2937"/>
                </a:solidFill>
                <a:latin typeface="Courier New" pitchFamily="34" charset="0"/>
                <a:ea typeface="Courier New" pitchFamily="34" charset="-122"/>
                <a:cs typeface="Courier New" pitchFamily="34" charset="-120"/>
              </a:rPr>
              <a:t>  "characters": 206,</a:t>
            </a:r>
            <a:endParaRPr lang="en-US" sz="900" dirty="0"/>
          </a:p>
          <a:p>
            <a:pPr indent="0" marL="0">
              <a:buNone/>
            </a:pPr>
            <a:r>
              <a:rPr lang="en-US" sz="900" dirty="0">
                <a:solidFill>
                  <a:srgbClr val="1F2937"/>
                </a:solidFill>
                <a:latin typeface="Courier New" pitchFamily="34" charset="0"/>
                <a:ea typeface="Courier New" pitchFamily="34" charset="-122"/>
                <a:cs typeface="Courier New" pitchFamily="34" charset="-120"/>
              </a:rPr>
              <a:t>  "text": "employee_id: AD-008; name: Hassan Raza;</a:t>
            </a:r>
            <a:endParaRPr lang="en-US" sz="900" dirty="0"/>
          </a:p>
          <a:p>
            <a:pPr indent="0" marL="0">
              <a:buNone/>
            </a:pPr>
            <a:r>
              <a:rPr lang="en-US" sz="900" dirty="0">
                <a:solidFill>
                  <a:srgbClr val="1F2937"/>
                </a:solidFill>
                <a:latin typeface="Courier New" pitchFamily="34" charset="0"/>
                <a:ea typeface="Courier New" pitchFamily="34" charset="-122"/>
                <a:cs typeface="Courier New" pitchFamily="34" charset="-120"/>
              </a:rPr>
              <a:t>           department: Engineering; role: ...",</a:t>
            </a:r>
            <a:endParaRPr lang="en-US" sz="900" dirty="0"/>
          </a:p>
          <a:p>
            <a:pPr indent="0" marL="0">
              <a:buNone/>
            </a:pPr>
            <a:r>
              <a:rPr lang="en-US" sz="900" dirty="0">
                <a:solidFill>
                  <a:srgbClr val="1F2937"/>
                </a:solidFill>
                <a:latin typeface="Courier New" pitchFamily="34" charset="0"/>
                <a:ea typeface="Courier New" pitchFamily="34" charset="-122"/>
                <a:cs typeface="Courier New" pitchFamily="34" charset="-120"/>
              </a:rPr>
              <a:t>  "metadata": { "source": "hr_data.csv", "row": 8, ... }</a:t>
            </a:r>
            <a:endParaRPr lang="en-US" sz="900" dirty="0"/>
          </a:p>
          <a:p>
            <a:pPr indent="0" marL="0">
              <a:buNone/>
            </a:pPr>
            <a:r>
              <a:rPr lang="en-US" sz="900" dirty="0">
                <a:solidFill>
                  <a:srgbClr val="1F2937"/>
                </a:solidFill>
                <a:latin typeface="Courier New" pitchFamily="34" charset="0"/>
                <a:ea typeface="Courier New" pitchFamily="34" charset="-122"/>
                <a:cs typeface="Courier New" pitchFamily="34" charset="-120"/>
              </a:rPr>
              <a:t>}</a:t>
            </a:r>
            <a:endParaRPr lang="en-US" sz="900" dirty="0"/>
          </a:p>
        </p:txBody>
      </p:sp>
      <p:sp>
        <p:nvSpPr>
          <p:cNvPr id="7" name="Text 5"/>
          <p:cNvSpPr txBox="1"/>
          <p:nvPr/>
        </p:nvSpPr>
        <p:spPr>
          <a:xfrm>
            <a:off x="640080" y="3886200"/>
            <a:ext cx="4114800" cy="777240"/>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Written before embedding, so it exists even if the model download fails. chunk_id is the same id stored in ChromaDB and printed by --show-chunks; neighbouring entries show the 150-character overlap.</a:t>
            </a:r>
            <a:endParaRPr lang="en-US" sz="9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212080" y="1280160"/>
          <a:ext cx="3474720" cy="914400"/>
        </p:xfrm>
        <a:graphic>
          <a:graphicData uri="http://schemas.openxmlformats.org/drawingml/2006/table">
            <a:tbl>
              <a:tblPr/>
              <a:tblGrid>
                <a:gridCol w="1737360"/>
                <a:gridCol w="548640"/>
                <a:gridCol w="548640"/>
                <a:gridCol w="640080"/>
              </a:tblGrid>
              <a:tr h="27432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File</a:t>
                      </a:r>
                      <a:endParaRPr lang="en-US" sz="10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Type</a:t>
                      </a:r>
                      <a:endParaRPr lang="en-US" sz="10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Parts</a:t>
                      </a:r>
                      <a:endParaRPr lang="en-US" sz="10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Chunks</a:t>
                      </a:r>
                      <a:endParaRPr lang="en-US" sz="10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r>
              <a:tr h="274320">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company_policy.pdf</a:t>
                      </a:r>
                      <a:endParaRPr lang="en-US" sz="10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pdf</a:t>
                      </a:r>
                      <a:endParaRPr lang="en-US" sz="10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74320">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employee_handbook.docx</a:t>
                      </a:r>
                      <a:endParaRPr lang="en-US" sz="10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docx</a:t>
                      </a:r>
                      <a:endParaRPr lang="en-US" sz="10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74320">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faq.json</a:t>
                      </a:r>
                      <a:endParaRPr lang="en-US" sz="10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json</a:t>
                      </a:r>
                      <a:endParaRPr lang="en-US" sz="10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74320">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hr_data.csv</a:t>
                      </a:r>
                      <a:endParaRPr lang="en-US" sz="10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csv</a:t>
                      </a:r>
                      <a:endParaRPr lang="en-US" sz="10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26</a:t>
                      </a:r>
                      <a:endParaRPr lang="en-US" sz="10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26</a:t>
                      </a:r>
                      <a:endParaRPr lang="en-US" sz="10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74320">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leave_policy.txt</a:t>
                      </a:r>
                      <a:endParaRPr lang="en-US" sz="10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txt</a:t>
                      </a:r>
                      <a:endParaRPr lang="en-US" sz="10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74320">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notes.md</a:t>
                      </a:r>
                      <a:endParaRPr lang="en-US" sz="10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md</a:t>
                      </a:r>
                      <a:endParaRPr lang="en-US" sz="10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74320">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website_content.html</a:t>
                      </a:r>
                      <a:endParaRPr lang="en-US" sz="10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html</a:t>
                      </a:r>
                      <a:endParaRPr lang="en-US" sz="10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bl>
          </a:graphicData>
        </a:graphic>
      </p:graphicFrame>
      <p:sp>
        <p:nvSpPr>
          <p:cNvPr id="9" name="Shape 6"/>
          <p:cNvSpPr/>
          <p:nvPr/>
        </p:nvSpPr>
        <p:spPr>
          <a:xfrm>
            <a:off x="5212080" y="3657600"/>
            <a:ext cx="1097280" cy="1005840"/>
          </a:xfrm>
          <a:prstGeom prst="roundRect">
            <a:avLst>
              <a:gd name="adj" fmla="val 9091"/>
            </a:avLst>
          </a:prstGeom>
          <a:solidFill>
            <a:srgbClr val="F4F5F7"/>
          </a:solidFill>
          <a:ln w="9525">
            <a:solidFill>
              <a:srgbClr val="E5E7EB"/>
            </a:solidFill>
            <a:prstDash val="solid"/>
          </a:ln>
        </p:spPr>
      </p:sp>
      <p:sp>
        <p:nvSpPr>
          <p:cNvPr id="10" name="Text 7"/>
          <p:cNvSpPr txBox="1"/>
          <p:nvPr/>
        </p:nvSpPr>
        <p:spPr>
          <a:xfrm>
            <a:off x="5212080" y="3730752"/>
            <a:ext cx="1097280" cy="502920"/>
          </a:xfrm>
          <a:prstGeom prst="rect">
            <a:avLst/>
          </a:prstGeom>
          <a:noFill/>
          <a:ln/>
        </p:spPr>
        <p:txBody>
          <a:bodyPr wrap="square" lIns="0" tIns="0" rIns="0" bIns="0" rtlCol="0" anchor="ctr"/>
          <a:lstStyle/>
          <a:p>
            <a:pPr algn="ctr" indent="0" marL="0">
              <a:buNone/>
            </a:pPr>
            <a:r>
              <a:rPr lang="en-US" sz="1800" b="1" dirty="0">
                <a:solidFill>
                  <a:srgbClr val="14213D"/>
                </a:solidFill>
                <a:latin typeface="Calibri" pitchFamily="34" charset="0"/>
                <a:ea typeface="Calibri" pitchFamily="34" charset="-122"/>
                <a:cs typeface="Calibri" pitchFamily="34" charset="-120"/>
              </a:rPr>
              <a:t>89</a:t>
            </a:r>
            <a:endParaRPr lang="en-US" sz="1800" dirty="0"/>
          </a:p>
        </p:txBody>
      </p:sp>
      <p:sp>
        <p:nvSpPr>
          <p:cNvPr id="11" name="Text 8"/>
          <p:cNvSpPr txBox="1"/>
          <p:nvPr/>
        </p:nvSpPr>
        <p:spPr>
          <a:xfrm>
            <a:off x="5212080" y="4224528"/>
            <a:ext cx="1097280" cy="320040"/>
          </a:xfrm>
          <a:prstGeom prst="rect">
            <a:avLst/>
          </a:prstGeom>
          <a:noFill/>
          <a:ln/>
        </p:spPr>
        <p:txBody>
          <a:bodyPr wrap="square" lIns="0" tIns="0" rIns="0" bIns="0" rtlCol="0" anchor="ctr"/>
          <a:lstStyle/>
          <a:p>
            <a:pPr algn="ctr" indent="0" marL="0">
              <a:buNone/>
            </a:pPr>
            <a:r>
              <a:rPr lang="en-US" sz="950" dirty="0">
                <a:solidFill>
                  <a:srgbClr val="6B7280"/>
                </a:solidFill>
                <a:latin typeface="Calibri" pitchFamily="34" charset="0"/>
                <a:ea typeface="Calibri" pitchFamily="34" charset="-122"/>
                <a:cs typeface="Calibri" pitchFamily="34" charset="-120"/>
              </a:rPr>
              <a:t>chunks</a:t>
            </a:r>
            <a:endParaRPr lang="en-US" sz="950" dirty="0"/>
          </a:p>
        </p:txBody>
      </p:sp>
      <p:sp>
        <p:nvSpPr>
          <p:cNvPr id="12" name="Shape 9"/>
          <p:cNvSpPr/>
          <p:nvPr/>
        </p:nvSpPr>
        <p:spPr>
          <a:xfrm>
            <a:off x="6400800" y="3657600"/>
            <a:ext cx="1097280" cy="1005840"/>
          </a:xfrm>
          <a:prstGeom prst="roundRect">
            <a:avLst>
              <a:gd name="adj" fmla="val 9091"/>
            </a:avLst>
          </a:prstGeom>
          <a:solidFill>
            <a:srgbClr val="F4F5F7"/>
          </a:solidFill>
          <a:ln w="9525">
            <a:solidFill>
              <a:srgbClr val="E5E7EB"/>
            </a:solidFill>
            <a:prstDash val="solid"/>
          </a:ln>
        </p:spPr>
      </p:sp>
      <p:sp>
        <p:nvSpPr>
          <p:cNvPr id="13" name="Text 10"/>
          <p:cNvSpPr txBox="1"/>
          <p:nvPr/>
        </p:nvSpPr>
        <p:spPr>
          <a:xfrm>
            <a:off x="6400800" y="3730752"/>
            <a:ext cx="1097280" cy="502920"/>
          </a:xfrm>
          <a:prstGeom prst="rect">
            <a:avLst/>
          </a:prstGeom>
          <a:noFill/>
          <a:ln/>
        </p:spPr>
        <p:txBody>
          <a:bodyPr wrap="square" lIns="0" tIns="0" rIns="0" bIns="0" rtlCol="0" anchor="ctr"/>
          <a:lstStyle/>
          <a:p>
            <a:pPr algn="ctr" indent="0" marL="0">
              <a:buNone/>
            </a:pPr>
            <a:r>
              <a:rPr lang="en-US" sz="1800" b="1" dirty="0">
                <a:solidFill>
                  <a:srgbClr val="14213D"/>
                </a:solidFill>
                <a:latin typeface="Calibri" pitchFamily="34" charset="0"/>
                <a:ea typeface="Calibri" pitchFamily="34" charset="-122"/>
                <a:cs typeface="Calibri" pitchFamily="34" charset="-120"/>
              </a:rPr>
              <a:t>800 / 150</a:t>
            </a:r>
            <a:endParaRPr lang="en-US" sz="1800" dirty="0"/>
          </a:p>
        </p:txBody>
      </p:sp>
      <p:sp>
        <p:nvSpPr>
          <p:cNvPr id="14" name="Text 11"/>
          <p:cNvSpPr txBox="1"/>
          <p:nvPr/>
        </p:nvSpPr>
        <p:spPr>
          <a:xfrm>
            <a:off x="6400800" y="4224528"/>
            <a:ext cx="1097280" cy="320040"/>
          </a:xfrm>
          <a:prstGeom prst="rect">
            <a:avLst/>
          </a:prstGeom>
          <a:noFill/>
          <a:ln/>
        </p:spPr>
        <p:txBody>
          <a:bodyPr wrap="square" lIns="0" tIns="0" rIns="0" bIns="0" rtlCol="0" anchor="ctr"/>
          <a:lstStyle/>
          <a:p>
            <a:pPr algn="ctr" indent="0" marL="0">
              <a:buNone/>
            </a:pPr>
            <a:r>
              <a:rPr lang="en-US" sz="950" dirty="0">
                <a:solidFill>
                  <a:srgbClr val="6B7280"/>
                </a:solidFill>
                <a:latin typeface="Calibri" pitchFamily="34" charset="0"/>
                <a:ea typeface="Calibri" pitchFamily="34" charset="-122"/>
                <a:cs typeface="Calibri" pitchFamily="34" charset="-120"/>
              </a:rPr>
              <a:t>size / overlap</a:t>
            </a:r>
            <a:endParaRPr lang="en-US" sz="950" dirty="0"/>
          </a:p>
        </p:txBody>
      </p:sp>
      <p:sp>
        <p:nvSpPr>
          <p:cNvPr id="15" name="Shape 12"/>
          <p:cNvSpPr/>
          <p:nvPr/>
        </p:nvSpPr>
        <p:spPr>
          <a:xfrm>
            <a:off x="7589520" y="3657600"/>
            <a:ext cx="1097280" cy="1005840"/>
          </a:xfrm>
          <a:prstGeom prst="roundRect">
            <a:avLst>
              <a:gd name="adj" fmla="val 9091"/>
            </a:avLst>
          </a:prstGeom>
          <a:solidFill>
            <a:srgbClr val="F4F5F7"/>
          </a:solidFill>
          <a:ln w="9525">
            <a:solidFill>
              <a:srgbClr val="E5E7EB"/>
            </a:solidFill>
            <a:prstDash val="solid"/>
          </a:ln>
        </p:spPr>
      </p:sp>
      <p:sp>
        <p:nvSpPr>
          <p:cNvPr id="16" name="Text 13"/>
          <p:cNvSpPr txBox="1"/>
          <p:nvPr/>
        </p:nvSpPr>
        <p:spPr>
          <a:xfrm>
            <a:off x="7589520" y="3730752"/>
            <a:ext cx="1097280" cy="502920"/>
          </a:xfrm>
          <a:prstGeom prst="rect">
            <a:avLst/>
          </a:prstGeom>
          <a:noFill/>
          <a:ln/>
        </p:spPr>
        <p:txBody>
          <a:bodyPr wrap="square" lIns="0" tIns="0" rIns="0" bIns="0" rtlCol="0" anchor="ctr"/>
          <a:lstStyle/>
          <a:p>
            <a:pPr algn="ctr" indent="0" marL="0">
              <a:buNone/>
            </a:pPr>
            <a:r>
              <a:rPr lang="en-US" sz="1800" b="1" dirty="0">
                <a:solidFill>
                  <a:srgbClr val="14213D"/>
                </a:solidFill>
                <a:latin typeface="Calibri" pitchFamily="34" charset="0"/>
                <a:ea typeface="Calibri" pitchFamily="34" charset="-122"/>
                <a:cs typeface="Calibri" pitchFamily="34" charset="-120"/>
              </a:rPr>
              <a:t>384-d</a:t>
            </a:r>
            <a:endParaRPr lang="en-US" sz="1800" dirty="0"/>
          </a:p>
        </p:txBody>
      </p:sp>
      <p:sp>
        <p:nvSpPr>
          <p:cNvPr id="17" name="Text 14"/>
          <p:cNvSpPr txBox="1"/>
          <p:nvPr/>
        </p:nvSpPr>
        <p:spPr>
          <a:xfrm>
            <a:off x="7589520" y="4224528"/>
            <a:ext cx="1097280" cy="320040"/>
          </a:xfrm>
          <a:prstGeom prst="rect">
            <a:avLst/>
          </a:prstGeom>
          <a:noFill/>
          <a:ln/>
        </p:spPr>
        <p:txBody>
          <a:bodyPr wrap="square" lIns="0" tIns="0" rIns="0" bIns="0" rtlCol="0" anchor="ctr"/>
          <a:lstStyle/>
          <a:p>
            <a:pPr algn="ctr" indent="0" marL="0">
              <a:buNone/>
            </a:pPr>
            <a:r>
              <a:rPr lang="en-US" sz="950" dirty="0">
                <a:solidFill>
                  <a:srgbClr val="6B7280"/>
                </a:solidFill>
                <a:latin typeface="Calibri" pitchFamily="34" charset="0"/>
                <a:ea typeface="Calibri" pitchFamily="34" charset="-122"/>
                <a:cs typeface="Calibri" pitchFamily="34" charset="-120"/>
              </a:rPr>
              <a:t>vectors</a:t>
            </a:r>
            <a:endParaRPr lang="en-US" sz="950" dirty="0"/>
          </a:p>
        </p:txBody>
      </p:sp>
      <p:sp>
        <p:nvSpPr>
          <p:cNvPr id="18" name="Text 15"/>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Multi-Document RAG  ·  10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INGESTION · STEP 3</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Embeddings and cosine similarity</a:t>
            </a:r>
            <a:endParaRPr lang="en-US" sz="2800" dirty="0"/>
          </a:p>
        </p:txBody>
      </p:sp>
      <p:sp>
        <p:nvSpPr>
          <p:cNvPr id="4" name="Text 2"/>
          <p:cNvSpPr txBox="1"/>
          <p:nvPr/>
        </p:nvSpPr>
        <p:spPr>
          <a:xfrm>
            <a:off x="457200" y="1280160"/>
            <a:ext cx="4754880" cy="274320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An embedding maps text to a point in a 384-dimensional space where meaning ≈ distance: "annual leave" and "vacation days" land close together.</a:t>
            </a:r>
            <a:endParaRPr lang="en-US" sz="1250" dirty="0"/>
          </a:p>
          <a:p>
            <a:pPr marL="152400" indent="-1524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Model: sentence-transformers/all-MiniLM-L6-v2 — runs on CPU, ~20 ms per chunk, no API key. Four models selectable with --embedding-model.</a:t>
            </a:r>
            <a:endParaRPr lang="en-US" sz="1250" dirty="0"/>
          </a:p>
          <a:p>
            <a:pPr marL="152400" indent="-1524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SAME model embeds documents at ingest time and questions at query time — mixing models would compare apples with oranges (the store refuses it).</a:t>
            </a:r>
            <a:endParaRPr lang="en-US" sz="1250" dirty="0"/>
          </a:p>
          <a:p>
            <a:pPr marL="152400" indent="-1524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Vectors are L2-normalised, so cosine similarity collapses to a dot product:</a:t>
            </a:r>
            <a:endParaRPr lang="en-US" sz="1250" dirty="0"/>
          </a:p>
        </p:txBody>
      </p:sp>
      <p:sp>
        <p:nvSpPr>
          <p:cNvPr id="5" name="Shape 3"/>
          <p:cNvSpPr/>
          <p:nvPr/>
        </p:nvSpPr>
        <p:spPr>
          <a:xfrm>
            <a:off x="457200" y="3977640"/>
            <a:ext cx="4754880" cy="640080"/>
          </a:xfrm>
          <a:prstGeom prst="roundRect">
            <a:avLst>
              <a:gd name="adj" fmla="val 11429"/>
            </a:avLst>
          </a:prstGeom>
          <a:solidFill>
            <a:srgbClr val="FFF4E0"/>
          </a:solidFill>
          <a:ln w="12700">
            <a:solidFill>
              <a:srgbClr val="FFF4E0"/>
            </a:solidFill>
            <a:prstDash val="solid"/>
          </a:ln>
        </p:spPr>
      </p:sp>
      <p:sp>
        <p:nvSpPr>
          <p:cNvPr id="6" name="Text 4"/>
          <p:cNvSpPr txBox="1"/>
          <p:nvPr/>
        </p:nvSpPr>
        <p:spPr>
          <a:xfrm>
            <a:off x="548640" y="3977640"/>
            <a:ext cx="4572000" cy="640080"/>
          </a:xfrm>
          <a:prstGeom prst="rect">
            <a:avLst/>
          </a:prstGeom>
          <a:noFill/>
          <a:ln/>
        </p:spPr>
        <p:txBody>
          <a:bodyPr wrap="square" lIns="0" tIns="0" rIns="0" bIns="0" rtlCol="0" anchor="ctr"/>
          <a:lstStyle/>
          <a:p>
            <a:pPr algn="ctr" indent="0" marL="0">
              <a:buNone/>
            </a:pPr>
            <a:r>
              <a:rPr lang="en-US" sz="1350" b="1" dirty="0">
                <a:solidFill>
                  <a:srgbClr val="14213D"/>
                </a:solidFill>
                <a:latin typeface="Cambria" pitchFamily="34" charset="0"/>
                <a:ea typeface="Cambria" pitchFamily="34" charset="-122"/>
                <a:cs typeface="Cambria" pitchFamily="34" charset="-120"/>
              </a:rPr>
              <a:t>cos(q, d) = q · d / (‖q‖ ‖d‖)  =  q · d  for unit vectors</a:t>
            </a:r>
            <a:endParaRPr lang="en-US" sz="1350" dirty="0"/>
          </a:p>
        </p:txBody>
      </p:sp>
      <p:sp>
        <p:nvSpPr>
          <p:cNvPr id="7" name="Shape 5"/>
          <p:cNvSpPr/>
          <p:nvPr/>
        </p:nvSpPr>
        <p:spPr>
          <a:xfrm>
            <a:off x="5486400" y="1280160"/>
            <a:ext cx="3200400" cy="3337560"/>
          </a:xfrm>
          <a:prstGeom prst="roundRect">
            <a:avLst>
              <a:gd name="adj" fmla="val 2857"/>
            </a:avLst>
          </a:prstGeom>
          <a:solidFill>
            <a:srgbClr val="F4F5F7"/>
          </a:solidFill>
          <a:ln w="9525">
            <a:solidFill>
              <a:srgbClr val="E5E7EB"/>
            </a:solidFill>
            <a:prstDash val="solid"/>
          </a:ln>
        </p:spPr>
      </p:sp>
      <p:sp>
        <p:nvSpPr>
          <p:cNvPr id="8" name="Text 6"/>
          <p:cNvSpPr txBox="1"/>
          <p:nvPr/>
        </p:nvSpPr>
        <p:spPr>
          <a:xfrm>
            <a:off x="5669280" y="1389888"/>
            <a:ext cx="2834640" cy="274320"/>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Semantic space (2-D sketch)</a:t>
            </a:r>
            <a:endParaRPr lang="en-US" sz="1100" dirty="0"/>
          </a:p>
        </p:txBody>
      </p:sp>
      <p:sp>
        <p:nvSpPr>
          <p:cNvPr id="9" name="Shape 7"/>
          <p:cNvSpPr/>
          <p:nvPr/>
        </p:nvSpPr>
        <p:spPr>
          <a:xfrm>
            <a:off x="6126480" y="2468880"/>
            <a:ext cx="146304" cy="146304"/>
          </a:xfrm>
          <a:prstGeom prst="ellipse">
            <a:avLst/>
          </a:prstGeom>
          <a:solidFill>
            <a:srgbClr val="14213D"/>
          </a:solidFill>
          <a:ln w="12700">
            <a:solidFill>
              <a:srgbClr val="14213D"/>
            </a:solidFill>
            <a:prstDash val="solid"/>
          </a:ln>
        </p:spPr>
      </p:sp>
      <p:sp>
        <p:nvSpPr>
          <p:cNvPr id="10" name="Text 8"/>
          <p:cNvSpPr txBox="1"/>
          <p:nvPr/>
        </p:nvSpPr>
        <p:spPr>
          <a:xfrm>
            <a:off x="6309360" y="2423160"/>
            <a:ext cx="1463040" cy="237744"/>
          </a:xfrm>
          <a:prstGeom prst="rect">
            <a:avLst/>
          </a:prstGeom>
          <a:noFill/>
          <a:ln/>
        </p:spPr>
        <p:txBody>
          <a:bodyPr wrap="square" lIns="0" tIns="0" rIns="0" bIns="0" rtlCol="0" anchor="ctr"/>
          <a:lstStyle/>
          <a:p>
            <a:pPr indent="0" marL="0">
              <a:buNone/>
            </a:pPr>
            <a:r>
              <a:rPr lang="en-US" sz="900" dirty="0">
                <a:solidFill>
                  <a:srgbClr val="14213D"/>
                </a:solidFill>
                <a:latin typeface="Calibri" pitchFamily="34" charset="0"/>
                <a:ea typeface="Calibri" pitchFamily="34" charset="-122"/>
                <a:cs typeface="Calibri" pitchFamily="34" charset="-120"/>
              </a:rPr>
              <a:t>annual leave: 20 days</a:t>
            </a:r>
            <a:endParaRPr lang="en-US" sz="900" dirty="0"/>
          </a:p>
        </p:txBody>
      </p:sp>
      <p:sp>
        <p:nvSpPr>
          <p:cNvPr id="11" name="Shape 9"/>
          <p:cNvSpPr/>
          <p:nvPr/>
        </p:nvSpPr>
        <p:spPr>
          <a:xfrm>
            <a:off x="6675120" y="2743200"/>
            <a:ext cx="146304" cy="146304"/>
          </a:xfrm>
          <a:prstGeom prst="ellipse">
            <a:avLst/>
          </a:prstGeom>
          <a:solidFill>
            <a:srgbClr val="14213D"/>
          </a:solidFill>
          <a:ln w="12700">
            <a:solidFill>
              <a:srgbClr val="14213D"/>
            </a:solidFill>
            <a:prstDash val="solid"/>
          </a:ln>
        </p:spPr>
      </p:sp>
      <p:sp>
        <p:nvSpPr>
          <p:cNvPr id="12" name="Text 10"/>
          <p:cNvSpPr txBox="1"/>
          <p:nvPr/>
        </p:nvSpPr>
        <p:spPr>
          <a:xfrm>
            <a:off x="6858000" y="2697480"/>
            <a:ext cx="1463040" cy="237744"/>
          </a:xfrm>
          <a:prstGeom prst="rect">
            <a:avLst/>
          </a:prstGeom>
          <a:noFill/>
          <a:ln/>
        </p:spPr>
        <p:txBody>
          <a:bodyPr wrap="square" lIns="0" tIns="0" rIns="0" bIns="0" rtlCol="0" anchor="ctr"/>
          <a:lstStyle/>
          <a:p>
            <a:pPr indent="0" marL="0">
              <a:buNone/>
            </a:pPr>
            <a:r>
              <a:rPr lang="en-US" sz="900" dirty="0">
                <a:solidFill>
                  <a:srgbClr val="14213D"/>
                </a:solidFill>
                <a:latin typeface="Calibri" pitchFamily="34" charset="0"/>
                <a:ea typeface="Calibri" pitchFamily="34" charset="-122"/>
                <a:cs typeface="Calibri" pitchFamily="34" charset="-120"/>
              </a:rPr>
              <a:t>carry-over: 5 days</a:t>
            </a:r>
            <a:endParaRPr lang="en-US" sz="900" dirty="0"/>
          </a:p>
        </p:txBody>
      </p:sp>
      <p:sp>
        <p:nvSpPr>
          <p:cNvPr id="13" name="Shape 11"/>
          <p:cNvSpPr/>
          <p:nvPr/>
        </p:nvSpPr>
        <p:spPr>
          <a:xfrm>
            <a:off x="5989320" y="3017520"/>
            <a:ext cx="146304" cy="146304"/>
          </a:xfrm>
          <a:prstGeom prst="ellipse">
            <a:avLst/>
          </a:prstGeom>
          <a:solidFill>
            <a:srgbClr val="14213D"/>
          </a:solidFill>
          <a:ln w="12700">
            <a:solidFill>
              <a:srgbClr val="14213D"/>
            </a:solidFill>
            <a:prstDash val="solid"/>
          </a:ln>
        </p:spPr>
      </p:sp>
      <p:sp>
        <p:nvSpPr>
          <p:cNvPr id="14" name="Text 12"/>
          <p:cNvSpPr txBox="1"/>
          <p:nvPr/>
        </p:nvSpPr>
        <p:spPr>
          <a:xfrm>
            <a:off x="6172200" y="2971800"/>
            <a:ext cx="1463040" cy="237744"/>
          </a:xfrm>
          <a:prstGeom prst="rect">
            <a:avLst/>
          </a:prstGeom>
          <a:noFill/>
          <a:ln/>
        </p:spPr>
        <p:txBody>
          <a:bodyPr wrap="square" lIns="0" tIns="0" rIns="0" bIns="0" rtlCol="0" anchor="ctr"/>
          <a:lstStyle/>
          <a:p>
            <a:pPr indent="0" marL="0">
              <a:buNone/>
            </a:pPr>
            <a:r>
              <a:rPr lang="en-US" sz="900" dirty="0">
                <a:solidFill>
                  <a:srgbClr val="14213D"/>
                </a:solidFill>
                <a:latin typeface="Calibri" pitchFamily="34" charset="0"/>
                <a:ea typeface="Calibri" pitchFamily="34" charset="-122"/>
                <a:cs typeface="Calibri" pitchFamily="34" charset="-120"/>
              </a:rPr>
              <a:t>leave request</a:t>
            </a:r>
            <a:endParaRPr lang="en-US" sz="900" dirty="0"/>
          </a:p>
        </p:txBody>
      </p:sp>
      <p:sp>
        <p:nvSpPr>
          <p:cNvPr id="15" name="Shape 13"/>
          <p:cNvSpPr/>
          <p:nvPr/>
        </p:nvSpPr>
        <p:spPr>
          <a:xfrm>
            <a:off x="5760720" y="3931920"/>
            <a:ext cx="146304" cy="146304"/>
          </a:xfrm>
          <a:prstGeom prst="ellipse">
            <a:avLst/>
          </a:prstGeom>
          <a:solidFill>
            <a:srgbClr val="6B7280"/>
          </a:solidFill>
          <a:ln w="12700">
            <a:solidFill>
              <a:srgbClr val="6B7280"/>
            </a:solidFill>
            <a:prstDash val="solid"/>
          </a:ln>
        </p:spPr>
      </p:sp>
      <p:sp>
        <p:nvSpPr>
          <p:cNvPr id="16" name="Text 14"/>
          <p:cNvSpPr txBox="1"/>
          <p:nvPr/>
        </p:nvSpPr>
        <p:spPr>
          <a:xfrm>
            <a:off x="5943600" y="3886200"/>
            <a:ext cx="1463040" cy="237744"/>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expense claims</a:t>
            </a:r>
            <a:endParaRPr lang="en-US" sz="900" dirty="0"/>
          </a:p>
        </p:txBody>
      </p:sp>
      <p:sp>
        <p:nvSpPr>
          <p:cNvPr id="17" name="Shape 15"/>
          <p:cNvSpPr/>
          <p:nvPr/>
        </p:nvSpPr>
        <p:spPr>
          <a:xfrm>
            <a:off x="6583680" y="4160520"/>
            <a:ext cx="146304" cy="146304"/>
          </a:xfrm>
          <a:prstGeom prst="ellipse">
            <a:avLst/>
          </a:prstGeom>
          <a:solidFill>
            <a:srgbClr val="6B7280"/>
          </a:solidFill>
          <a:ln w="12700">
            <a:solidFill>
              <a:srgbClr val="6B7280"/>
            </a:solidFill>
            <a:prstDash val="solid"/>
          </a:ln>
        </p:spPr>
      </p:sp>
      <p:sp>
        <p:nvSpPr>
          <p:cNvPr id="18" name="Text 16"/>
          <p:cNvSpPr txBox="1"/>
          <p:nvPr/>
        </p:nvSpPr>
        <p:spPr>
          <a:xfrm>
            <a:off x="6766560" y="4114800"/>
            <a:ext cx="1463040" cy="237744"/>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salary date</a:t>
            </a:r>
            <a:endParaRPr lang="en-US" sz="900" dirty="0"/>
          </a:p>
        </p:txBody>
      </p:sp>
      <p:sp>
        <p:nvSpPr>
          <p:cNvPr id="19" name="Shape 17"/>
          <p:cNvSpPr/>
          <p:nvPr/>
        </p:nvSpPr>
        <p:spPr>
          <a:xfrm>
            <a:off x="7315200" y="3749040"/>
            <a:ext cx="146304" cy="146304"/>
          </a:xfrm>
          <a:prstGeom prst="ellipse">
            <a:avLst/>
          </a:prstGeom>
          <a:solidFill>
            <a:srgbClr val="6B7280"/>
          </a:solidFill>
          <a:ln w="12700">
            <a:solidFill>
              <a:srgbClr val="6B7280"/>
            </a:solidFill>
            <a:prstDash val="solid"/>
          </a:ln>
        </p:spPr>
      </p:sp>
      <p:sp>
        <p:nvSpPr>
          <p:cNvPr id="20" name="Text 18"/>
          <p:cNvSpPr txBox="1"/>
          <p:nvPr/>
        </p:nvSpPr>
        <p:spPr>
          <a:xfrm>
            <a:off x="7498080" y="3703320"/>
            <a:ext cx="1463040" cy="237744"/>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office locations</a:t>
            </a:r>
            <a:endParaRPr lang="en-US" sz="900" dirty="0"/>
          </a:p>
        </p:txBody>
      </p:sp>
      <p:sp>
        <p:nvSpPr>
          <p:cNvPr id="21" name="Shape 19"/>
          <p:cNvSpPr/>
          <p:nvPr/>
        </p:nvSpPr>
        <p:spPr>
          <a:xfrm>
            <a:off x="6400800" y="2121408"/>
            <a:ext cx="201168" cy="201168"/>
          </a:xfrm>
          <a:prstGeom prst="ellipse">
            <a:avLst/>
          </a:prstGeom>
          <a:solidFill>
            <a:srgbClr val="FCA311"/>
          </a:solidFill>
          <a:ln w="12700">
            <a:solidFill>
              <a:srgbClr val="14213D"/>
            </a:solidFill>
            <a:prstDash val="solid"/>
          </a:ln>
        </p:spPr>
      </p:sp>
      <p:sp>
        <p:nvSpPr>
          <p:cNvPr id="22" name="Text 20"/>
          <p:cNvSpPr txBox="1"/>
          <p:nvPr/>
        </p:nvSpPr>
        <p:spPr>
          <a:xfrm>
            <a:off x="5669280" y="1828800"/>
            <a:ext cx="2834640" cy="237744"/>
          </a:xfrm>
          <a:prstGeom prst="rect">
            <a:avLst/>
          </a:prstGeom>
          <a:noFill/>
          <a:ln/>
        </p:spPr>
        <p:txBody>
          <a:bodyPr wrap="square" lIns="0" tIns="0" rIns="0" bIns="0" rtlCol="0" anchor="ctr"/>
          <a:lstStyle/>
          <a:p>
            <a:pPr indent="0" marL="0">
              <a:buNone/>
            </a:pPr>
            <a:r>
              <a:rPr lang="en-US" sz="900" b="1" dirty="0">
                <a:solidFill>
                  <a:srgbClr val="FCA311"/>
                </a:solidFill>
                <a:latin typeface="Calibri" pitchFamily="34" charset="0"/>
                <a:ea typeface="Calibri" pitchFamily="34" charset="-122"/>
                <a:cs typeface="Calibri" pitchFamily="34" charset="-120"/>
              </a:rPr>
              <a:t>question: "how many vacation days?"</a:t>
            </a:r>
            <a:endParaRPr lang="en-US" sz="900" dirty="0"/>
          </a:p>
        </p:txBody>
      </p:sp>
      <p:sp>
        <p:nvSpPr>
          <p:cNvPr id="23" name="Text 21"/>
          <p:cNvSpPr txBox="1"/>
          <p:nvPr/>
        </p:nvSpPr>
        <p:spPr>
          <a:xfrm>
            <a:off x="5669280" y="3383280"/>
            <a:ext cx="1463040" cy="237744"/>
          </a:xfrm>
          <a:prstGeom prst="rect">
            <a:avLst/>
          </a:prstGeom>
          <a:noFill/>
          <a:ln/>
        </p:spPr>
        <p:txBody>
          <a:bodyPr wrap="square" lIns="0" tIns="0" rIns="0" bIns="0" rtlCol="0" anchor="ctr"/>
          <a:lstStyle/>
          <a:p>
            <a:pPr indent="0" marL="0">
              <a:buNone/>
            </a:pPr>
            <a:r>
              <a:rPr lang="en-US" sz="950" i="1" dirty="0">
                <a:solidFill>
                  <a:srgbClr val="14213D"/>
                </a:solidFill>
                <a:latin typeface="Calibri" pitchFamily="34" charset="0"/>
                <a:ea typeface="Calibri" pitchFamily="34" charset="-122"/>
                <a:cs typeface="Calibri" pitchFamily="34" charset="-120"/>
              </a:rPr>
              <a:t>near = relevant</a:t>
            </a:r>
            <a:endParaRPr lang="en-US" sz="950" dirty="0"/>
          </a:p>
        </p:txBody>
      </p:sp>
      <p:sp>
        <p:nvSpPr>
          <p:cNvPr id="24" name="Text 22"/>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Multi-Document RAG  ·  11</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INGESTION · STEP 4</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Vector database: ChromaDB behind an interface</a:t>
            </a:r>
            <a:endParaRPr lang="en-US" sz="2800" dirty="0"/>
          </a:p>
        </p:txBody>
      </p:sp>
      <p:sp>
        <p:nvSpPr>
          <p:cNvPr id="4" name="Shape 2"/>
          <p:cNvSpPr/>
          <p:nvPr/>
        </p:nvSpPr>
        <p:spPr>
          <a:xfrm>
            <a:off x="457200" y="1280160"/>
            <a:ext cx="2651760" cy="1554480"/>
          </a:xfrm>
          <a:prstGeom prst="roundRect">
            <a:avLst>
              <a:gd name="adj" fmla="val 5882"/>
            </a:avLst>
          </a:prstGeom>
          <a:solidFill>
            <a:srgbClr val="F4F5F7"/>
          </a:solidFill>
          <a:ln w="9525">
            <a:solidFill>
              <a:srgbClr val="E5E7EB"/>
            </a:solidFill>
            <a:prstDash val="solid"/>
          </a:ln>
        </p:spPr>
      </p:sp>
      <p:sp>
        <p:nvSpPr>
          <p:cNvPr id="5" name="Shape 3"/>
          <p:cNvSpPr/>
          <p:nvPr/>
        </p:nvSpPr>
        <p:spPr>
          <a:xfrm>
            <a:off x="621792" y="1444752"/>
            <a:ext cx="457200" cy="457200"/>
          </a:xfrm>
          <a:prstGeom prst="ellipse">
            <a:avLst/>
          </a:prstGeom>
          <a:solidFill>
            <a:srgbClr val="FCA311"/>
          </a:solidFill>
          <a:ln w="12700">
            <a:solidFill>
              <a:srgbClr val="FCA311"/>
            </a:solidFill>
            <a:prstDash val="solid"/>
          </a:ln>
        </p:spPr>
      </p:sp>
      <p:pic>
        <p:nvPicPr>
          <p:cNvPr id="6" name="Image 0" descr="preencoded.png">    </p:cNvPr>
          <p:cNvPicPr>
            <a:picLocks noChangeAspect="1"/>
          </p:cNvPicPr>
          <p:nvPr/>
        </p:nvPicPr>
        <p:blipFill>
          <a:blip r:embed="rId1"/>
          <a:stretch>
            <a:fillRect/>
          </a:stretch>
        </p:blipFill>
        <p:spPr>
          <a:xfrm>
            <a:off x="731520" y="1554480"/>
            <a:ext cx="237744" cy="237744"/>
          </a:xfrm>
          <a:prstGeom prst="rect">
            <a:avLst/>
          </a:prstGeom>
        </p:spPr>
      </p:pic>
      <p:sp>
        <p:nvSpPr>
          <p:cNvPr id="7" name="Text 4"/>
          <p:cNvSpPr txBox="1"/>
          <p:nvPr/>
        </p:nvSpPr>
        <p:spPr>
          <a:xfrm>
            <a:off x="1188720" y="1426464"/>
            <a:ext cx="1783080" cy="45720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Embedded &amp; persistent</a:t>
            </a:r>
            <a:endParaRPr lang="en-US" sz="1400" dirty="0"/>
          </a:p>
        </p:txBody>
      </p:sp>
      <p:sp>
        <p:nvSpPr>
          <p:cNvPr id="8" name="Text 5"/>
          <p:cNvSpPr txBox="1"/>
          <p:nvPr/>
        </p:nvSpPr>
        <p:spPr>
          <a:xfrm>
            <a:off x="621792" y="1993392"/>
            <a:ext cx="2322576" cy="73152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Runs in-process, saves to ./chroma_db — no server, no Docker.</a:t>
            </a:r>
            <a:endParaRPr lang="en-US" sz="1100" dirty="0"/>
          </a:p>
        </p:txBody>
      </p:sp>
      <p:sp>
        <p:nvSpPr>
          <p:cNvPr id="9" name="Shape 6"/>
          <p:cNvSpPr/>
          <p:nvPr/>
        </p:nvSpPr>
        <p:spPr>
          <a:xfrm>
            <a:off x="3246120" y="1280160"/>
            <a:ext cx="2651760" cy="1554480"/>
          </a:xfrm>
          <a:prstGeom prst="roundRect">
            <a:avLst>
              <a:gd name="adj" fmla="val 5882"/>
            </a:avLst>
          </a:prstGeom>
          <a:solidFill>
            <a:srgbClr val="F4F5F7"/>
          </a:solidFill>
          <a:ln w="9525">
            <a:solidFill>
              <a:srgbClr val="E5E7EB"/>
            </a:solidFill>
            <a:prstDash val="solid"/>
          </a:ln>
        </p:spPr>
      </p:sp>
      <p:sp>
        <p:nvSpPr>
          <p:cNvPr id="10" name="Shape 7"/>
          <p:cNvSpPr/>
          <p:nvPr/>
        </p:nvSpPr>
        <p:spPr>
          <a:xfrm>
            <a:off x="3410712" y="1444752"/>
            <a:ext cx="457200" cy="457200"/>
          </a:xfrm>
          <a:prstGeom prst="ellipse">
            <a:avLst/>
          </a:prstGeom>
          <a:solidFill>
            <a:srgbClr val="FCA311"/>
          </a:solidFill>
          <a:ln w="12700">
            <a:solidFill>
              <a:srgbClr val="FCA311"/>
            </a:solidFill>
            <a:prstDash val="solid"/>
          </a:ln>
        </p:spPr>
      </p:sp>
      <p:pic>
        <p:nvPicPr>
          <p:cNvPr id="11" name="Image 1" descr="preencoded.png">    </p:cNvPr>
          <p:cNvPicPr>
            <a:picLocks noChangeAspect="1"/>
          </p:cNvPicPr>
          <p:nvPr/>
        </p:nvPicPr>
        <p:blipFill>
          <a:blip r:embed="rId2"/>
          <a:stretch>
            <a:fillRect/>
          </a:stretch>
        </p:blipFill>
        <p:spPr>
          <a:xfrm>
            <a:off x="3520440" y="1554480"/>
            <a:ext cx="237744" cy="237744"/>
          </a:xfrm>
          <a:prstGeom prst="rect">
            <a:avLst/>
          </a:prstGeom>
        </p:spPr>
      </p:pic>
      <p:sp>
        <p:nvSpPr>
          <p:cNvPr id="12" name="Text 8"/>
          <p:cNvSpPr txBox="1"/>
          <p:nvPr/>
        </p:nvSpPr>
        <p:spPr>
          <a:xfrm>
            <a:off x="3977640" y="1426464"/>
            <a:ext cx="1783080" cy="45720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HNSW index (cosine)</a:t>
            </a:r>
            <a:endParaRPr lang="en-US" sz="1400" dirty="0"/>
          </a:p>
        </p:txBody>
      </p:sp>
      <p:sp>
        <p:nvSpPr>
          <p:cNvPr id="13" name="Text 9"/>
          <p:cNvSpPr txBox="1"/>
          <p:nvPr/>
        </p:nvSpPr>
        <p:spPr>
          <a:xfrm>
            <a:off x="3410712" y="1993392"/>
            <a:ext cx="2322576" cy="73152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Approximate nearest-neighbour graph: top-k in milliseconds; score = 1 − distance.</a:t>
            </a:r>
            <a:endParaRPr lang="en-US" sz="1100" dirty="0"/>
          </a:p>
        </p:txBody>
      </p:sp>
      <p:sp>
        <p:nvSpPr>
          <p:cNvPr id="14" name="Shape 10"/>
          <p:cNvSpPr/>
          <p:nvPr/>
        </p:nvSpPr>
        <p:spPr>
          <a:xfrm>
            <a:off x="6035040" y="1280160"/>
            <a:ext cx="2651760" cy="1554480"/>
          </a:xfrm>
          <a:prstGeom prst="roundRect">
            <a:avLst>
              <a:gd name="adj" fmla="val 5882"/>
            </a:avLst>
          </a:prstGeom>
          <a:solidFill>
            <a:srgbClr val="F4F5F7"/>
          </a:solidFill>
          <a:ln w="9525">
            <a:solidFill>
              <a:srgbClr val="E5E7EB"/>
            </a:solidFill>
            <a:prstDash val="solid"/>
          </a:ln>
        </p:spPr>
      </p:sp>
      <p:sp>
        <p:nvSpPr>
          <p:cNvPr id="15" name="Shape 11"/>
          <p:cNvSpPr/>
          <p:nvPr/>
        </p:nvSpPr>
        <p:spPr>
          <a:xfrm>
            <a:off x="6199632" y="1444752"/>
            <a:ext cx="457200" cy="457200"/>
          </a:xfrm>
          <a:prstGeom prst="ellipse">
            <a:avLst/>
          </a:prstGeom>
          <a:solidFill>
            <a:srgbClr val="FCA311"/>
          </a:solidFill>
          <a:ln w="12700">
            <a:solidFill>
              <a:srgbClr val="FCA311"/>
            </a:solidFill>
            <a:prstDash val="solid"/>
          </a:ln>
        </p:spPr>
      </p:sp>
      <p:pic>
        <p:nvPicPr>
          <p:cNvPr id="16" name="Image 2" descr="preencoded.png">    </p:cNvPr>
          <p:cNvPicPr>
            <a:picLocks noChangeAspect="1"/>
          </p:cNvPicPr>
          <p:nvPr/>
        </p:nvPicPr>
        <p:blipFill>
          <a:blip r:embed="rId3"/>
          <a:stretch>
            <a:fillRect/>
          </a:stretch>
        </p:blipFill>
        <p:spPr>
          <a:xfrm>
            <a:off x="6309360" y="1554480"/>
            <a:ext cx="237744" cy="237744"/>
          </a:xfrm>
          <a:prstGeom prst="rect">
            <a:avLst/>
          </a:prstGeom>
        </p:spPr>
      </p:pic>
      <p:sp>
        <p:nvSpPr>
          <p:cNvPr id="17" name="Text 12"/>
          <p:cNvSpPr txBox="1"/>
          <p:nvPr/>
        </p:nvSpPr>
        <p:spPr>
          <a:xfrm>
            <a:off x="6766560" y="1426464"/>
            <a:ext cx="1783080" cy="45720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Metadata &amp; filters</a:t>
            </a:r>
            <a:endParaRPr lang="en-US" sz="1400" dirty="0"/>
          </a:p>
        </p:txBody>
      </p:sp>
      <p:sp>
        <p:nvSpPr>
          <p:cNvPr id="18" name="Text 13"/>
          <p:cNvSpPr txBox="1"/>
          <p:nvPr/>
        </p:nvSpPr>
        <p:spPr>
          <a:xfrm>
            <a:off x="6199632" y="1993392"/>
            <a:ext cx="2322576" cy="73152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Source, page, section stored per chunk; where={"source": …} filters searches.</a:t>
            </a:r>
            <a:endParaRPr lang="en-US" sz="1100" dirty="0"/>
          </a:p>
        </p:txBody>
      </p:sp>
      <p:sp>
        <p:nvSpPr>
          <p:cNvPr id="19" name="Shape 14"/>
          <p:cNvSpPr/>
          <p:nvPr/>
        </p:nvSpPr>
        <p:spPr>
          <a:xfrm>
            <a:off x="457200" y="2971800"/>
            <a:ext cx="2651760" cy="1554480"/>
          </a:xfrm>
          <a:prstGeom prst="roundRect">
            <a:avLst>
              <a:gd name="adj" fmla="val 5882"/>
            </a:avLst>
          </a:prstGeom>
          <a:solidFill>
            <a:srgbClr val="F4F5F7"/>
          </a:solidFill>
          <a:ln w="9525">
            <a:solidFill>
              <a:srgbClr val="E5E7EB"/>
            </a:solidFill>
            <a:prstDash val="solid"/>
          </a:ln>
        </p:spPr>
      </p:sp>
      <p:sp>
        <p:nvSpPr>
          <p:cNvPr id="20" name="Shape 15"/>
          <p:cNvSpPr/>
          <p:nvPr/>
        </p:nvSpPr>
        <p:spPr>
          <a:xfrm>
            <a:off x="621792" y="3136392"/>
            <a:ext cx="457200" cy="457200"/>
          </a:xfrm>
          <a:prstGeom prst="ellipse">
            <a:avLst/>
          </a:prstGeom>
          <a:solidFill>
            <a:srgbClr val="FCA311"/>
          </a:solidFill>
          <a:ln w="12700">
            <a:solidFill>
              <a:srgbClr val="FCA311"/>
            </a:solidFill>
            <a:prstDash val="solid"/>
          </a:ln>
        </p:spPr>
      </p:sp>
      <p:pic>
        <p:nvPicPr>
          <p:cNvPr id="21" name="Image 3" descr="preencoded.png">    </p:cNvPr>
          <p:cNvPicPr>
            <a:picLocks noChangeAspect="1"/>
          </p:cNvPicPr>
          <p:nvPr/>
        </p:nvPicPr>
        <p:blipFill>
          <a:blip r:embed="rId4"/>
          <a:stretch>
            <a:fillRect/>
          </a:stretch>
        </p:blipFill>
        <p:spPr>
          <a:xfrm>
            <a:off x="731520" y="3246120"/>
            <a:ext cx="237744" cy="237744"/>
          </a:xfrm>
          <a:prstGeom prst="rect">
            <a:avLst/>
          </a:prstGeom>
        </p:spPr>
      </p:pic>
      <p:sp>
        <p:nvSpPr>
          <p:cNvPr id="22" name="Text 16"/>
          <p:cNvSpPr txBox="1"/>
          <p:nvPr/>
        </p:nvSpPr>
        <p:spPr>
          <a:xfrm>
            <a:off x="1188720" y="3118104"/>
            <a:ext cx="1783080" cy="45720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One collection per model</a:t>
            </a:r>
            <a:endParaRPr lang="en-US" sz="1400" dirty="0"/>
          </a:p>
        </p:txBody>
      </p:sp>
      <p:sp>
        <p:nvSpPr>
          <p:cNvPr id="23" name="Text 17"/>
          <p:cNvSpPr txBox="1"/>
          <p:nvPr/>
        </p:nvSpPr>
        <p:spPr>
          <a:xfrm>
            <a:off x="621792" y="3685032"/>
            <a:ext cx="2322576" cy="73152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rag_&lt;model-slug&gt; — a 384-d query can never be compared with 768-d documents.</a:t>
            </a:r>
            <a:endParaRPr lang="en-US" sz="1100" dirty="0"/>
          </a:p>
        </p:txBody>
      </p:sp>
      <p:sp>
        <p:nvSpPr>
          <p:cNvPr id="24" name="Shape 18"/>
          <p:cNvSpPr/>
          <p:nvPr/>
        </p:nvSpPr>
        <p:spPr>
          <a:xfrm>
            <a:off x="3246120" y="2971800"/>
            <a:ext cx="2651760" cy="1554480"/>
          </a:xfrm>
          <a:prstGeom prst="roundRect">
            <a:avLst>
              <a:gd name="adj" fmla="val 5882"/>
            </a:avLst>
          </a:prstGeom>
          <a:solidFill>
            <a:srgbClr val="F4F5F7"/>
          </a:solidFill>
          <a:ln w="9525">
            <a:solidFill>
              <a:srgbClr val="E5E7EB"/>
            </a:solidFill>
            <a:prstDash val="solid"/>
          </a:ln>
        </p:spPr>
      </p:sp>
      <p:sp>
        <p:nvSpPr>
          <p:cNvPr id="25" name="Shape 19"/>
          <p:cNvSpPr/>
          <p:nvPr/>
        </p:nvSpPr>
        <p:spPr>
          <a:xfrm>
            <a:off x="3410712" y="3136392"/>
            <a:ext cx="457200" cy="457200"/>
          </a:xfrm>
          <a:prstGeom prst="ellipse">
            <a:avLst/>
          </a:prstGeom>
          <a:solidFill>
            <a:srgbClr val="FCA311"/>
          </a:solidFill>
          <a:ln w="12700">
            <a:solidFill>
              <a:srgbClr val="FCA311"/>
            </a:solidFill>
            <a:prstDash val="solid"/>
          </a:ln>
        </p:spPr>
      </p:sp>
      <p:pic>
        <p:nvPicPr>
          <p:cNvPr id="26" name="Image 4" descr="preencoded.png">    </p:cNvPr>
          <p:cNvPicPr>
            <a:picLocks noChangeAspect="1"/>
          </p:cNvPicPr>
          <p:nvPr/>
        </p:nvPicPr>
        <p:blipFill>
          <a:blip r:embed="rId5"/>
          <a:stretch>
            <a:fillRect/>
          </a:stretch>
        </p:blipFill>
        <p:spPr>
          <a:xfrm>
            <a:off x="3520440" y="3246120"/>
            <a:ext cx="237744" cy="237744"/>
          </a:xfrm>
          <a:prstGeom prst="rect">
            <a:avLst/>
          </a:prstGeom>
        </p:spPr>
      </p:pic>
      <p:sp>
        <p:nvSpPr>
          <p:cNvPr id="27" name="Text 20"/>
          <p:cNvSpPr txBox="1"/>
          <p:nvPr/>
        </p:nvSpPr>
        <p:spPr>
          <a:xfrm>
            <a:off x="3977640" y="3118104"/>
            <a:ext cx="1783080" cy="45720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Abstract VectorStore</a:t>
            </a:r>
            <a:endParaRPr lang="en-US" sz="1400" dirty="0"/>
          </a:p>
        </p:txBody>
      </p:sp>
      <p:sp>
        <p:nvSpPr>
          <p:cNvPr id="28" name="Text 21"/>
          <p:cNvSpPr txBox="1"/>
          <p:nvPr/>
        </p:nvSpPr>
        <p:spPr>
          <a:xfrm>
            <a:off x="3410712" y="3685032"/>
            <a:ext cx="2322576" cy="73152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add / search / count / sources / reset — FAISS or Qdrant would be one subclass.</a:t>
            </a:r>
            <a:endParaRPr lang="en-US" sz="1100" dirty="0"/>
          </a:p>
        </p:txBody>
      </p:sp>
      <p:sp>
        <p:nvSpPr>
          <p:cNvPr id="29" name="Shape 22"/>
          <p:cNvSpPr/>
          <p:nvPr/>
        </p:nvSpPr>
        <p:spPr>
          <a:xfrm>
            <a:off x="6035040" y="2971800"/>
            <a:ext cx="2651760" cy="1554480"/>
          </a:xfrm>
          <a:prstGeom prst="roundRect">
            <a:avLst>
              <a:gd name="adj" fmla="val 5882"/>
            </a:avLst>
          </a:prstGeom>
          <a:solidFill>
            <a:srgbClr val="F4F5F7"/>
          </a:solidFill>
          <a:ln w="9525">
            <a:solidFill>
              <a:srgbClr val="E5E7EB"/>
            </a:solidFill>
            <a:prstDash val="solid"/>
          </a:ln>
        </p:spPr>
      </p:sp>
      <p:sp>
        <p:nvSpPr>
          <p:cNvPr id="30" name="Shape 23"/>
          <p:cNvSpPr/>
          <p:nvPr/>
        </p:nvSpPr>
        <p:spPr>
          <a:xfrm>
            <a:off x="6199632" y="3136392"/>
            <a:ext cx="457200" cy="457200"/>
          </a:xfrm>
          <a:prstGeom prst="ellipse">
            <a:avLst/>
          </a:prstGeom>
          <a:solidFill>
            <a:srgbClr val="FCA311"/>
          </a:solidFill>
          <a:ln w="12700">
            <a:solidFill>
              <a:srgbClr val="FCA311"/>
            </a:solidFill>
            <a:prstDash val="solid"/>
          </a:ln>
        </p:spPr>
      </p:sp>
      <p:pic>
        <p:nvPicPr>
          <p:cNvPr id="31" name="Image 5" descr="preencoded.png">    </p:cNvPr>
          <p:cNvPicPr>
            <a:picLocks noChangeAspect="1"/>
          </p:cNvPicPr>
          <p:nvPr/>
        </p:nvPicPr>
        <p:blipFill>
          <a:blip r:embed="rId6"/>
          <a:stretch>
            <a:fillRect/>
          </a:stretch>
        </p:blipFill>
        <p:spPr>
          <a:xfrm>
            <a:off x="6309360" y="3246120"/>
            <a:ext cx="237744" cy="237744"/>
          </a:xfrm>
          <a:prstGeom prst="rect">
            <a:avLst/>
          </a:prstGeom>
        </p:spPr>
      </p:pic>
      <p:sp>
        <p:nvSpPr>
          <p:cNvPr id="32" name="Text 24"/>
          <p:cNvSpPr txBox="1"/>
          <p:nvPr/>
        </p:nvSpPr>
        <p:spPr>
          <a:xfrm>
            <a:off x="6766560" y="3118104"/>
            <a:ext cx="1783080" cy="45720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Self-healing handle</a:t>
            </a:r>
            <a:endParaRPr lang="en-US" sz="1400" dirty="0"/>
          </a:p>
        </p:txBody>
      </p:sp>
      <p:sp>
        <p:nvSpPr>
          <p:cNvPr id="33" name="Text 25"/>
          <p:cNvSpPr txBox="1"/>
          <p:nvPr/>
        </p:nvSpPr>
        <p:spPr>
          <a:xfrm>
            <a:off x="6199632" y="3685032"/>
            <a:ext cx="2322576" cy="73152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If another process resets the collection, the store re-opens it by name instead of crashing.</a:t>
            </a:r>
            <a:endParaRPr lang="en-US" sz="1100" dirty="0"/>
          </a:p>
        </p:txBody>
      </p:sp>
      <p:sp>
        <p:nvSpPr>
          <p:cNvPr id="34" name="Text 26"/>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Multi-Document RAG  ·  12</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731520" y="1737360"/>
            <a:ext cx="7315200" cy="274320"/>
          </a:xfrm>
          <a:prstGeom prst="rect">
            <a:avLst/>
          </a:prstGeom>
          <a:noFill/>
          <a:ln/>
        </p:spPr>
        <p:txBody>
          <a:bodyPr wrap="square" lIns="0" tIns="0" rIns="0" bIns="0" rtlCol="0" anchor="ctr"/>
          <a:lstStyle/>
          <a:p>
            <a:pPr indent="0" marL="0">
              <a:buNone/>
            </a:pPr>
            <a:r>
              <a:rPr lang="en-US" sz="1200" b="1" spc="300" kern="0" dirty="0">
                <a:solidFill>
                  <a:srgbClr val="FCA311"/>
                </a:solidFill>
                <a:latin typeface="Calibri" pitchFamily="34" charset="0"/>
                <a:ea typeface="Calibri" pitchFamily="34" charset="-122"/>
                <a:cs typeface="Calibri" pitchFamily="34" charset="-120"/>
              </a:rPr>
              <a:t>PART 3</a:t>
            </a:r>
            <a:endParaRPr lang="en-US" sz="1200" dirty="0"/>
          </a:p>
        </p:txBody>
      </p:sp>
      <p:sp>
        <p:nvSpPr>
          <p:cNvPr id="3" name="Text 1"/>
          <p:cNvSpPr txBox="1"/>
          <p:nvPr/>
        </p:nvSpPr>
        <p:spPr>
          <a:xfrm>
            <a:off x="731520" y="2057400"/>
            <a:ext cx="768096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Retrieval &amp; query rewriting</a:t>
            </a:r>
            <a:endParaRPr lang="en-US" sz="4000" dirty="0"/>
          </a:p>
        </p:txBody>
      </p:sp>
      <p:sp>
        <p:nvSpPr>
          <p:cNvPr id="4" name="Text 2"/>
          <p:cNvSpPr txBox="1"/>
          <p:nvPr/>
        </p:nvSpPr>
        <p:spPr>
          <a:xfrm>
            <a:off x="731520" y="2926080"/>
            <a:ext cx="7315200" cy="548640"/>
          </a:xfrm>
          <a:prstGeom prst="rect">
            <a:avLst/>
          </a:prstGeom>
          <a:noFill/>
          <a:ln/>
        </p:spPr>
        <p:txBody>
          <a:bodyPr wrap="square" lIns="0" tIns="0" rIns="0" bIns="0" rtlCol="0" anchor="ctr"/>
          <a:lstStyle/>
          <a:p>
            <a:pPr indent="0" marL="0">
              <a:buNone/>
            </a:pPr>
            <a:r>
              <a:rPr lang="en-US" sz="1600" dirty="0">
                <a:solidFill>
                  <a:srgbClr val="C9D6EE"/>
                </a:solidFill>
                <a:latin typeface="Calibri" pitchFamily="34" charset="0"/>
                <a:ea typeface="Calibri" pitchFamily="34" charset="-122"/>
                <a:cs typeface="Calibri" pitchFamily="34" charset="-120"/>
              </a:rPr>
              <a:t>Closing the vocabulary gap between how people ask and how documents are written.</a:t>
            </a:r>
            <a:endParaRPr lang="en-US" sz="1600" dirty="0"/>
          </a:p>
        </p:txBody>
      </p:sp>
      <p:sp>
        <p:nvSpPr>
          <p:cNvPr id="5" name="Shape 3"/>
          <p:cNvSpPr/>
          <p:nvPr/>
        </p:nvSpPr>
        <p:spPr>
          <a:xfrm>
            <a:off x="731520" y="3931920"/>
            <a:ext cx="146304" cy="146304"/>
          </a:xfrm>
          <a:prstGeom prst="ellipse">
            <a:avLst/>
          </a:prstGeom>
          <a:solidFill>
            <a:srgbClr val="FCA311"/>
          </a:solidFill>
          <a:ln w="12700">
            <a:solidFill>
              <a:srgbClr val="FCA311"/>
            </a:solidFill>
            <a:prstDash val="solid"/>
          </a:ln>
        </p:spPr>
      </p:sp>
      <p:sp>
        <p:nvSpPr>
          <p:cNvPr id="6" name="Shape 4"/>
          <p:cNvSpPr/>
          <p:nvPr/>
        </p:nvSpPr>
        <p:spPr>
          <a:xfrm>
            <a:off x="987552" y="3931920"/>
            <a:ext cx="146304" cy="146304"/>
          </a:xfrm>
          <a:prstGeom prst="ellipse">
            <a:avLst/>
          </a:prstGeom>
          <a:solidFill>
            <a:srgbClr val="1F2F5C"/>
          </a:solidFill>
          <a:ln w="12700">
            <a:solidFill>
              <a:srgbClr val="FCA311"/>
            </a:solidFill>
            <a:prstDash val="solid"/>
          </a:ln>
        </p:spPr>
      </p:sp>
      <p:sp>
        <p:nvSpPr>
          <p:cNvPr id="7" name="Shape 5"/>
          <p:cNvSpPr/>
          <p:nvPr/>
        </p:nvSpPr>
        <p:spPr>
          <a:xfrm>
            <a:off x="1243584" y="3931920"/>
            <a:ext cx="146304" cy="146304"/>
          </a:xfrm>
          <a:prstGeom prst="ellipse">
            <a:avLst/>
          </a:prstGeom>
          <a:solidFill>
            <a:srgbClr val="1F2F5C"/>
          </a:solidFill>
          <a:ln w="12700">
            <a:solidFill>
              <a:srgbClr val="FCA311"/>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RETRIEVAL · THE PROBLEM</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Users and documents speak different languages</a:t>
            </a:r>
            <a:endParaRPr lang="en-US" sz="2800" dirty="0"/>
          </a:p>
        </p:txBody>
      </p:sp>
      <p:sp>
        <p:nvSpPr>
          <p:cNvPr id="4" name="Shape 2"/>
          <p:cNvSpPr/>
          <p:nvPr/>
        </p:nvSpPr>
        <p:spPr>
          <a:xfrm>
            <a:off x="457200" y="1325880"/>
            <a:ext cx="3931920" cy="1005840"/>
          </a:xfrm>
          <a:prstGeom prst="roundRect">
            <a:avLst>
              <a:gd name="adj" fmla="val 9091"/>
            </a:avLst>
          </a:prstGeom>
          <a:solidFill>
            <a:srgbClr val="FFF4E0"/>
          </a:solidFill>
          <a:ln w="12700">
            <a:solidFill>
              <a:srgbClr val="FFF4E0"/>
            </a:solidFill>
            <a:prstDash val="solid"/>
          </a:ln>
        </p:spPr>
      </p:sp>
      <p:sp>
        <p:nvSpPr>
          <p:cNvPr id="5" name="Text 3"/>
          <p:cNvSpPr txBox="1"/>
          <p:nvPr/>
        </p:nvSpPr>
        <p:spPr>
          <a:xfrm>
            <a:off x="640080" y="1417320"/>
            <a:ext cx="2743200" cy="228600"/>
          </a:xfrm>
          <a:prstGeom prst="rect">
            <a:avLst/>
          </a:prstGeom>
          <a:noFill/>
          <a:ln/>
        </p:spPr>
        <p:txBody>
          <a:bodyPr wrap="square" lIns="0" tIns="0" rIns="0" bIns="0" rtlCol="0" anchor="ctr"/>
          <a:lstStyle/>
          <a:p>
            <a:pPr indent="0" marL="0">
              <a:buNone/>
            </a:pPr>
            <a:r>
              <a:rPr lang="en-US" sz="1000" b="1" spc="200" kern="0" dirty="0">
                <a:solidFill>
                  <a:srgbClr val="FCA311"/>
                </a:solidFill>
                <a:latin typeface="Calibri" pitchFamily="34" charset="0"/>
                <a:ea typeface="Calibri" pitchFamily="34" charset="-122"/>
                <a:cs typeface="Calibri" pitchFamily="34" charset="-120"/>
              </a:rPr>
              <a:t>USER TYPES</a:t>
            </a:r>
            <a:endParaRPr lang="en-US" sz="1000" dirty="0"/>
          </a:p>
        </p:txBody>
      </p:sp>
      <p:sp>
        <p:nvSpPr>
          <p:cNvPr id="6" name="Text 4"/>
          <p:cNvSpPr txBox="1"/>
          <p:nvPr/>
        </p:nvSpPr>
        <p:spPr>
          <a:xfrm>
            <a:off x="640080" y="1664208"/>
            <a:ext cx="3566160" cy="548640"/>
          </a:xfrm>
          <a:prstGeom prst="rect">
            <a:avLst/>
          </a:prstGeom>
          <a:noFill/>
          <a:ln/>
        </p:spPr>
        <p:txBody>
          <a:bodyPr wrap="square" lIns="0" tIns="0" rIns="0" bIns="0" rtlCol="0" anchor="ctr"/>
          <a:lstStyle/>
          <a:p>
            <a:pPr indent="0" marL="0">
              <a:buNone/>
            </a:pPr>
            <a:r>
              <a:rPr lang="en-US" sz="2200" b="1" dirty="0">
                <a:solidFill>
                  <a:srgbClr val="14213D"/>
                </a:solidFill>
                <a:latin typeface="Cambria" pitchFamily="34" charset="0"/>
                <a:ea typeface="Cambria" pitchFamily="34" charset="-122"/>
                <a:cs typeface="Cambria" pitchFamily="34" charset="-120"/>
              </a:rPr>
              <a:t>"can i wfh fri?"</a:t>
            </a:r>
            <a:endParaRPr lang="en-US" sz="2200" dirty="0"/>
          </a:p>
        </p:txBody>
      </p:sp>
      <p:sp>
        <p:nvSpPr>
          <p:cNvPr id="7" name="Shape 5"/>
          <p:cNvSpPr/>
          <p:nvPr/>
        </p:nvSpPr>
        <p:spPr>
          <a:xfrm>
            <a:off x="4754880" y="1325880"/>
            <a:ext cx="3931920" cy="1005840"/>
          </a:xfrm>
          <a:prstGeom prst="roundRect">
            <a:avLst>
              <a:gd name="adj" fmla="val 9091"/>
            </a:avLst>
          </a:prstGeom>
          <a:solidFill>
            <a:srgbClr val="F4F5F7"/>
          </a:solidFill>
          <a:ln w="9525">
            <a:solidFill>
              <a:srgbClr val="E5E7EB"/>
            </a:solidFill>
            <a:prstDash val="solid"/>
          </a:ln>
        </p:spPr>
      </p:sp>
      <p:sp>
        <p:nvSpPr>
          <p:cNvPr id="8" name="Text 6"/>
          <p:cNvSpPr txBox="1"/>
          <p:nvPr/>
        </p:nvSpPr>
        <p:spPr>
          <a:xfrm>
            <a:off x="4937760" y="1417320"/>
            <a:ext cx="2743200" cy="228600"/>
          </a:xfrm>
          <a:prstGeom prst="rect">
            <a:avLst/>
          </a:prstGeom>
          <a:noFill/>
          <a:ln/>
        </p:spPr>
        <p:txBody>
          <a:bodyPr wrap="square" lIns="0" tIns="0" rIns="0" bIns="0" rtlCol="0" anchor="ctr"/>
          <a:lstStyle/>
          <a:p>
            <a:pPr indent="0" marL="0">
              <a:buNone/>
            </a:pPr>
            <a:r>
              <a:rPr lang="en-US" sz="1000" b="1" spc="200" kern="0" dirty="0">
                <a:solidFill>
                  <a:srgbClr val="FCA311"/>
                </a:solidFill>
                <a:latin typeface="Calibri" pitchFamily="34" charset="0"/>
                <a:ea typeface="Calibri" pitchFamily="34" charset="-122"/>
                <a:cs typeface="Calibri" pitchFamily="34" charset="-120"/>
              </a:rPr>
              <a:t>DOCUMENT SAYS</a:t>
            </a:r>
            <a:endParaRPr lang="en-US" sz="1000" dirty="0"/>
          </a:p>
        </p:txBody>
      </p:sp>
      <p:sp>
        <p:nvSpPr>
          <p:cNvPr id="9" name="Text 7"/>
          <p:cNvSpPr txBox="1"/>
          <p:nvPr/>
        </p:nvSpPr>
        <p:spPr>
          <a:xfrm>
            <a:off x="4937760" y="1645920"/>
            <a:ext cx="3611880" cy="640080"/>
          </a:xfrm>
          <a:prstGeom prst="rect">
            <a:avLst/>
          </a:prstGeom>
          <a:noFill/>
          <a:ln/>
        </p:spPr>
        <p:txBody>
          <a:bodyPr wrap="square" lIns="0" tIns="0" rIns="0" bIns="0" rtlCol="0" anchor="ctr"/>
          <a:lstStyle/>
          <a:p>
            <a:pPr indent="0" marL="0">
              <a:buNone/>
            </a:pPr>
            <a:r>
              <a:rPr lang="en-US" sz="1200" i="1" dirty="0">
                <a:solidFill>
                  <a:srgbClr val="1F2937"/>
                </a:solidFill>
                <a:latin typeface="Calibri" pitchFamily="34" charset="0"/>
                <a:ea typeface="Calibri" pitchFamily="34" charset="-122"/>
                <a:cs typeface="Calibri" pitchFamily="34" charset="-120"/>
              </a:rPr>
              <a:t>"Confirmed employees may work remotely up to three days per week with line-manager approval…"</a:t>
            </a:r>
            <a:endParaRPr lang="en-US" sz="1200" dirty="0"/>
          </a:p>
        </p:txBody>
      </p:sp>
      <p:sp>
        <p:nvSpPr>
          <p:cNvPr id="10" name="Text 8"/>
          <p:cNvSpPr txBox="1"/>
          <p:nvPr/>
        </p:nvSpPr>
        <p:spPr>
          <a:xfrm>
            <a:off x="457200" y="2514600"/>
            <a:ext cx="8229600" cy="73152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Abbreviations, slang and short questions embed far from the formal policy text — the right chunk exists but is not retrieved. Query rewriting generates alternative phrasings of the same question and searches with all of them.</a:t>
            </a:r>
            <a:endParaRPr lang="en-US" sz="1300" dirty="0"/>
          </a:p>
        </p:txBody>
      </p:sp>
      <p:sp>
        <p:nvSpPr>
          <p:cNvPr id="11" name="Shape 9"/>
          <p:cNvSpPr/>
          <p:nvPr/>
        </p:nvSpPr>
        <p:spPr>
          <a:xfrm>
            <a:off x="457200" y="3310128"/>
            <a:ext cx="3931920" cy="1389888"/>
          </a:xfrm>
          <a:prstGeom prst="roundRect">
            <a:avLst>
              <a:gd name="adj" fmla="val 6579"/>
            </a:avLst>
          </a:prstGeom>
          <a:solidFill>
            <a:srgbClr val="F4F5F7"/>
          </a:solidFill>
          <a:ln w="9525">
            <a:solidFill>
              <a:srgbClr val="E5E7EB"/>
            </a:solidFill>
            <a:prstDash val="solid"/>
          </a:ln>
        </p:spPr>
      </p:sp>
      <p:sp>
        <p:nvSpPr>
          <p:cNvPr id="12" name="Shape 10"/>
          <p:cNvSpPr/>
          <p:nvPr/>
        </p:nvSpPr>
        <p:spPr>
          <a:xfrm>
            <a:off x="621792" y="3474720"/>
            <a:ext cx="457200" cy="457200"/>
          </a:xfrm>
          <a:prstGeom prst="ellipse">
            <a:avLst/>
          </a:prstGeom>
          <a:solidFill>
            <a:srgbClr val="FCA311"/>
          </a:solidFill>
          <a:ln w="12700">
            <a:solidFill>
              <a:srgbClr val="FCA311"/>
            </a:solidFill>
            <a:prstDash val="solid"/>
          </a:ln>
        </p:spPr>
      </p:sp>
      <p:pic>
        <p:nvPicPr>
          <p:cNvPr id="13" name="Image 0" descr="preencoded.png">    </p:cNvPr>
          <p:cNvPicPr>
            <a:picLocks noChangeAspect="1"/>
          </p:cNvPicPr>
          <p:nvPr/>
        </p:nvPicPr>
        <p:blipFill>
          <a:blip r:embed="rId1"/>
          <a:stretch>
            <a:fillRect/>
          </a:stretch>
        </p:blipFill>
        <p:spPr>
          <a:xfrm>
            <a:off x="731520" y="3584448"/>
            <a:ext cx="237744" cy="237744"/>
          </a:xfrm>
          <a:prstGeom prst="rect">
            <a:avLst/>
          </a:prstGeom>
        </p:spPr>
      </p:pic>
      <p:sp>
        <p:nvSpPr>
          <p:cNvPr id="14" name="Text 11"/>
          <p:cNvSpPr txBox="1"/>
          <p:nvPr/>
        </p:nvSpPr>
        <p:spPr>
          <a:xfrm>
            <a:off x="1188720" y="3456432"/>
            <a:ext cx="3063240" cy="45720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Manual rewriting (rule-based)</a:t>
            </a:r>
            <a:endParaRPr lang="en-US" sz="1400" dirty="0"/>
          </a:p>
        </p:txBody>
      </p:sp>
      <p:sp>
        <p:nvSpPr>
          <p:cNvPr id="15" name="Text 12"/>
          <p:cNvSpPr txBox="1"/>
          <p:nvPr/>
        </p:nvSpPr>
        <p:spPr>
          <a:xfrm>
            <a:off x="621792" y="4023360"/>
            <a:ext cx="3602736" cy="566928"/>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Deterministic and free: expand abbreviations, add the topic keyword, restate formally — embeddings do the matching.</a:t>
            </a:r>
            <a:endParaRPr lang="en-US" sz="1150" dirty="0"/>
          </a:p>
        </p:txBody>
      </p:sp>
      <p:sp>
        <p:nvSpPr>
          <p:cNvPr id="16" name="Shape 13"/>
          <p:cNvSpPr/>
          <p:nvPr/>
        </p:nvSpPr>
        <p:spPr>
          <a:xfrm>
            <a:off x="4754880" y="3310128"/>
            <a:ext cx="3931920" cy="1389888"/>
          </a:xfrm>
          <a:prstGeom prst="roundRect">
            <a:avLst>
              <a:gd name="adj" fmla="val 6579"/>
            </a:avLst>
          </a:prstGeom>
          <a:solidFill>
            <a:srgbClr val="F4F5F7"/>
          </a:solidFill>
          <a:ln w="9525">
            <a:solidFill>
              <a:srgbClr val="E5E7EB"/>
            </a:solidFill>
            <a:prstDash val="solid"/>
          </a:ln>
        </p:spPr>
      </p:sp>
      <p:sp>
        <p:nvSpPr>
          <p:cNvPr id="17" name="Shape 14"/>
          <p:cNvSpPr/>
          <p:nvPr/>
        </p:nvSpPr>
        <p:spPr>
          <a:xfrm>
            <a:off x="4919472" y="3474720"/>
            <a:ext cx="457200" cy="457200"/>
          </a:xfrm>
          <a:prstGeom prst="ellipse">
            <a:avLst/>
          </a:prstGeom>
          <a:solidFill>
            <a:srgbClr val="FCA311"/>
          </a:solidFill>
          <a:ln w="12700">
            <a:solidFill>
              <a:srgbClr val="FCA311"/>
            </a:solidFill>
            <a:prstDash val="solid"/>
          </a:ln>
        </p:spPr>
      </p:sp>
      <p:pic>
        <p:nvPicPr>
          <p:cNvPr id="18" name="Image 1" descr="preencoded.png">    </p:cNvPr>
          <p:cNvPicPr>
            <a:picLocks noChangeAspect="1"/>
          </p:cNvPicPr>
          <p:nvPr/>
        </p:nvPicPr>
        <p:blipFill>
          <a:blip r:embed="rId2"/>
          <a:stretch>
            <a:fillRect/>
          </a:stretch>
        </p:blipFill>
        <p:spPr>
          <a:xfrm>
            <a:off x="5029200" y="3584448"/>
            <a:ext cx="237744" cy="237744"/>
          </a:xfrm>
          <a:prstGeom prst="rect">
            <a:avLst/>
          </a:prstGeom>
        </p:spPr>
      </p:pic>
      <p:sp>
        <p:nvSpPr>
          <p:cNvPr id="19" name="Text 15"/>
          <p:cNvSpPr txBox="1"/>
          <p:nvPr/>
        </p:nvSpPr>
        <p:spPr>
          <a:xfrm>
            <a:off x="5486400" y="3456432"/>
            <a:ext cx="3063240" cy="45720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LLM rewriting</a:t>
            </a:r>
            <a:endParaRPr lang="en-US" sz="1400" dirty="0"/>
          </a:p>
        </p:txBody>
      </p:sp>
      <p:sp>
        <p:nvSpPr>
          <p:cNvPr id="20" name="Text 16"/>
          <p:cNvSpPr txBox="1"/>
          <p:nvPr/>
        </p:nvSpPr>
        <p:spPr>
          <a:xfrm>
            <a:off x="4919472" y="4023360"/>
            <a:ext cx="3602736" cy="566928"/>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Paraphrases, hypothetical answers (HyDE), step-back questions. Better coverage, costs a model call.</a:t>
            </a:r>
            <a:endParaRPr lang="en-US" sz="1150" dirty="0"/>
          </a:p>
        </p:txBody>
      </p:sp>
      <p:sp>
        <p:nvSpPr>
          <p:cNvPr id="21" name="Text 17"/>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Multi-Document RAG  ·  13</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RETRIEVAL · STRATEGY A</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Manual rewriting by generating embeddings</a:t>
            </a:r>
            <a:endParaRPr lang="en-US" sz="2800" dirty="0"/>
          </a:p>
        </p:txBody>
      </p:sp>
      <p:sp>
        <p:nvSpPr>
          <p:cNvPr id="4" name="Shape 2"/>
          <p:cNvSpPr/>
          <p:nvPr/>
        </p:nvSpPr>
        <p:spPr>
          <a:xfrm>
            <a:off x="2011680" y="2706624"/>
            <a:ext cx="228600" cy="0"/>
          </a:xfrm>
          <a:prstGeom prst="line">
            <a:avLst/>
          </a:prstGeom>
          <a:noFill/>
          <a:ln w="15875">
            <a:solidFill>
              <a:srgbClr val="6B7280"/>
            </a:solidFill>
            <a:prstDash val="solid"/>
          </a:ln>
        </p:spPr>
      </p:sp>
      <p:sp>
        <p:nvSpPr>
          <p:cNvPr id="5" name="Shape 3"/>
          <p:cNvSpPr/>
          <p:nvPr/>
        </p:nvSpPr>
        <p:spPr>
          <a:xfrm flipV="1">
            <a:off x="2240280" y="1485900"/>
            <a:ext cx="0" cy="1220724"/>
          </a:xfrm>
          <a:prstGeom prst="line">
            <a:avLst/>
          </a:prstGeom>
          <a:noFill/>
          <a:ln w="15875">
            <a:solidFill>
              <a:srgbClr val="6B7280"/>
            </a:solidFill>
            <a:prstDash val="solid"/>
          </a:ln>
        </p:spPr>
      </p:sp>
      <p:sp>
        <p:nvSpPr>
          <p:cNvPr id="6" name="Shape 4"/>
          <p:cNvSpPr/>
          <p:nvPr/>
        </p:nvSpPr>
        <p:spPr>
          <a:xfrm>
            <a:off x="2240280" y="1485900"/>
            <a:ext cx="274320" cy="0"/>
          </a:xfrm>
          <a:prstGeom prst="line">
            <a:avLst/>
          </a:prstGeom>
          <a:noFill/>
          <a:ln w="15875">
            <a:solidFill>
              <a:srgbClr val="6B7280"/>
            </a:solidFill>
            <a:prstDash val="solid"/>
            <a:tailEnd type="triangle"/>
          </a:ln>
        </p:spPr>
      </p:sp>
      <p:sp>
        <p:nvSpPr>
          <p:cNvPr id="7" name="Shape 5"/>
          <p:cNvSpPr/>
          <p:nvPr/>
        </p:nvSpPr>
        <p:spPr>
          <a:xfrm>
            <a:off x="2240280" y="2217420"/>
            <a:ext cx="274320" cy="0"/>
          </a:xfrm>
          <a:prstGeom prst="line">
            <a:avLst/>
          </a:prstGeom>
          <a:noFill/>
          <a:ln w="15875">
            <a:solidFill>
              <a:srgbClr val="6B7280"/>
            </a:solidFill>
            <a:prstDash val="solid"/>
            <a:tailEnd type="triangle"/>
          </a:ln>
        </p:spPr>
      </p:sp>
      <p:sp>
        <p:nvSpPr>
          <p:cNvPr id="8" name="Shape 6"/>
          <p:cNvSpPr/>
          <p:nvPr/>
        </p:nvSpPr>
        <p:spPr>
          <a:xfrm>
            <a:off x="2240280" y="2948940"/>
            <a:ext cx="274320" cy="0"/>
          </a:xfrm>
          <a:prstGeom prst="line">
            <a:avLst/>
          </a:prstGeom>
          <a:noFill/>
          <a:ln w="15875">
            <a:solidFill>
              <a:srgbClr val="6B7280"/>
            </a:solidFill>
            <a:prstDash val="solid"/>
            <a:tailEnd type="triangle"/>
          </a:ln>
        </p:spPr>
      </p:sp>
      <p:sp>
        <p:nvSpPr>
          <p:cNvPr id="9" name="Shape 7"/>
          <p:cNvSpPr/>
          <p:nvPr/>
        </p:nvSpPr>
        <p:spPr>
          <a:xfrm>
            <a:off x="2240280" y="2706624"/>
            <a:ext cx="0" cy="973836"/>
          </a:xfrm>
          <a:prstGeom prst="line">
            <a:avLst/>
          </a:prstGeom>
          <a:noFill/>
          <a:ln w="15875">
            <a:solidFill>
              <a:srgbClr val="6B7280"/>
            </a:solidFill>
            <a:prstDash val="solid"/>
          </a:ln>
        </p:spPr>
      </p:sp>
      <p:sp>
        <p:nvSpPr>
          <p:cNvPr id="10" name="Shape 8"/>
          <p:cNvSpPr/>
          <p:nvPr/>
        </p:nvSpPr>
        <p:spPr>
          <a:xfrm>
            <a:off x="2240280" y="3680460"/>
            <a:ext cx="274320" cy="0"/>
          </a:xfrm>
          <a:prstGeom prst="line">
            <a:avLst/>
          </a:prstGeom>
          <a:noFill/>
          <a:ln w="15875">
            <a:solidFill>
              <a:srgbClr val="6B7280"/>
            </a:solidFill>
            <a:prstDash val="solid"/>
            <a:tailEnd type="triangle"/>
          </a:ln>
        </p:spPr>
      </p:sp>
      <p:sp>
        <p:nvSpPr>
          <p:cNvPr id="11" name="Shape 9"/>
          <p:cNvSpPr/>
          <p:nvPr/>
        </p:nvSpPr>
        <p:spPr>
          <a:xfrm>
            <a:off x="4800600" y="1485900"/>
            <a:ext cx="365760" cy="0"/>
          </a:xfrm>
          <a:prstGeom prst="line">
            <a:avLst/>
          </a:prstGeom>
          <a:noFill/>
          <a:ln w="15875">
            <a:solidFill>
              <a:srgbClr val="6B7280"/>
            </a:solidFill>
            <a:prstDash val="solid"/>
          </a:ln>
        </p:spPr>
      </p:sp>
      <p:sp>
        <p:nvSpPr>
          <p:cNvPr id="12" name="Shape 10"/>
          <p:cNvSpPr/>
          <p:nvPr/>
        </p:nvSpPr>
        <p:spPr>
          <a:xfrm>
            <a:off x="5166360" y="1485900"/>
            <a:ext cx="0" cy="2194560"/>
          </a:xfrm>
          <a:prstGeom prst="line">
            <a:avLst/>
          </a:prstGeom>
          <a:noFill/>
          <a:ln w="15875">
            <a:solidFill>
              <a:srgbClr val="6B7280"/>
            </a:solidFill>
            <a:prstDash val="solid"/>
          </a:ln>
        </p:spPr>
      </p:sp>
      <p:sp>
        <p:nvSpPr>
          <p:cNvPr id="13" name="Shape 11"/>
          <p:cNvSpPr/>
          <p:nvPr/>
        </p:nvSpPr>
        <p:spPr>
          <a:xfrm flipH="1">
            <a:off x="4800600" y="3680460"/>
            <a:ext cx="365760" cy="0"/>
          </a:xfrm>
          <a:prstGeom prst="line">
            <a:avLst/>
          </a:prstGeom>
          <a:noFill/>
          <a:ln w="15875">
            <a:solidFill>
              <a:srgbClr val="6B7280"/>
            </a:solidFill>
            <a:prstDash val="solid"/>
          </a:ln>
        </p:spPr>
      </p:sp>
      <p:sp>
        <p:nvSpPr>
          <p:cNvPr id="14" name="Shape 12"/>
          <p:cNvSpPr/>
          <p:nvPr/>
        </p:nvSpPr>
        <p:spPr>
          <a:xfrm>
            <a:off x="4800600" y="2217420"/>
            <a:ext cx="365760" cy="0"/>
          </a:xfrm>
          <a:prstGeom prst="line">
            <a:avLst/>
          </a:prstGeom>
          <a:noFill/>
          <a:ln w="15875">
            <a:solidFill>
              <a:srgbClr val="6B7280"/>
            </a:solidFill>
            <a:prstDash val="solid"/>
          </a:ln>
        </p:spPr>
      </p:sp>
      <p:sp>
        <p:nvSpPr>
          <p:cNvPr id="15" name="Shape 13"/>
          <p:cNvSpPr/>
          <p:nvPr/>
        </p:nvSpPr>
        <p:spPr>
          <a:xfrm>
            <a:off x="4800600" y="2948940"/>
            <a:ext cx="365760" cy="0"/>
          </a:xfrm>
          <a:prstGeom prst="line">
            <a:avLst/>
          </a:prstGeom>
          <a:noFill/>
          <a:ln w="15875">
            <a:solidFill>
              <a:srgbClr val="6B7280"/>
            </a:solidFill>
            <a:prstDash val="solid"/>
          </a:ln>
        </p:spPr>
      </p:sp>
      <p:sp>
        <p:nvSpPr>
          <p:cNvPr id="16" name="Shape 14"/>
          <p:cNvSpPr/>
          <p:nvPr/>
        </p:nvSpPr>
        <p:spPr>
          <a:xfrm>
            <a:off x="5166360" y="1805940"/>
            <a:ext cx="411480" cy="0"/>
          </a:xfrm>
          <a:prstGeom prst="line">
            <a:avLst/>
          </a:prstGeom>
          <a:noFill/>
          <a:ln w="15875">
            <a:solidFill>
              <a:srgbClr val="6B7280"/>
            </a:solidFill>
            <a:prstDash val="solid"/>
            <a:tailEnd type="triangle"/>
          </a:ln>
        </p:spPr>
      </p:sp>
      <p:sp>
        <p:nvSpPr>
          <p:cNvPr id="17" name="Shape 15"/>
          <p:cNvSpPr/>
          <p:nvPr/>
        </p:nvSpPr>
        <p:spPr>
          <a:xfrm>
            <a:off x="5166360" y="3406140"/>
            <a:ext cx="411480" cy="0"/>
          </a:xfrm>
          <a:prstGeom prst="line">
            <a:avLst/>
          </a:prstGeom>
          <a:noFill/>
          <a:ln w="15875">
            <a:solidFill>
              <a:srgbClr val="6B7280"/>
            </a:solidFill>
            <a:prstDash val="solid"/>
            <a:tailEnd type="triangle"/>
          </a:ln>
        </p:spPr>
      </p:sp>
      <p:sp>
        <p:nvSpPr>
          <p:cNvPr id="18" name="Shape 16"/>
          <p:cNvSpPr/>
          <p:nvPr/>
        </p:nvSpPr>
        <p:spPr>
          <a:xfrm>
            <a:off x="457200" y="2423160"/>
            <a:ext cx="1554480" cy="566928"/>
          </a:xfrm>
          <a:prstGeom prst="roundRect">
            <a:avLst>
              <a:gd name="adj" fmla="val 50000"/>
            </a:avLst>
          </a:prstGeom>
          <a:solidFill>
            <a:srgbClr val="14213D"/>
          </a:solidFill>
          <a:ln w="9525">
            <a:solidFill>
              <a:srgbClr val="14213D"/>
            </a:solidFill>
            <a:prstDash val="solid"/>
          </a:ln>
        </p:spPr>
      </p:sp>
      <p:sp>
        <p:nvSpPr>
          <p:cNvPr id="19" name="Text 17"/>
          <p:cNvSpPr txBox="1"/>
          <p:nvPr/>
        </p:nvSpPr>
        <p:spPr>
          <a:xfrm>
            <a:off x="512064" y="2423160"/>
            <a:ext cx="1444752" cy="566928"/>
          </a:xfrm>
          <a:prstGeom prst="rect">
            <a:avLst/>
          </a:prstGeom>
          <a:noFill/>
          <a:ln/>
        </p:spPr>
        <p:txBody>
          <a:bodyPr wrap="square" lIns="25400" tIns="25400" rIns="25400" bIns="254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"can i wfh fri?"</a:t>
            </a:r>
            <a:endParaRPr lang="en-US" sz="1000" dirty="0"/>
          </a:p>
          <a:p>
            <a:pPr algn="ctr" indent="0" marL="0">
              <a:buNone/>
            </a:pPr>
            <a:r>
              <a:rPr lang="en-US" sz="850" dirty="0">
                <a:solidFill>
                  <a:srgbClr val="C9D6EE"/>
                </a:solidFill>
                <a:latin typeface="Calibri" pitchFamily="34" charset="0"/>
                <a:ea typeface="Calibri" pitchFamily="34" charset="-122"/>
                <a:cs typeface="Calibri" pitchFamily="34" charset="-120"/>
              </a:rPr>
              <a:t>original — always kept</a:t>
            </a:r>
            <a:endParaRPr lang="en-US" sz="1000" dirty="0"/>
          </a:p>
        </p:txBody>
      </p:sp>
      <p:sp>
        <p:nvSpPr>
          <p:cNvPr id="20" name="Shape 18"/>
          <p:cNvSpPr/>
          <p:nvPr/>
        </p:nvSpPr>
        <p:spPr>
          <a:xfrm>
            <a:off x="2514600" y="1234440"/>
            <a:ext cx="2286000" cy="502920"/>
          </a:xfrm>
          <a:prstGeom prst="roundRect">
            <a:avLst>
              <a:gd name="adj" fmla="val 14545"/>
            </a:avLst>
          </a:prstGeom>
          <a:solidFill>
            <a:srgbClr val="F4F5F7"/>
          </a:solidFill>
          <a:ln w="9525">
            <a:solidFill>
              <a:srgbClr val="CBD5E1"/>
            </a:solidFill>
            <a:prstDash val="solid"/>
          </a:ln>
        </p:spPr>
      </p:sp>
      <p:sp>
        <p:nvSpPr>
          <p:cNvPr id="21" name="Text 19"/>
          <p:cNvSpPr txBox="1"/>
          <p:nvPr/>
        </p:nvSpPr>
        <p:spPr>
          <a:xfrm>
            <a:off x="2569464" y="1234440"/>
            <a:ext cx="2176272" cy="502920"/>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Expand abbreviations</a:t>
            </a:r>
            <a:endParaRPr lang="en-US" sz="1000" dirty="0"/>
          </a:p>
          <a:p>
            <a:pPr algn="ctr" indent="0" marL="0">
              <a:buNone/>
            </a:pPr>
            <a:r>
              <a:rPr lang="en-US" sz="850" dirty="0">
                <a:solidFill>
                  <a:srgbClr val="6B7280"/>
                </a:solidFill>
                <a:latin typeface="Calibri" pitchFamily="34" charset="0"/>
                <a:ea typeface="Calibri" pitchFamily="34" charset="-122"/>
                <a:cs typeface="Calibri" pitchFamily="34" charset="-120"/>
              </a:rPr>
              <a:t>can i work from home friday?</a:t>
            </a:r>
            <a:endParaRPr lang="en-US" sz="1000" dirty="0"/>
          </a:p>
        </p:txBody>
      </p:sp>
      <p:sp>
        <p:nvSpPr>
          <p:cNvPr id="22" name="Shape 20"/>
          <p:cNvSpPr/>
          <p:nvPr/>
        </p:nvSpPr>
        <p:spPr>
          <a:xfrm>
            <a:off x="2514600" y="1965960"/>
            <a:ext cx="2286000" cy="502920"/>
          </a:xfrm>
          <a:prstGeom prst="roundRect">
            <a:avLst>
              <a:gd name="adj" fmla="val 14545"/>
            </a:avLst>
          </a:prstGeom>
          <a:solidFill>
            <a:srgbClr val="F4F5F7"/>
          </a:solidFill>
          <a:ln w="9525">
            <a:solidFill>
              <a:srgbClr val="CBD5E1"/>
            </a:solidFill>
            <a:prstDash val="solid"/>
          </a:ln>
        </p:spPr>
      </p:sp>
      <p:sp>
        <p:nvSpPr>
          <p:cNvPr id="23" name="Text 21"/>
          <p:cNvSpPr txBox="1"/>
          <p:nvPr/>
        </p:nvSpPr>
        <p:spPr>
          <a:xfrm>
            <a:off x="2569464" y="1965960"/>
            <a:ext cx="2176272" cy="502920"/>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Keyword-anchored</a:t>
            </a:r>
            <a:endParaRPr lang="en-US" sz="1000" dirty="0"/>
          </a:p>
          <a:p>
            <a:pPr algn="ctr" indent="0" marL="0">
              <a:buNone/>
            </a:pPr>
            <a:r>
              <a:rPr lang="en-US" sz="850" dirty="0">
                <a:solidFill>
                  <a:srgbClr val="6B7280"/>
                </a:solidFill>
                <a:latin typeface="Calibri" pitchFamily="34" charset="0"/>
                <a:ea typeface="Calibri" pitchFamily="34" charset="-122"/>
                <a:cs typeface="Calibri" pitchFamily="34" charset="-120"/>
              </a:rPr>
              <a:t>remote work: can i work from home…</a:t>
            </a:r>
            <a:endParaRPr lang="en-US" sz="1000" dirty="0"/>
          </a:p>
        </p:txBody>
      </p:sp>
      <p:sp>
        <p:nvSpPr>
          <p:cNvPr id="24" name="Shape 22"/>
          <p:cNvSpPr/>
          <p:nvPr/>
        </p:nvSpPr>
        <p:spPr>
          <a:xfrm>
            <a:off x="2514600" y="2697480"/>
            <a:ext cx="2286000" cy="502920"/>
          </a:xfrm>
          <a:prstGeom prst="roundRect">
            <a:avLst>
              <a:gd name="adj" fmla="val 14545"/>
            </a:avLst>
          </a:prstGeom>
          <a:solidFill>
            <a:srgbClr val="F4F5F7"/>
          </a:solidFill>
          <a:ln w="9525">
            <a:solidFill>
              <a:srgbClr val="CBD5E1"/>
            </a:solidFill>
            <a:prstDash val="solid"/>
          </a:ln>
        </p:spPr>
      </p:sp>
      <p:sp>
        <p:nvSpPr>
          <p:cNvPr id="25" name="Text 23"/>
          <p:cNvSpPr txBox="1"/>
          <p:nvPr/>
        </p:nvSpPr>
        <p:spPr>
          <a:xfrm>
            <a:off x="2569464" y="2697480"/>
            <a:ext cx="2176272" cy="502920"/>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Formal restatement</a:t>
            </a:r>
            <a:endParaRPr lang="en-US" sz="1000" dirty="0"/>
          </a:p>
          <a:p>
            <a:pPr algn="ctr" indent="0" marL="0">
              <a:buNone/>
            </a:pPr>
            <a:r>
              <a:rPr lang="en-US" sz="850" dirty="0">
                <a:solidFill>
                  <a:srgbClr val="6B7280"/>
                </a:solidFill>
                <a:latin typeface="Calibri" pitchFamily="34" charset="0"/>
                <a:ea typeface="Calibri" pitchFamily="34" charset="-122"/>
                <a:cs typeface="Calibri" pitchFamily="34" charset="-120"/>
              </a:rPr>
              <a:t>What does the Remote Work policy say…</a:t>
            </a:r>
            <a:endParaRPr lang="en-US" sz="1000" dirty="0"/>
          </a:p>
        </p:txBody>
      </p:sp>
      <p:sp>
        <p:nvSpPr>
          <p:cNvPr id="26" name="Shape 24"/>
          <p:cNvSpPr/>
          <p:nvPr/>
        </p:nvSpPr>
        <p:spPr>
          <a:xfrm>
            <a:off x="2514600" y="3429000"/>
            <a:ext cx="2286000" cy="502920"/>
          </a:xfrm>
          <a:prstGeom prst="roundRect">
            <a:avLst>
              <a:gd name="adj" fmla="val 14545"/>
            </a:avLst>
          </a:prstGeom>
          <a:solidFill>
            <a:srgbClr val="F4F5F7"/>
          </a:solidFill>
          <a:ln w="9525">
            <a:solidFill>
              <a:srgbClr val="CBD5E1"/>
            </a:solidFill>
            <a:prstDash val="solid"/>
          </a:ln>
        </p:spPr>
      </p:sp>
      <p:sp>
        <p:nvSpPr>
          <p:cNvPr id="27" name="Text 25"/>
          <p:cNvSpPr txBox="1"/>
          <p:nvPr/>
        </p:nvSpPr>
        <p:spPr>
          <a:xfrm>
            <a:off x="2569464" y="3429000"/>
            <a:ext cx="2176272" cy="502920"/>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Keyword-only</a:t>
            </a:r>
            <a:endParaRPr lang="en-US" sz="1000" dirty="0"/>
          </a:p>
          <a:p>
            <a:pPr algn="ctr" indent="0" marL="0">
              <a:buNone/>
            </a:pPr>
            <a:r>
              <a:rPr lang="en-US" sz="850" dirty="0">
                <a:solidFill>
                  <a:srgbClr val="6B7280"/>
                </a:solidFill>
                <a:latin typeface="Calibri" pitchFamily="34" charset="0"/>
                <a:ea typeface="Calibri" pitchFamily="34" charset="-122"/>
                <a:cs typeface="Calibri" pitchFamily="34" charset="-120"/>
              </a:rPr>
              <a:t>work home friday</a:t>
            </a:r>
            <a:endParaRPr lang="en-US" sz="1000" dirty="0"/>
          </a:p>
        </p:txBody>
      </p:sp>
      <p:sp>
        <p:nvSpPr>
          <p:cNvPr id="28" name="Shape 26"/>
          <p:cNvSpPr/>
          <p:nvPr/>
        </p:nvSpPr>
        <p:spPr>
          <a:xfrm>
            <a:off x="5577840" y="1371600"/>
            <a:ext cx="3108960" cy="868680"/>
          </a:xfrm>
          <a:prstGeom prst="roundRect">
            <a:avLst>
              <a:gd name="adj" fmla="val 8421"/>
            </a:avLst>
          </a:prstGeom>
          <a:solidFill>
            <a:srgbClr val="F4F5F7"/>
          </a:solidFill>
          <a:ln w="9525">
            <a:solidFill>
              <a:srgbClr val="CBD5E1"/>
            </a:solidFill>
            <a:prstDash val="solid"/>
          </a:ln>
        </p:spPr>
      </p:sp>
      <p:sp>
        <p:nvSpPr>
          <p:cNvPr id="29" name="Text 27"/>
          <p:cNvSpPr txBox="1"/>
          <p:nvPr/>
        </p:nvSpPr>
        <p:spPr>
          <a:xfrm>
            <a:off x="5632704" y="1371600"/>
            <a:ext cx="2999232" cy="868680"/>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ourier New" pitchFamily="34" charset="0"/>
                <a:ea typeface="Courier New" pitchFamily="34" charset="-122"/>
                <a:cs typeface="Courier New" pitchFamily="34" charset="-120"/>
              </a:rPr>
              <a:t>manual_rrf</a:t>
            </a:r>
            <a:endParaRPr lang="en-US" sz="1000" dirty="0"/>
          </a:p>
          <a:p>
            <a:pPr algn="ctr" indent="0" marL="0">
              <a:buNone/>
            </a:pPr>
            <a:r>
              <a:rPr lang="en-US" sz="850" dirty="0">
                <a:solidFill>
                  <a:srgbClr val="6B7280"/>
                </a:solidFill>
                <a:latin typeface="Calibri" pitchFamily="34" charset="0"/>
                <a:ea typeface="Calibri" pitchFamily="34" charset="-122"/>
                <a:cs typeface="Calibri" pitchFamily="34" charset="-120"/>
              </a:rPr>
              <a:t>embed each → 4 searches → RRF → top-k (hit_count)</a:t>
            </a:r>
            <a:endParaRPr lang="en-US" sz="1000" dirty="0"/>
          </a:p>
        </p:txBody>
      </p:sp>
      <p:sp>
        <p:nvSpPr>
          <p:cNvPr id="30" name="Shape 28"/>
          <p:cNvSpPr/>
          <p:nvPr/>
        </p:nvSpPr>
        <p:spPr>
          <a:xfrm>
            <a:off x="5577840" y="2971800"/>
            <a:ext cx="3108960" cy="868680"/>
          </a:xfrm>
          <a:prstGeom prst="roundRect">
            <a:avLst>
              <a:gd name="adj" fmla="val 8421"/>
            </a:avLst>
          </a:prstGeom>
          <a:solidFill>
            <a:srgbClr val="F4F5F7"/>
          </a:solidFill>
          <a:ln w="9525">
            <a:solidFill>
              <a:srgbClr val="CBD5E1"/>
            </a:solidFill>
            <a:prstDash val="solid"/>
          </a:ln>
        </p:spPr>
      </p:sp>
      <p:sp>
        <p:nvSpPr>
          <p:cNvPr id="31" name="Text 29"/>
          <p:cNvSpPr txBox="1"/>
          <p:nvPr/>
        </p:nvSpPr>
        <p:spPr>
          <a:xfrm>
            <a:off x="5632704" y="2971800"/>
            <a:ext cx="2999232" cy="868680"/>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ourier New" pitchFamily="34" charset="0"/>
                <a:ea typeface="Courier New" pitchFamily="34" charset="-122"/>
                <a:cs typeface="Courier New" pitchFamily="34" charset="-120"/>
              </a:rPr>
              <a:t>manual_centroid</a:t>
            </a:r>
            <a:endParaRPr lang="en-US" sz="1000" dirty="0"/>
          </a:p>
          <a:p>
            <a:pPr algn="ctr" indent="0" marL="0">
              <a:buNone/>
            </a:pPr>
            <a:r>
              <a:rPr lang="en-US" sz="850" dirty="0">
                <a:solidFill>
                  <a:srgbClr val="6B7280"/>
                </a:solidFill>
                <a:latin typeface="Calibri" pitchFamily="34" charset="0"/>
                <a:ea typeface="Calibri" pitchFamily="34" charset="-122"/>
                <a:cs typeface="Calibri" pitchFamily="34" charset="-120"/>
              </a:rPr>
              <a:t>embed each → average (original ×2) → 1 search</a:t>
            </a:r>
            <a:endParaRPr lang="en-US" sz="1000" dirty="0"/>
          </a:p>
        </p:txBody>
      </p:sp>
      <p:sp>
        <p:nvSpPr>
          <p:cNvPr id="32" name="Text 30"/>
          <p:cNvSpPr txBox="1"/>
          <p:nvPr/>
        </p:nvSpPr>
        <p:spPr>
          <a:xfrm>
            <a:off x="457200" y="4206240"/>
            <a:ext cx="8229600" cy="256032"/>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Topic is detected from a keyword vocabulary; if none or several match, a generic restatement is used — never a guess.</a:t>
            </a:r>
            <a:endParaRPr lang="en-US" sz="950" dirty="0"/>
          </a:p>
        </p:txBody>
      </p:sp>
      <p:sp>
        <p:nvSpPr>
          <p:cNvPr id="33" name="Text 31"/>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Multi-Document RAG  ·  14</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RETRIEVAL · STRATEGY B</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LLM-based rewriting strategies</a:t>
            </a:r>
            <a:endParaRPr lang="en-US" sz="2800" dirty="0"/>
          </a:p>
        </p:txBody>
      </p:sp>
      <p:sp>
        <p:nvSpPr>
          <p:cNvPr id="4" name="Shape 2"/>
          <p:cNvSpPr/>
          <p:nvPr/>
        </p:nvSpPr>
        <p:spPr>
          <a:xfrm>
            <a:off x="457200" y="1280160"/>
            <a:ext cx="3977640" cy="1536192"/>
          </a:xfrm>
          <a:prstGeom prst="roundRect">
            <a:avLst>
              <a:gd name="adj" fmla="val 5952"/>
            </a:avLst>
          </a:prstGeom>
          <a:solidFill>
            <a:srgbClr val="F4F5F7"/>
          </a:solidFill>
          <a:ln w="9525">
            <a:solidFill>
              <a:srgbClr val="E5E7EB"/>
            </a:solidFill>
            <a:prstDash val="solid"/>
          </a:ln>
        </p:spPr>
      </p:sp>
      <p:sp>
        <p:nvSpPr>
          <p:cNvPr id="5" name="Shape 3"/>
          <p:cNvSpPr/>
          <p:nvPr/>
        </p:nvSpPr>
        <p:spPr>
          <a:xfrm>
            <a:off x="621792" y="1444752"/>
            <a:ext cx="420624" cy="420624"/>
          </a:xfrm>
          <a:prstGeom prst="ellipse">
            <a:avLst/>
          </a:prstGeom>
          <a:solidFill>
            <a:srgbClr val="FCA311"/>
          </a:solidFill>
          <a:ln w="12700">
            <a:solidFill>
              <a:srgbClr val="FCA311"/>
            </a:solidFill>
            <a:prstDash val="solid"/>
          </a:ln>
        </p:spPr>
      </p:sp>
      <p:pic>
        <p:nvPicPr>
          <p:cNvPr id="6" name="Image 0" descr="preencoded.png">    </p:cNvPr>
          <p:cNvPicPr>
            <a:picLocks noChangeAspect="1"/>
          </p:cNvPicPr>
          <p:nvPr/>
        </p:nvPicPr>
        <p:blipFill>
          <a:blip r:embed="rId1"/>
          <a:stretch>
            <a:fillRect/>
          </a:stretch>
        </p:blipFill>
        <p:spPr>
          <a:xfrm>
            <a:off x="722742" y="1545702"/>
            <a:ext cx="218724" cy="218724"/>
          </a:xfrm>
          <a:prstGeom prst="rect">
            <a:avLst/>
          </a:prstGeom>
        </p:spPr>
      </p:pic>
      <p:sp>
        <p:nvSpPr>
          <p:cNvPr id="7" name="Text 4"/>
          <p:cNvSpPr txBox="1"/>
          <p:nvPr/>
        </p:nvSpPr>
        <p:spPr>
          <a:xfrm>
            <a:off x="1143000" y="1426464"/>
            <a:ext cx="3108960" cy="457200"/>
          </a:xfrm>
          <a:prstGeom prst="rect">
            <a:avLst/>
          </a:prstGeom>
          <a:noFill/>
          <a:ln/>
        </p:spPr>
        <p:txBody>
          <a:bodyPr wrap="square" lIns="0" tIns="0" rIns="0" bIns="0" rtlCol="0" anchor="ctr"/>
          <a:lstStyle/>
          <a:p>
            <a:pPr indent="0" marL="0">
              <a:buNone/>
            </a:pPr>
            <a:r>
              <a:rPr lang="en-US" sz="1300" b="1" dirty="0">
                <a:solidFill>
                  <a:srgbClr val="14213D"/>
                </a:solidFill>
                <a:latin typeface="Courier New" pitchFamily="34" charset="0"/>
                <a:ea typeface="Courier New" pitchFamily="34" charset="-122"/>
                <a:cs typeface="Courier New" pitchFamily="34" charset="-120"/>
              </a:rPr>
              <a:t>llm_multi_query</a:t>
            </a:r>
            <a:endParaRPr lang="en-US" sz="1300" dirty="0"/>
          </a:p>
        </p:txBody>
      </p:sp>
      <p:sp>
        <p:nvSpPr>
          <p:cNvPr id="8" name="Text 5"/>
          <p:cNvSpPr txBox="1"/>
          <p:nvPr/>
        </p:nvSpPr>
        <p:spPr>
          <a:xfrm>
            <a:off x="621792" y="1901952"/>
            <a:ext cx="365760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Model writes 3 paraphrases; each is searched; RRF merges.</a:t>
            </a:r>
            <a:endParaRPr lang="en-US" sz="1050" dirty="0"/>
          </a:p>
        </p:txBody>
      </p:sp>
      <p:sp>
        <p:nvSpPr>
          <p:cNvPr id="9" name="Text 6"/>
          <p:cNvSpPr txBox="1"/>
          <p:nvPr/>
        </p:nvSpPr>
        <p:spPr>
          <a:xfrm>
            <a:off x="621792" y="2414016"/>
            <a:ext cx="3657600" cy="384048"/>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"WFH request for Friday" · "remote work policy Friday eligibility" · "work from home Friday approval guidelines"</a:t>
            </a:r>
            <a:endParaRPr lang="en-US" sz="950" dirty="0"/>
          </a:p>
        </p:txBody>
      </p:sp>
      <p:sp>
        <p:nvSpPr>
          <p:cNvPr id="10" name="Shape 7"/>
          <p:cNvSpPr/>
          <p:nvPr/>
        </p:nvSpPr>
        <p:spPr>
          <a:xfrm>
            <a:off x="4709160" y="1280160"/>
            <a:ext cx="3977640" cy="1536192"/>
          </a:xfrm>
          <a:prstGeom prst="roundRect">
            <a:avLst>
              <a:gd name="adj" fmla="val 5952"/>
            </a:avLst>
          </a:prstGeom>
          <a:solidFill>
            <a:srgbClr val="F4F5F7"/>
          </a:solidFill>
          <a:ln w="9525">
            <a:solidFill>
              <a:srgbClr val="E5E7EB"/>
            </a:solidFill>
            <a:prstDash val="solid"/>
          </a:ln>
        </p:spPr>
      </p:sp>
      <p:sp>
        <p:nvSpPr>
          <p:cNvPr id="11" name="Shape 8"/>
          <p:cNvSpPr/>
          <p:nvPr/>
        </p:nvSpPr>
        <p:spPr>
          <a:xfrm>
            <a:off x="4873752" y="1444752"/>
            <a:ext cx="420624" cy="420624"/>
          </a:xfrm>
          <a:prstGeom prst="ellipse">
            <a:avLst/>
          </a:prstGeom>
          <a:solidFill>
            <a:srgbClr val="FCA311"/>
          </a:solidFill>
          <a:ln w="12700">
            <a:solidFill>
              <a:srgbClr val="FCA311"/>
            </a:solidFill>
            <a:prstDash val="solid"/>
          </a:ln>
        </p:spPr>
      </p:sp>
      <p:pic>
        <p:nvPicPr>
          <p:cNvPr id="12" name="Image 1" descr="preencoded.png">    </p:cNvPr>
          <p:cNvPicPr>
            <a:picLocks noChangeAspect="1"/>
          </p:cNvPicPr>
          <p:nvPr/>
        </p:nvPicPr>
        <p:blipFill>
          <a:blip r:embed="rId2"/>
          <a:stretch>
            <a:fillRect/>
          </a:stretch>
        </p:blipFill>
        <p:spPr>
          <a:xfrm>
            <a:off x="4974702" y="1545702"/>
            <a:ext cx="218724" cy="218724"/>
          </a:xfrm>
          <a:prstGeom prst="rect">
            <a:avLst/>
          </a:prstGeom>
        </p:spPr>
      </p:pic>
      <p:sp>
        <p:nvSpPr>
          <p:cNvPr id="13" name="Text 9"/>
          <p:cNvSpPr txBox="1"/>
          <p:nvPr/>
        </p:nvSpPr>
        <p:spPr>
          <a:xfrm>
            <a:off x="5394960" y="1426464"/>
            <a:ext cx="3108960" cy="457200"/>
          </a:xfrm>
          <a:prstGeom prst="rect">
            <a:avLst/>
          </a:prstGeom>
          <a:noFill/>
          <a:ln/>
        </p:spPr>
        <p:txBody>
          <a:bodyPr wrap="square" lIns="0" tIns="0" rIns="0" bIns="0" rtlCol="0" anchor="ctr"/>
          <a:lstStyle/>
          <a:p>
            <a:pPr indent="0" marL="0">
              <a:buNone/>
            </a:pPr>
            <a:r>
              <a:rPr lang="en-US" sz="1300" b="1" dirty="0">
                <a:solidFill>
                  <a:srgbClr val="14213D"/>
                </a:solidFill>
                <a:latin typeface="Courier New" pitchFamily="34" charset="0"/>
                <a:ea typeface="Courier New" pitchFamily="34" charset="-122"/>
                <a:cs typeface="Courier New" pitchFamily="34" charset="-120"/>
              </a:rPr>
              <a:t>llm_hyde</a:t>
            </a:r>
            <a:endParaRPr lang="en-US" sz="1300" dirty="0"/>
          </a:p>
        </p:txBody>
      </p:sp>
      <p:sp>
        <p:nvSpPr>
          <p:cNvPr id="14" name="Text 10"/>
          <p:cNvSpPr txBox="1"/>
          <p:nvPr/>
        </p:nvSpPr>
        <p:spPr>
          <a:xfrm>
            <a:off x="4873752" y="1901952"/>
            <a:ext cx="365760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HyDE: the model drafts a plausible answer passage; that draft is embedded — answers resemble documents.</a:t>
            </a:r>
            <a:endParaRPr lang="en-US" sz="1050" dirty="0"/>
          </a:p>
        </p:txBody>
      </p:sp>
      <p:sp>
        <p:nvSpPr>
          <p:cNvPr id="15" name="Text 11"/>
          <p:cNvSpPr txBox="1"/>
          <p:nvPr/>
        </p:nvSpPr>
        <p:spPr>
          <a:xfrm>
            <a:off x="4873752" y="2414016"/>
            <a:ext cx="3657600" cy="384048"/>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"Employees may carry forward a maximum of five (5) unused vacation days…"</a:t>
            </a:r>
            <a:endParaRPr lang="en-US" sz="950" dirty="0"/>
          </a:p>
        </p:txBody>
      </p:sp>
      <p:sp>
        <p:nvSpPr>
          <p:cNvPr id="16" name="Shape 12"/>
          <p:cNvSpPr/>
          <p:nvPr/>
        </p:nvSpPr>
        <p:spPr>
          <a:xfrm>
            <a:off x="457200" y="2944368"/>
            <a:ext cx="3977640" cy="1536192"/>
          </a:xfrm>
          <a:prstGeom prst="roundRect">
            <a:avLst>
              <a:gd name="adj" fmla="val 5952"/>
            </a:avLst>
          </a:prstGeom>
          <a:solidFill>
            <a:srgbClr val="F4F5F7"/>
          </a:solidFill>
          <a:ln w="9525">
            <a:solidFill>
              <a:srgbClr val="E5E7EB"/>
            </a:solidFill>
            <a:prstDash val="solid"/>
          </a:ln>
        </p:spPr>
      </p:sp>
      <p:sp>
        <p:nvSpPr>
          <p:cNvPr id="17" name="Shape 13"/>
          <p:cNvSpPr/>
          <p:nvPr/>
        </p:nvSpPr>
        <p:spPr>
          <a:xfrm>
            <a:off x="621792" y="3108960"/>
            <a:ext cx="420624" cy="420624"/>
          </a:xfrm>
          <a:prstGeom prst="ellipse">
            <a:avLst/>
          </a:prstGeom>
          <a:solidFill>
            <a:srgbClr val="FCA311"/>
          </a:solidFill>
          <a:ln w="12700">
            <a:solidFill>
              <a:srgbClr val="FCA311"/>
            </a:solidFill>
            <a:prstDash val="solid"/>
          </a:ln>
        </p:spPr>
      </p:sp>
      <p:pic>
        <p:nvPicPr>
          <p:cNvPr id="18" name="Image 2" descr="preencoded.png">    </p:cNvPr>
          <p:cNvPicPr>
            <a:picLocks noChangeAspect="1"/>
          </p:cNvPicPr>
          <p:nvPr/>
        </p:nvPicPr>
        <p:blipFill>
          <a:blip r:embed="rId3"/>
          <a:stretch>
            <a:fillRect/>
          </a:stretch>
        </p:blipFill>
        <p:spPr>
          <a:xfrm>
            <a:off x="722742" y="3209910"/>
            <a:ext cx="218724" cy="218724"/>
          </a:xfrm>
          <a:prstGeom prst="rect">
            <a:avLst/>
          </a:prstGeom>
        </p:spPr>
      </p:pic>
      <p:sp>
        <p:nvSpPr>
          <p:cNvPr id="19" name="Text 14"/>
          <p:cNvSpPr txBox="1"/>
          <p:nvPr/>
        </p:nvSpPr>
        <p:spPr>
          <a:xfrm>
            <a:off x="1143000" y="3090672"/>
            <a:ext cx="3108960" cy="457200"/>
          </a:xfrm>
          <a:prstGeom prst="rect">
            <a:avLst/>
          </a:prstGeom>
          <a:noFill/>
          <a:ln/>
        </p:spPr>
        <p:txBody>
          <a:bodyPr wrap="square" lIns="0" tIns="0" rIns="0" bIns="0" rtlCol="0" anchor="ctr"/>
          <a:lstStyle/>
          <a:p>
            <a:pPr indent="0" marL="0">
              <a:buNone/>
            </a:pPr>
            <a:r>
              <a:rPr lang="en-US" sz="1300" b="1" dirty="0">
                <a:solidFill>
                  <a:srgbClr val="14213D"/>
                </a:solidFill>
                <a:latin typeface="Courier New" pitchFamily="34" charset="0"/>
                <a:ea typeface="Courier New" pitchFamily="34" charset="-122"/>
                <a:cs typeface="Courier New" pitchFamily="34" charset="-120"/>
              </a:rPr>
              <a:t>llm_step_back</a:t>
            </a:r>
            <a:endParaRPr lang="en-US" sz="1300" dirty="0"/>
          </a:p>
        </p:txBody>
      </p:sp>
      <p:sp>
        <p:nvSpPr>
          <p:cNvPr id="20" name="Text 15"/>
          <p:cNvSpPr txBox="1"/>
          <p:nvPr/>
        </p:nvSpPr>
        <p:spPr>
          <a:xfrm>
            <a:off x="621792" y="3566160"/>
            <a:ext cx="365760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Model writes a broader question to pull in background context; fused with the original.</a:t>
            </a:r>
            <a:endParaRPr lang="en-US" sz="1050" dirty="0"/>
          </a:p>
        </p:txBody>
      </p:sp>
      <p:sp>
        <p:nvSpPr>
          <p:cNvPr id="21" name="Text 16"/>
          <p:cNvSpPr txBox="1"/>
          <p:nvPr/>
        </p:nvSpPr>
        <p:spPr>
          <a:xfrm>
            <a:off x="621792" y="4078224"/>
            <a:ext cx="3657600" cy="384048"/>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"Who is Fatima Noor's manager?" → "What are the reporting lines for Fatima Noor?"</a:t>
            </a:r>
            <a:endParaRPr lang="en-US" sz="950" dirty="0"/>
          </a:p>
        </p:txBody>
      </p:sp>
      <p:sp>
        <p:nvSpPr>
          <p:cNvPr id="22" name="Shape 17"/>
          <p:cNvSpPr/>
          <p:nvPr/>
        </p:nvSpPr>
        <p:spPr>
          <a:xfrm>
            <a:off x="4709160" y="2944368"/>
            <a:ext cx="3977640" cy="1536192"/>
          </a:xfrm>
          <a:prstGeom prst="roundRect">
            <a:avLst>
              <a:gd name="adj" fmla="val 5952"/>
            </a:avLst>
          </a:prstGeom>
          <a:solidFill>
            <a:srgbClr val="F4F5F7"/>
          </a:solidFill>
          <a:ln w="9525">
            <a:solidFill>
              <a:srgbClr val="E5E7EB"/>
            </a:solidFill>
            <a:prstDash val="solid"/>
          </a:ln>
        </p:spPr>
      </p:sp>
      <p:sp>
        <p:nvSpPr>
          <p:cNvPr id="23" name="Shape 18"/>
          <p:cNvSpPr/>
          <p:nvPr/>
        </p:nvSpPr>
        <p:spPr>
          <a:xfrm>
            <a:off x="4873752" y="3108960"/>
            <a:ext cx="420624" cy="420624"/>
          </a:xfrm>
          <a:prstGeom prst="ellipse">
            <a:avLst/>
          </a:prstGeom>
          <a:solidFill>
            <a:srgbClr val="FCA311"/>
          </a:solidFill>
          <a:ln w="12700">
            <a:solidFill>
              <a:srgbClr val="FCA311"/>
            </a:solidFill>
            <a:prstDash val="solid"/>
          </a:ln>
        </p:spPr>
      </p:sp>
      <p:pic>
        <p:nvPicPr>
          <p:cNvPr id="24" name="Image 3" descr="preencoded.png">    </p:cNvPr>
          <p:cNvPicPr>
            <a:picLocks noChangeAspect="1"/>
          </p:cNvPicPr>
          <p:nvPr/>
        </p:nvPicPr>
        <p:blipFill>
          <a:blip r:embed="rId4"/>
          <a:stretch>
            <a:fillRect/>
          </a:stretch>
        </p:blipFill>
        <p:spPr>
          <a:xfrm>
            <a:off x="4974702" y="3209910"/>
            <a:ext cx="218724" cy="218724"/>
          </a:xfrm>
          <a:prstGeom prst="rect">
            <a:avLst/>
          </a:prstGeom>
        </p:spPr>
      </p:pic>
      <p:sp>
        <p:nvSpPr>
          <p:cNvPr id="25" name="Text 19"/>
          <p:cNvSpPr txBox="1"/>
          <p:nvPr/>
        </p:nvSpPr>
        <p:spPr>
          <a:xfrm>
            <a:off x="5394960" y="3090672"/>
            <a:ext cx="3108960" cy="457200"/>
          </a:xfrm>
          <a:prstGeom prst="rect">
            <a:avLst/>
          </a:prstGeom>
          <a:noFill/>
          <a:ln/>
        </p:spPr>
        <p:txBody>
          <a:bodyPr wrap="square" lIns="0" tIns="0" rIns="0" bIns="0" rtlCol="0" anchor="ctr"/>
          <a:lstStyle/>
          <a:p>
            <a:pPr indent="0" marL="0">
              <a:buNone/>
            </a:pPr>
            <a:r>
              <a:rPr lang="en-US" sz="1300" b="1" dirty="0">
                <a:solidFill>
                  <a:srgbClr val="14213D"/>
                </a:solidFill>
                <a:latin typeface="Courier New" pitchFamily="34" charset="0"/>
                <a:ea typeface="Courier New" pitchFamily="34" charset="-122"/>
                <a:cs typeface="Courier New" pitchFamily="34" charset="-120"/>
              </a:rPr>
              <a:t>hybrid</a:t>
            </a:r>
            <a:endParaRPr lang="en-US" sz="1300" dirty="0"/>
          </a:p>
        </p:txBody>
      </p:sp>
      <p:sp>
        <p:nvSpPr>
          <p:cNvPr id="26" name="Text 20"/>
          <p:cNvSpPr txBox="1"/>
          <p:nvPr/>
        </p:nvSpPr>
        <p:spPr>
          <a:xfrm>
            <a:off x="4873752" y="3566160"/>
            <a:ext cx="365760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Manual rewrites + LLM paraphrases, all fused with RRF. Most recall, most searches (8 phrasings).</a:t>
            </a:r>
            <a:endParaRPr lang="en-US" sz="1050" dirty="0"/>
          </a:p>
        </p:txBody>
      </p:sp>
      <p:sp>
        <p:nvSpPr>
          <p:cNvPr id="27" name="Text 21"/>
          <p:cNvSpPr txBox="1"/>
          <p:nvPr/>
        </p:nvSpPr>
        <p:spPr>
          <a:xfrm>
            <a:off x="4873752" y="4078224"/>
            <a:ext cx="3657600" cy="384048"/>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Used for hard aggregate questions such as department head-counts</a:t>
            </a:r>
            <a:endParaRPr lang="en-US" sz="950" dirty="0"/>
          </a:p>
        </p:txBody>
      </p:sp>
      <p:sp>
        <p:nvSpPr>
          <p:cNvPr id="28" name="Text 22"/>
          <p:cNvSpPr txBox="1"/>
          <p:nvPr/>
        </p:nvSpPr>
        <p:spPr>
          <a:xfrm>
            <a:off x="457200" y="4572000"/>
            <a:ext cx="8229600" cy="22860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Rules for every rewriter: preserve meaning · never answer the question · keep the original query in the set · fall back to manual rewrites if the model call fails.</a:t>
            </a:r>
            <a:endParaRPr lang="en-US" sz="1000" dirty="0"/>
          </a:p>
        </p:txBody>
      </p:sp>
      <p:sp>
        <p:nvSpPr>
          <p:cNvPr id="29" name="Text 23"/>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Multi-Document RAG  ·  15</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RETRIEVAL · CHOOSING A STRATEGY</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Which rewriting strategy, when?</a:t>
            </a:r>
            <a:endParaRPr lang="en-US" sz="2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194560"/>
                <a:gridCol w="603504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Strategy</a:t>
                      </a:r>
                      <a:endParaRPr lang="en-US" sz="12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Use it when</a:t>
                      </a:r>
                      <a:endParaRPr lang="en-US" sz="12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r>
              <a:tr h="384048">
                <a:tc>
                  <a:txBody>
                    <a:bodyPr/>
                    <a:lstStyle/>
                    <a:p>
                      <a:pPr indent="0" marL="0">
                        <a:buNone/>
                      </a:pPr>
                      <a:r>
                        <a:rPr lang="en-US" sz="1200" b="1" dirty="0">
                          <a:solidFill>
                            <a:srgbClr val="14213D"/>
                          </a:solidFill>
                          <a:latin typeface="Courier New" pitchFamily="34" charset="0"/>
                          <a:ea typeface="Courier New" pitchFamily="34" charset="-122"/>
                          <a:cs typeface="Courier New" pitchFamily="34" charset="-120"/>
                        </a:rPr>
                        <a:t>none</a:t>
                      </a:r>
                      <a:endParaRPr lang="en-US" sz="1200" dirty="0">
                        <a:latin typeface="Courier New" charset="0"/>
                        <a:ea typeface="Courier New" charset="0"/>
                        <a:cs typeface="Courier New"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Benchmarks; clearly phrased questions</a:t>
                      </a:r>
                      <a:endParaRPr lang="en-US" sz="12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84048">
                <a:tc>
                  <a:txBody>
                    <a:bodyPr/>
                    <a:lstStyle/>
                    <a:p>
                      <a:pPr indent="0" marL="0">
                        <a:buNone/>
                      </a:pPr>
                      <a:r>
                        <a:rPr lang="en-US" sz="1200" b="1" dirty="0">
                          <a:solidFill>
                            <a:srgbClr val="14213D"/>
                          </a:solidFill>
                          <a:latin typeface="Courier New" pitchFamily="34" charset="0"/>
                          <a:ea typeface="Courier New" pitchFamily="34" charset="-122"/>
                          <a:cs typeface="Courier New" pitchFamily="34" charset="-120"/>
                        </a:rPr>
                        <a:t>manual_rrf  (default)</a:t>
                      </a:r>
                      <a:endParaRPr lang="en-US" sz="1200" dirty="0">
                        <a:latin typeface="Courier New" charset="0"/>
                        <a:ea typeface="Courier New" charset="0"/>
                        <a:cs typeface="Courier New"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Everyday questions in a known domain; no API budget</a:t>
                      </a:r>
                      <a:endParaRPr lang="en-US" sz="12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r>
              <a:tr h="384048">
                <a:tc>
                  <a:txBody>
                    <a:bodyPr/>
                    <a:lstStyle/>
                    <a:p>
                      <a:pPr indent="0" marL="0">
                        <a:buNone/>
                      </a:pPr>
                      <a:r>
                        <a:rPr lang="en-US" sz="1200" b="1" dirty="0">
                          <a:solidFill>
                            <a:srgbClr val="14213D"/>
                          </a:solidFill>
                          <a:latin typeface="Courier New" pitchFamily="34" charset="0"/>
                          <a:ea typeface="Courier New" pitchFamily="34" charset="-122"/>
                          <a:cs typeface="Courier New" pitchFamily="34" charset="-120"/>
                        </a:rPr>
                        <a:t>manual_centroid</a:t>
                      </a:r>
                      <a:endParaRPr lang="en-US" sz="1200" dirty="0">
                        <a:latin typeface="Courier New" charset="0"/>
                        <a:ea typeface="Courier New" charset="0"/>
                        <a:cs typeface="Courier New"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Speed; many rewrites that say the same thing</a:t>
                      </a:r>
                      <a:endParaRPr lang="en-US" sz="12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84048">
                <a:tc>
                  <a:txBody>
                    <a:bodyPr/>
                    <a:lstStyle/>
                    <a:p>
                      <a:pPr indent="0" marL="0">
                        <a:buNone/>
                      </a:pPr>
                      <a:r>
                        <a:rPr lang="en-US" sz="1200" b="1" dirty="0">
                          <a:solidFill>
                            <a:srgbClr val="14213D"/>
                          </a:solidFill>
                          <a:latin typeface="Courier New" pitchFamily="34" charset="0"/>
                          <a:ea typeface="Courier New" pitchFamily="34" charset="-122"/>
                          <a:cs typeface="Courier New" pitchFamily="34" charset="-120"/>
                        </a:rPr>
                        <a:t>llm_multi_query</a:t>
                      </a:r>
                      <a:endParaRPr lang="en-US" sz="1200" dirty="0">
                        <a:latin typeface="Courier New" charset="0"/>
                        <a:ea typeface="Courier New" charset="0"/>
                        <a:cs typeface="Courier New"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Unpredictable phrasing; topics outside the keyword list</a:t>
                      </a:r>
                      <a:endParaRPr lang="en-US" sz="12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r>
              <a:tr h="384048">
                <a:tc>
                  <a:txBody>
                    <a:bodyPr/>
                    <a:lstStyle/>
                    <a:p>
                      <a:pPr indent="0" marL="0">
                        <a:buNone/>
                      </a:pPr>
                      <a:r>
                        <a:rPr lang="en-US" sz="1200" b="1" dirty="0">
                          <a:solidFill>
                            <a:srgbClr val="14213D"/>
                          </a:solidFill>
                          <a:latin typeface="Courier New" pitchFamily="34" charset="0"/>
                          <a:ea typeface="Courier New" pitchFamily="34" charset="-122"/>
                          <a:cs typeface="Courier New" pitchFamily="34" charset="-120"/>
                        </a:rPr>
                        <a:t>llm_hyde</a:t>
                      </a:r>
                      <a:endParaRPr lang="en-US" sz="1200" dirty="0">
                        <a:latin typeface="Courier New" charset="0"/>
                        <a:ea typeface="Courier New" charset="0"/>
                        <a:cs typeface="Courier New"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Answers with distinctive wording — policy sentences, definitions</a:t>
                      </a:r>
                      <a:endParaRPr lang="en-US" sz="12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84048">
                <a:tc>
                  <a:txBody>
                    <a:bodyPr/>
                    <a:lstStyle/>
                    <a:p>
                      <a:pPr indent="0" marL="0">
                        <a:buNone/>
                      </a:pPr>
                      <a:r>
                        <a:rPr lang="en-US" sz="1200" b="1" dirty="0">
                          <a:solidFill>
                            <a:srgbClr val="14213D"/>
                          </a:solidFill>
                          <a:latin typeface="Courier New" pitchFamily="34" charset="0"/>
                          <a:ea typeface="Courier New" pitchFamily="34" charset="-122"/>
                          <a:cs typeface="Courier New" pitchFamily="34" charset="-120"/>
                        </a:rPr>
                        <a:t>llm_step_back</a:t>
                      </a:r>
                      <a:endParaRPr lang="en-US" sz="1200" dirty="0">
                        <a:latin typeface="Courier New" charset="0"/>
                        <a:ea typeface="Courier New" charset="0"/>
                        <a:cs typeface="Courier New"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Narrow factual lookups that need surrounding context</a:t>
                      </a:r>
                      <a:endParaRPr lang="en-US" sz="12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r>
              <a:tr h="384048">
                <a:tc>
                  <a:txBody>
                    <a:bodyPr/>
                    <a:lstStyle/>
                    <a:p>
                      <a:pPr indent="0" marL="0">
                        <a:buNone/>
                      </a:pPr>
                      <a:r>
                        <a:rPr lang="en-US" sz="1200" b="1" dirty="0">
                          <a:solidFill>
                            <a:srgbClr val="14213D"/>
                          </a:solidFill>
                          <a:latin typeface="Courier New" pitchFamily="34" charset="0"/>
                          <a:ea typeface="Courier New" pitchFamily="34" charset="-122"/>
                          <a:cs typeface="Courier New" pitchFamily="34" charset="-120"/>
                        </a:rPr>
                        <a:t>hybrid</a:t>
                      </a:r>
                      <a:endParaRPr lang="en-US" sz="1200" dirty="0">
                        <a:latin typeface="Courier New" charset="0"/>
                        <a:ea typeface="Courier New" charset="0"/>
                        <a:cs typeface="Courier New"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Hard or aggregate questions; maximum recall</a:t>
                      </a:r>
                      <a:endParaRPr lang="en-US" sz="120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bl>
          </a:graphicData>
        </a:graphic>
      </p:graphicFrame>
      <p:sp>
        <p:nvSpPr>
          <p:cNvPr id="5" name="Text 2"/>
          <p:cNvSpPr txBox="1"/>
          <p:nvPr/>
        </p:nvSpPr>
        <p:spPr>
          <a:xfrm>
            <a:off x="457200" y="4480560"/>
            <a:ext cx="82296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Switch with --strategy &lt;name&gt; or /strategy &lt;name&gt;  ·  LLM strategies fall back to manual_rrf if the call fails</a:t>
            </a:r>
            <a:endParaRPr lang="en-US" sz="1000" dirty="0"/>
          </a:p>
        </p:txBody>
      </p:sp>
      <p:sp>
        <p:nvSpPr>
          <p:cNvPr id="6" name="Text 3"/>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Multi-Document RAG  ·  16</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RETRIEVAL · FUSION</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Reciprocal Rank Fusion (RRF)</a:t>
            </a:r>
            <a:endParaRPr lang="en-US" sz="2800" dirty="0"/>
          </a:p>
        </p:txBody>
      </p:sp>
      <p:sp>
        <p:nvSpPr>
          <p:cNvPr id="4" name="Shape 2"/>
          <p:cNvSpPr/>
          <p:nvPr/>
        </p:nvSpPr>
        <p:spPr>
          <a:xfrm>
            <a:off x="457200" y="1280160"/>
            <a:ext cx="4023360" cy="548640"/>
          </a:xfrm>
          <a:prstGeom prst="roundRect">
            <a:avLst>
              <a:gd name="adj" fmla="val 13333"/>
            </a:avLst>
          </a:prstGeom>
          <a:solidFill>
            <a:srgbClr val="FFF4E0"/>
          </a:solidFill>
          <a:ln w="12700">
            <a:solidFill>
              <a:srgbClr val="FFF4E0"/>
            </a:solidFill>
            <a:prstDash val="solid"/>
          </a:ln>
        </p:spPr>
      </p:sp>
      <p:sp>
        <p:nvSpPr>
          <p:cNvPr id="5" name="Text 3"/>
          <p:cNvSpPr txBox="1"/>
          <p:nvPr/>
        </p:nvSpPr>
        <p:spPr>
          <a:xfrm>
            <a:off x="548640" y="1280160"/>
            <a:ext cx="3840480" cy="548640"/>
          </a:xfrm>
          <a:prstGeom prst="rect">
            <a:avLst/>
          </a:prstGeom>
          <a:noFill/>
          <a:ln/>
        </p:spPr>
        <p:txBody>
          <a:bodyPr wrap="square" lIns="0" tIns="0" rIns="0" bIns="0" rtlCol="0" anchor="ctr"/>
          <a:lstStyle/>
          <a:p>
            <a:pPr algn="ctr" indent="0" marL="0">
              <a:buNone/>
            </a:pPr>
            <a:r>
              <a:rPr lang="en-US" sz="1500" b="1" dirty="0">
                <a:solidFill>
                  <a:srgbClr val="14213D"/>
                </a:solidFill>
                <a:latin typeface="Cambria" pitchFamily="34" charset="0"/>
                <a:ea typeface="Cambria" pitchFamily="34" charset="-122"/>
                <a:cs typeface="Cambria" pitchFamily="34" charset="-120"/>
              </a:rPr>
              <a:t>RRF(d) = Σ  1 / (k + rank_q(d))     k = 60</a:t>
            </a:r>
            <a:endParaRPr lang="en-US" sz="1500" dirty="0"/>
          </a:p>
        </p:txBody>
      </p:sp>
      <p:sp>
        <p:nvSpPr>
          <p:cNvPr id="6" name="Text 4"/>
          <p:cNvSpPr txBox="1"/>
          <p:nvPr/>
        </p:nvSpPr>
        <p:spPr>
          <a:xfrm>
            <a:off x="457200" y="1920240"/>
            <a:ext cx="4023360" cy="228600"/>
          </a:xfrm>
          <a:prstGeom prst="rect">
            <a:avLst/>
          </a:prstGeom>
          <a:noFill/>
          <a:ln/>
        </p:spPr>
        <p:txBody>
          <a:bodyPr wrap="square" lIns="0" tIns="0" rIns="0" bIns="0" rtlCol="0" anchor="ctr"/>
          <a:lstStyle/>
          <a:p>
            <a:pPr indent="0" marL="0">
              <a:buNone/>
            </a:pPr>
            <a:r>
              <a:rPr lang="en-US" sz="1000" b="1" dirty="0">
                <a:solidFill>
                  <a:srgbClr val="14213D"/>
                </a:solidFill>
                <a:latin typeface="Calibri" pitchFamily="34" charset="0"/>
                <a:ea typeface="Calibri" pitchFamily="34" charset="-122"/>
                <a:cs typeface="Calibri" pitchFamily="34" charset="-120"/>
              </a:rPr>
              <a:t>Real run — "can i wfh fri?": top 5 of each phrasing's list (10 fetched)</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2176272"/>
          <a:ext cx="4023360" cy="914400"/>
        </p:xfrm>
        <a:graphic>
          <a:graphicData uri="http://schemas.openxmlformats.org/drawingml/2006/table">
            <a:tbl>
              <a:tblPr/>
              <a:tblGrid>
                <a:gridCol w="365760"/>
                <a:gridCol w="777240"/>
                <a:gridCol w="731520"/>
                <a:gridCol w="731520"/>
                <a:gridCol w="731520"/>
                <a:gridCol w="685800"/>
              </a:tblGrid>
              <a:tr h="246888">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25400" marR="25400" marT="25400" marB="254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1 original</a:t>
                      </a:r>
                      <a:endParaRPr lang="en-US" sz="850" dirty="0">
                        <a:latin typeface="Calibri" charset="0"/>
                        <a:ea typeface="Calibri" charset="0"/>
                        <a:cs typeface="Calibri" charset="0"/>
                      </a:endParaRPr>
                    </a:p>
                  </a:txBody>
                  <a:tcPr marL="25400" marR="25400" marT="25400" marB="254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2 expanded</a:t>
                      </a:r>
                      <a:endParaRPr lang="en-US" sz="850" dirty="0">
                        <a:latin typeface="Calibri" charset="0"/>
                        <a:ea typeface="Calibri" charset="0"/>
                        <a:cs typeface="Calibri" charset="0"/>
                      </a:endParaRPr>
                    </a:p>
                  </a:txBody>
                  <a:tcPr marL="25400" marR="25400" marT="25400" marB="254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3 anchored</a:t>
                      </a:r>
                      <a:endParaRPr lang="en-US" sz="850" dirty="0">
                        <a:latin typeface="Calibri" charset="0"/>
                        <a:ea typeface="Calibri" charset="0"/>
                        <a:cs typeface="Calibri" charset="0"/>
                      </a:endParaRPr>
                    </a:p>
                  </a:txBody>
                  <a:tcPr marL="25400" marR="25400" marT="25400" marB="254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4 formal</a:t>
                      </a:r>
                      <a:endParaRPr lang="en-US" sz="850" dirty="0">
                        <a:latin typeface="Calibri" charset="0"/>
                        <a:ea typeface="Calibri" charset="0"/>
                        <a:cs typeface="Calibri" charset="0"/>
                      </a:endParaRPr>
                    </a:p>
                  </a:txBody>
                  <a:tcPr marL="25400" marR="25400" marT="25400" marB="254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5 keywords</a:t>
                      </a:r>
                      <a:endParaRPr lang="en-US" sz="850" dirty="0">
                        <a:latin typeface="Calibri" charset="0"/>
                        <a:ea typeface="Calibri" charset="0"/>
                        <a:cs typeface="Calibri" charset="0"/>
                      </a:endParaRPr>
                    </a:p>
                  </a:txBody>
                  <a:tcPr marL="25400" marR="25400" marT="25400" marB="254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r>
              <a:tr h="246888">
                <a:tc>
                  <a:txBody>
                    <a:bodyPr/>
                    <a:lstStyle/>
                    <a:p>
                      <a:pPr algn="ctr" indent="0" marL="0">
                        <a:buNone/>
                      </a:pPr>
                      <a:r>
                        <a:rPr lang="en-US" sz="850" dirty="0">
                          <a:solidFill>
                            <a:srgbClr val="1F2937"/>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marL="25400" marR="25400" marT="25400" marB="254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850" dirty="0">
                          <a:solidFill>
                            <a:srgbClr val="1F2937"/>
                          </a:solidFill>
                          <a:latin typeface="Calibri" pitchFamily="34" charset="0"/>
                          <a:ea typeface="Calibri" pitchFamily="34" charset="-122"/>
                          <a:cs typeface="Calibri" pitchFamily="34" charset="-120"/>
                        </a:rPr>
                        <a:t>HR row 15</a:t>
                      </a:r>
                      <a:endParaRPr lang="en-US" sz="850" dirty="0">
                        <a:latin typeface="Calibri" charset="0"/>
                        <a:ea typeface="Calibri" charset="0"/>
                        <a:cs typeface="Calibri" charset="0"/>
                      </a:endParaRPr>
                    </a:p>
                  </a:txBody>
                  <a:tcPr marL="25400" marR="25400" marT="25400" marB="254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850" b="1" dirty="0">
                          <a:solidFill>
                            <a:srgbClr val="14213D"/>
                          </a:solidFill>
                          <a:latin typeface="Calibri" pitchFamily="34" charset="0"/>
                          <a:ea typeface="Calibri" pitchFamily="34" charset="-122"/>
                          <a:cs typeface="Calibri" pitchFamily="34" charset="-120"/>
                        </a:rPr>
                        <a:t>FAQ #6</a:t>
                      </a:r>
                      <a:endParaRPr lang="en-US" sz="850" dirty="0">
                        <a:latin typeface="Calibri" charset="0"/>
                        <a:ea typeface="Calibri" charset="0"/>
                        <a:cs typeface="Calibri" charset="0"/>
                      </a:endParaRPr>
                    </a:p>
                  </a:txBody>
                  <a:tcPr marL="25400" marR="25400" marT="25400" marB="254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850" b="1" dirty="0">
                          <a:solidFill>
                            <a:srgbClr val="14213D"/>
                          </a:solidFill>
                          <a:latin typeface="Calibri" pitchFamily="34" charset="0"/>
                          <a:ea typeface="Calibri" pitchFamily="34" charset="-122"/>
                          <a:cs typeface="Calibri" pitchFamily="34" charset="-120"/>
                        </a:rPr>
                        <a:t>FAQ #6</a:t>
                      </a:r>
                      <a:endParaRPr lang="en-US" sz="850" dirty="0">
                        <a:latin typeface="Calibri" charset="0"/>
                        <a:ea typeface="Calibri" charset="0"/>
                        <a:cs typeface="Calibri" charset="0"/>
                      </a:endParaRPr>
                    </a:p>
                  </a:txBody>
                  <a:tcPr marL="25400" marR="25400" marT="25400" marB="254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850" b="1" dirty="0">
                          <a:solidFill>
                            <a:srgbClr val="14213D"/>
                          </a:solidFill>
                          <a:latin typeface="Calibri" pitchFamily="34" charset="0"/>
                          <a:ea typeface="Calibri" pitchFamily="34" charset="-122"/>
                          <a:cs typeface="Calibri" pitchFamily="34" charset="-120"/>
                        </a:rPr>
                        <a:t>FAQ #6</a:t>
                      </a:r>
                      <a:endParaRPr lang="en-US" sz="850" dirty="0">
                        <a:latin typeface="Calibri" charset="0"/>
                        <a:ea typeface="Calibri" charset="0"/>
                        <a:cs typeface="Calibri" charset="0"/>
                      </a:endParaRPr>
                    </a:p>
                  </a:txBody>
                  <a:tcPr marL="25400" marR="25400" marT="25400" marB="254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850" b="1" dirty="0">
                          <a:solidFill>
                            <a:srgbClr val="14213D"/>
                          </a:solidFill>
                          <a:latin typeface="Calibri" pitchFamily="34" charset="0"/>
                          <a:ea typeface="Calibri" pitchFamily="34" charset="-122"/>
                          <a:cs typeface="Calibri" pitchFamily="34" charset="-120"/>
                        </a:rPr>
                        <a:t>FAQ #6</a:t>
                      </a:r>
                      <a:endParaRPr lang="en-US" sz="850" dirty="0">
                        <a:latin typeface="Calibri" charset="0"/>
                        <a:ea typeface="Calibri" charset="0"/>
                        <a:cs typeface="Calibri" charset="0"/>
                      </a:endParaRPr>
                    </a:p>
                  </a:txBody>
                  <a:tcPr marL="25400" marR="25400" marT="25400" marB="254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46888">
                <a:tc>
                  <a:txBody>
                    <a:bodyPr/>
                    <a:lstStyle/>
                    <a:p>
                      <a:pPr algn="ctr" indent="0" marL="0">
                        <a:buNone/>
                      </a:pPr>
                      <a:r>
                        <a:rPr lang="en-US" sz="850" dirty="0">
                          <a:solidFill>
                            <a:srgbClr val="1F2937"/>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marL="25400" marR="25400" marT="25400" marB="254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850" dirty="0">
                          <a:solidFill>
                            <a:srgbClr val="1F2937"/>
                          </a:solidFill>
                          <a:latin typeface="Calibri" pitchFamily="34" charset="0"/>
                          <a:ea typeface="Calibri" pitchFamily="34" charset="-122"/>
                          <a:cs typeface="Calibri" pitchFamily="34" charset="-120"/>
                        </a:rPr>
                        <a:t>FAQ #2</a:t>
                      </a:r>
                      <a:endParaRPr lang="en-US" sz="850" dirty="0">
                        <a:latin typeface="Calibri" charset="0"/>
                        <a:ea typeface="Calibri" charset="0"/>
                        <a:cs typeface="Calibri" charset="0"/>
                      </a:endParaRPr>
                    </a:p>
                  </a:txBody>
                  <a:tcPr marL="25400" marR="25400" marT="25400" marB="254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850" dirty="0">
                          <a:solidFill>
                            <a:srgbClr val="1F2937"/>
                          </a:solidFill>
                          <a:latin typeface="Calibri" pitchFamily="34" charset="0"/>
                          <a:ea typeface="Calibri" pitchFamily="34" charset="-122"/>
                          <a:cs typeface="Calibri" pitchFamily="34" charset="-120"/>
                        </a:rPr>
                        <a:t>Notes</a:t>
                      </a:r>
                      <a:endParaRPr lang="en-US" sz="850" dirty="0">
                        <a:latin typeface="Calibri" charset="0"/>
                        <a:ea typeface="Calibri" charset="0"/>
                        <a:cs typeface="Calibri" charset="0"/>
                      </a:endParaRPr>
                    </a:p>
                  </a:txBody>
                  <a:tcPr marL="25400" marR="25400" marT="25400" marB="254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850" dirty="0">
                          <a:solidFill>
                            <a:srgbClr val="1F2937"/>
                          </a:solidFill>
                          <a:latin typeface="Calibri" pitchFamily="34" charset="0"/>
                          <a:ea typeface="Calibri" pitchFamily="34" charset="-122"/>
                          <a:cs typeface="Calibri" pitchFamily="34" charset="-120"/>
                        </a:rPr>
                        <a:t>Policy p.2</a:t>
                      </a:r>
                      <a:endParaRPr lang="en-US" sz="850" dirty="0">
                        <a:latin typeface="Calibri" charset="0"/>
                        <a:ea typeface="Calibri" charset="0"/>
                        <a:cs typeface="Calibri" charset="0"/>
                      </a:endParaRPr>
                    </a:p>
                  </a:txBody>
                  <a:tcPr marL="25400" marR="25400" marT="25400" marB="254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850" dirty="0">
                          <a:solidFill>
                            <a:srgbClr val="1F2937"/>
                          </a:solidFill>
                          <a:latin typeface="Calibri" pitchFamily="34" charset="0"/>
                          <a:ea typeface="Calibri" pitchFamily="34" charset="-122"/>
                          <a:cs typeface="Calibri" pitchFamily="34" charset="-120"/>
                        </a:rPr>
                        <a:t>Policy p.2</a:t>
                      </a:r>
                      <a:endParaRPr lang="en-US" sz="850" dirty="0">
                        <a:latin typeface="Calibri" charset="0"/>
                        <a:ea typeface="Calibri" charset="0"/>
                        <a:cs typeface="Calibri" charset="0"/>
                      </a:endParaRPr>
                    </a:p>
                  </a:txBody>
                  <a:tcPr marL="25400" marR="25400" marT="25400" marB="254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850" dirty="0">
                          <a:solidFill>
                            <a:srgbClr val="1F2937"/>
                          </a:solidFill>
                          <a:latin typeface="Calibri" pitchFamily="34" charset="0"/>
                          <a:ea typeface="Calibri" pitchFamily="34" charset="-122"/>
                          <a:cs typeface="Calibri" pitchFamily="34" charset="-120"/>
                        </a:rPr>
                        <a:t>Notes</a:t>
                      </a:r>
                      <a:endParaRPr lang="en-US" sz="850" dirty="0">
                        <a:latin typeface="Calibri" charset="0"/>
                        <a:ea typeface="Calibri" charset="0"/>
                        <a:cs typeface="Calibri" charset="0"/>
                      </a:endParaRPr>
                    </a:p>
                  </a:txBody>
                  <a:tcPr marL="25400" marR="25400" marT="25400" marB="254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46888">
                <a:tc>
                  <a:txBody>
                    <a:bodyPr/>
                    <a:lstStyle/>
                    <a:p>
                      <a:pPr algn="ctr" indent="0" marL="0">
                        <a:buNone/>
                      </a:pPr>
                      <a:r>
                        <a:rPr lang="en-US" sz="850" dirty="0">
                          <a:solidFill>
                            <a:srgbClr val="1F2937"/>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marL="25400" marR="25400" marT="25400" marB="254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850" dirty="0">
                          <a:solidFill>
                            <a:srgbClr val="1F2937"/>
                          </a:solidFill>
                          <a:latin typeface="Calibri" pitchFamily="34" charset="0"/>
                          <a:ea typeface="Calibri" pitchFamily="34" charset="-122"/>
                          <a:cs typeface="Calibri" pitchFamily="34" charset="-120"/>
                        </a:rPr>
                        <a:t>HR row 23</a:t>
                      </a:r>
                      <a:endParaRPr lang="en-US" sz="850" dirty="0">
                        <a:latin typeface="Calibri" charset="0"/>
                        <a:ea typeface="Calibri" charset="0"/>
                        <a:cs typeface="Calibri" charset="0"/>
                      </a:endParaRPr>
                    </a:p>
                  </a:txBody>
                  <a:tcPr marL="25400" marR="25400" marT="25400" marB="254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850" dirty="0">
                          <a:solidFill>
                            <a:srgbClr val="1F2937"/>
                          </a:solidFill>
                          <a:latin typeface="Calibri" pitchFamily="34" charset="0"/>
                          <a:ea typeface="Calibri" pitchFamily="34" charset="-122"/>
                          <a:cs typeface="Calibri" pitchFamily="34" charset="-120"/>
                        </a:rPr>
                        <a:t>Policy p.2</a:t>
                      </a:r>
                      <a:endParaRPr lang="en-US" sz="850" dirty="0">
                        <a:latin typeface="Calibri" charset="0"/>
                        <a:ea typeface="Calibri" charset="0"/>
                        <a:cs typeface="Calibri" charset="0"/>
                      </a:endParaRPr>
                    </a:p>
                  </a:txBody>
                  <a:tcPr marL="25400" marR="25400" marT="25400" marB="254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850" dirty="0">
                          <a:solidFill>
                            <a:srgbClr val="1F2937"/>
                          </a:solidFill>
                          <a:latin typeface="Calibri" pitchFamily="34" charset="0"/>
                          <a:ea typeface="Calibri" pitchFamily="34" charset="-122"/>
                          <a:cs typeface="Calibri" pitchFamily="34" charset="-120"/>
                        </a:rPr>
                        <a:t>Notes</a:t>
                      </a:r>
                      <a:endParaRPr lang="en-US" sz="850" dirty="0">
                        <a:latin typeface="Calibri" charset="0"/>
                        <a:ea typeface="Calibri" charset="0"/>
                        <a:cs typeface="Calibri" charset="0"/>
                      </a:endParaRPr>
                    </a:p>
                  </a:txBody>
                  <a:tcPr marL="25400" marR="25400" marT="25400" marB="254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850" dirty="0">
                          <a:solidFill>
                            <a:srgbClr val="1F2937"/>
                          </a:solidFill>
                          <a:latin typeface="Calibri" pitchFamily="34" charset="0"/>
                          <a:ea typeface="Calibri" pitchFamily="34" charset="-122"/>
                          <a:cs typeface="Calibri" pitchFamily="34" charset="-120"/>
                        </a:rPr>
                        <a:t>Notes</a:t>
                      </a:r>
                      <a:endParaRPr lang="en-US" sz="850" dirty="0">
                        <a:latin typeface="Calibri" charset="0"/>
                        <a:ea typeface="Calibri" charset="0"/>
                        <a:cs typeface="Calibri" charset="0"/>
                      </a:endParaRPr>
                    </a:p>
                  </a:txBody>
                  <a:tcPr marL="25400" marR="25400" marT="25400" marB="254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850" dirty="0">
                          <a:solidFill>
                            <a:srgbClr val="1F2937"/>
                          </a:solidFill>
                          <a:latin typeface="Calibri" pitchFamily="34" charset="0"/>
                          <a:ea typeface="Calibri" pitchFamily="34" charset="-122"/>
                          <a:cs typeface="Calibri" pitchFamily="34" charset="-120"/>
                        </a:rPr>
                        <a:t>Policy p.1</a:t>
                      </a:r>
                      <a:endParaRPr lang="en-US" sz="850" dirty="0">
                        <a:latin typeface="Calibri" charset="0"/>
                        <a:ea typeface="Calibri" charset="0"/>
                        <a:cs typeface="Calibri" charset="0"/>
                      </a:endParaRPr>
                    </a:p>
                  </a:txBody>
                  <a:tcPr marL="25400" marR="25400" marT="25400" marB="254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46888">
                <a:tc>
                  <a:txBody>
                    <a:bodyPr/>
                    <a:lstStyle/>
                    <a:p>
                      <a:pPr algn="ctr" indent="0" marL="0">
                        <a:buNone/>
                      </a:pPr>
                      <a:r>
                        <a:rPr lang="en-US" sz="850" dirty="0">
                          <a:solidFill>
                            <a:srgbClr val="1F2937"/>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marL="25400" marR="25400" marT="25400" marB="254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850" dirty="0">
                          <a:solidFill>
                            <a:srgbClr val="1F2937"/>
                          </a:solidFill>
                          <a:latin typeface="Calibri" pitchFamily="34" charset="0"/>
                          <a:ea typeface="Calibri" pitchFamily="34" charset="-122"/>
                          <a:cs typeface="Calibri" pitchFamily="34" charset="-120"/>
                        </a:rPr>
                        <a:t>HR row 9</a:t>
                      </a:r>
                      <a:endParaRPr lang="en-US" sz="850" dirty="0">
                        <a:latin typeface="Calibri" charset="0"/>
                        <a:ea typeface="Calibri" charset="0"/>
                        <a:cs typeface="Calibri" charset="0"/>
                      </a:endParaRPr>
                    </a:p>
                  </a:txBody>
                  <a:tcPr marL="25400" marR="25400" marT="25400" marB="254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850" dirty="0">
                          <a:solidFill>
                            <a:srgbClr val="1F2937"/>
                          </a:solidFill>
                          <a:latin typeface="Calibri" pitchFamily="34" charset="0"/>
                          <a:ea typeface="Calibri" pitchFamily="34" charset="-122"/>
                          <a:cs typeface="Calibri" pitchFamily="34" charset="-120"/>
                        </a:rPr>
                        <a:t>Policy p.1</a:t>
                      </a:r>
                      <a:endParaRPr lang="en-US" sz="850" dirty="0">
                        <a:latin typeface="Calibri" charset="0"/>
                        <a:ea typeface="Calibri" charset="0"/>
                        <a:cs typeface="Calibri" charset="0"/>
                      </a:endParaRPr>
                    </a:p>
                  </a:txBody>
                  <a:tcPr marL="25400" marR="25400" marT="25400" marB="254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850" dirty="0">
                          <a:solidFill>
                            <a:srgbClr val="1F2937"/>
                          </a:solidFill>
                          <a:latin typeface="Calibri" pitchFamily="34" charset="0"/>
                          <a:ea typeface="Calibri" pitchFamily="34" charset="-122"/>
                          <a:cs typeface="Calibri" pitchFamily="34" charset="-120"/>
                        </a:rPr>
                        <a:t>Website</a:t>
                      </a:r>
                      <a:endParaRPr lang="en-US" sz="850" dirty="0">
                        <a:latin typeface="Calibri" charset="0"/>
                        <a:ea typeface="Calibri" charset="0"/>
                        <a:cs typeface="Calibri" charset="0"/>
                      </a:endParaRPr>
                    </a:p>
                  </a:txBody>
                  <a:tcPr marL="25400" marR="25400" marT="25400" marB="254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850" dirty="0">
                          <a:solidFill>
                            <a:srgbClr val="1F2937"/>
                          </a:solidFill>
                          <a:latin typeface="Calibri" pitchFamily="34" charset="0"/>
                          <a:ea typeface="Calibri" pitchFamily="34" charset="-122"/>
                          <a:cs typeface="Calibri" pitchFamily="34" charset="-120"/>
                        </a:rPr>
                        <a:t>Policy p.3</a:t>
                      </a:r>
                      <a:endParaRPr lang="en-US" sz="850" dirty="0">
                        <a:latin typeface="Calibri" charset="0"/>
                        <a:ea typeface="Calibri" charset="0"/>
                        <a:cs typeface="Calibri" charset="0"/>
                      </a:endParaRPr>
                    </a:p>
                  </a:txBody>
                  <a:tcPr marL="25400" marR="25400" marT="25400" marB="254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850" dirty="0">
                          <a:solidFill>
                            <a:srgbClr val="1F2937"/>
                          </a:solidFill>
                          <a:latin typeface="Calibri" pitchFamily="34" charset="0"/>
                          <a:ea typeface="Calibri" pitchFamily="34" charset="-122"/>
                          <a:cs typeface="Calibri" pitchFamily="34" charset="-120"/>
                        </a:rPr>
                        <a:t>Policy p.2</a:t>
                      </a:r>
                      <a:endParaRPr lang="en-US" sz="850" dirty="0">
                        <a:latin typeface="Calibri" charset="0"/>
                        <a:ea typeface="Calibri" charset="0"/>
                        <a:cs typeface="Calibri" charset="0"/>
                      </a:endParaRPr>
                    </a:p>
                  </a:txBody>
                  <a:tcPr marL="25400" marR="25400" marT="25400" marB="254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46888">
                <a:tc>
                  <a:txBody>
                    <a:bodyPr/>
                    <a:lstStyle/>
                    <a:p>
                      <a:pPr algn="ctr" indent="0" marL="0">
                        <a:buNone/>
                      </a:pPr>
                      <a:r>
                        <a:rPr lang="en-US" sz="850" dirty="0">
                          <a:solidFill>
                            <a:srgbClr val="1F2937"/>
                          </a:solidFill>
                          <a:latin typeface="Calibri" pitchFamily="34" charset="0"/>
                          <a:ea typeface="Calibri" pitchFamily="34" charset="-122"/>
                          <a:cs typeface="Calibri" pitchFamily="34" charset="-120"/>
                        </a:rPr>
                        <a:t>5</a:t>
                      </a:r>
                      <a:endParaRPr lang="en-US" sz="850" dirty="0">
                        <a:latin typeface="Calibri" charset="0"/>
                        <a:ea typeface="Calibri" charset="0"/>
                        <a:cs typeface="Calibri" charset="0"/>
                      </a:endParaRPr>
                    </a:p>
                  </a:txBody>
                  <a:tcPr marL="25400" marR="25400" marT="25400" marB="254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850" dirty="0">
                          <a:solidFill>
                            <a:srgbClr val="1F2937"/>
                          </a:solidFill>
                          <a:latin typeface="Calibri" pitchFamily="34" charset="0"/>
                          <a:ea typeface="Calibri" pitchFamily="34" charset="-122"/>
                          <a:cs typeface="Calibri" pitchFamily="34" charset="-120"/>
                        </a:rPr>
                        <a:t>HR row 25</a:t>
                      </a:r>
                      <a:endParaRPr lang="en-US" sz="850" dirty="0">
                        <a:latin typeface="Calibri" charset="0"/>
                        <a:ea typeface="Calibri" charset="0"/>
                        <a:cs typeface="Calibri" charset="0"/>
                      </a:endParaRPr>
                    </a:p>
                  </a:txBody>
                  <a:tcPr marL="25400" marR="25400" marT="25400" marB="254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850" dirty="0">
                          <a:solidFill>
                            <a:srgbClr val="1F2937"/>
                          </a:solidFill>
                          <a:latin typeface="Calibri" pitchFamily="34" charset="0"/>
                          <a:ea typeface="Calibri" pitchFamily="34" charset="-122"/>
                          <a:cs typeface="Calibri" pitchFamily="34" charset="-120"/>
                        </a:rPr>
                        <a:t>Website</a:t>
                      </a:r>
                      <a:endParaRPr lang="en-US" sz="850" dirty="0">
                        <a:latin typeface="Calibri" charset="0"/>
                        <a:ea typeface="Calibri" charset="0"/>
                        <a:cs typeface="Calibri" charset="0"/>
                      </a:endParaRPr>
                    </a:p>
                  </a:txBody>
                  <a:tcPr marL="25400" marR="25400" marT="25400" marB="254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850" dirty="0">
                          <a:solidFill>
                            <a:srgbClr val="1F2937"/>
                          </a:solidFill>
                          <a:latin typeface="Calibri" pitchFamily="34" charset="0"/>
                          <a:ea typeface="Calibri" pitchFamily="34" charset="-122"/>
                          <a:cs typeface="Calibri" pitchFamily="34" charset="-120"/>
                        </a:rPr>
                        <a:t>Policy p.3</a:t>
                      </a:r>
                      <a:endParaRPr lang="en-US" sz="850" dirty="0">
                        <a:latin typeface="Calibri" charset="0"/>
                        <a:ea typeface="Calibri" charset="0"/>
                        <a:cs typeface="Calibri" charset="0"/>
                      </a:endParaRPr>
                    </a:p>
                  </a:txBody>
                  <a:tcPr marL="25400" marR="25400" marT="25400" marB="254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850" dirty="0">
                          <a:solidFill>
                            <a:srgbClr val="1F2937"/>
                          </a:solidFill>
                          <a:latin typeface="Calibri" pitchFamily="34" charset="0"/>
                          <a:ea typeface="Calibri" pitchFamily="34" charset="-122"/>
                          <a:cs typeface="Calibri" pitchFamily="34" charset="-120"/>
                        </a:rPr>
                        <a:t>Website</a:t>
                      </a:r>
                      <a:endParaRPr lang="en-US" sz="850" dirty="0">
                        <a:latin typeface="Calibri" charset="0"/>
                        <a:ea typeface="Calibri" charset="0"/>
                        <a:cs typeface="Calibri" charset="0"/>
                      </a:endParaRPr>
                    </a:p>
                  </a:txBody>
                  <a:tcPr marL="25400" marR="25400" marT="25400" marB="254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850" dirty="0">
                          <a:solidFill>
                            <a:srgbClr val="1F2937"/>
                          </a:solidFill>
                          <a:latin typeface="Calibri" pitchFamily="34" charset="0"/>
                          <a:ea typeface="Calibri" pitchFamily="34" charset="-122"/>
                          <a:cs typeface="Calibri" pitchFamily="34" charset="-120"/>
                        </a:rPr>
                        <a:t>Leave §6</a:t>
                      </a:r>
                      <a:endParaRPr lang="en-US" sz="850" dirty="0">
                        <a:latin typeface="Calibri" charset="0"/>
                        <a:ea typeface="Calibri" charset="0"/>
                        <a:cs typeface="Calibri" charset="0"/>
                      </a:endParaRPr>
                    </a:p>
                  </a:txBody>
                  <a:tcPr marL="25400" marR="25400" marT="25400" marB="254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bl>
          </a:graphicData>
        </a:graphic>
      </p:graphicFrame>
      <p:sp>
        <p:nvSpPr>
          <p:cNvPr id="8" name="Text 5"/>
          <p:cNvSpPr txBox="1"/>
          <p:nvPr/>
        </p:nvSpPr>
        <p:spPr>
          <a:xfrm>
            <a:off x="457200" y="3767328"/>
            <a:ext cx="4023360" cy="96012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1F2937"/>
                </a:solidFill>
                <a:latin typeface="Calibri" pitchFamily="34" charset="0"/>
                <a:ea typeface="Calibri" pitchFamily="34" charset="-122"/>
                <a:cs typeface="Calibri" pitchFamily="34" charset="-120"/>
              </a:rPr>
              <a:t>Ranks, not raw scores — lists from different phrasings need no calibration (Cormack et al., 2009).</a:t>
            </a:r>
            <a:endParaRPr lang="en-US" sz="1000" dirty="0"/>
          </a:p>
          <a:p>
            <a:pPr marL="152400" indent="-152400">
              <a:spcAft>
                <a:spcPts val="400"/>
              </a:spcAft>
              <a:buSzPct val="100000"/>
              <a:buChar char="•"/>
            </a:pPr>
            <a:r>
              <a:rPr lang="en-US" sz="1000" dirty="0">
                <a:solidFill>
                  <a:srgbClr val="1F2937"/>
                </a:solidFill>
                <a:latin typeface="Calibri" pitchFamily="34" charset="0"/>
                <a:ea typeface="Calibri" pitchFamily="34" charset="-122"/>
                <a:cs typeface="Calibri" pitchFamily="34" charset="-120"/>
              </a:rPr>
              <a:t>Each phrasing fetches 2k = 10 candidates; duplicates merge by chunk_id; equal scores are ordered by best cosine.</a:t>
            </a:r>
            <a:endParaRPr lang="en-US" sz="1000" dirty="0"/>
          </a:p>
        </p:txBody>
      </p:sp>
      <p:sp>
        <p:nvSpPr>
          <p:cNvPr id="9" name="Text 6"/>
          <p:cNvSpPr txBox="1"/>
          <p:nvPr/>
        </p:nvSpPr>
        <p:spPr>
          <a:xfrm>
            <a:off x="4754880" y="1280160"/>
            <a:ext cx="3931920" cy="274320"/>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Fused ranking (k = 60) — the same run</a:t>
            </a:r>
            <a:endParaRPr lang="en-US" sz="1200" dirty="0"/>
          </a:p>
        </p:txBody>
      </p:sp>
      <p:graphicFrame>
        <p:nvGraphicFramePr>
          <p:cNvPr id="43" name="Table 1"/>
          <p:cNvGraphicFramePr>
            <a:graphicFrameLocks noGrp="1"/>
          </p:cNvGraphicFramePr>
          <p:nvPr>
            <p:extLst>
              <p:ext uri="{D42A27DB-BD31-4B8C-83A1-F6EECF244321}">
                <p14:modId xmlns:p14="http://schemas.microsoft.com/office/powerpoint/2010/main" val="1579011935"/>
              </p:ext>
            </p:extLst>
          </p:nvPr>
        </p:nvGraphicFramePr>
        <p:xfrm>
          <a:off x="4754880" y="1600200"/>
          <a:ext cx="3931920" cy="914400"/>
        </p:xfrm>
        <a:graphic>
          <a:graphicData uri="http://schemas.openxmlformats.org/drawingml/2006/table">
            <a:tbl>
              <a:tblPr/>
              <a:tblGrid>
                <a:gridCol w="1325880"/>
                <a:gridCol w="640080"/>
                <a:gridCol w="1005840"/>
                <a:gridCol w="960120"/>
              </a:tblGrid>
              <a:tr h="274320">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chunk</a:t>
                      </a:r>
                      <a:endParaRPr lang="en-US" sz="95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found by</a:t>
                      </a:r>
                      <a:endParaRPr lang="en-US" sz="95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ranks 2·3·4·5</a:t>
                      </a:r>
                      <a:endParaRPr lang="en-US" sz="95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RRF</a:t>
                      </a:r>
                      <a:endParaRPr lang="en-US" sz="95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r>
              <a:tr h="274320">
                <a:tc>
                  <a:txBody>
                    <a:bodyPr/>
                    <a:lstStyle/>
                    <a:p>
                      <a:pPr algn="ctr" indent="0" marL="0">
                        <a:buNone/>
                      </a:pPr>
                      <a:r>
                        <a:rPr lang="en-US" sz="950" b="1" dirty="0">
                          <a:solidFill>
                            <a:srgbClr val="14213D"/>
                          </a:solidFill>
                          <a:latin typeface="Calibri" pitchFamily="34" charset="0"/>
                          <a:ea typeface="Calibri" pitchFamily="34" charset="-122"/>
                          <a:cs typeface="Calibri" pitchFamily="34" charset="-120"/>
                        </a:rPr>
                        <a:t>FAQ #6 remote work</a:t>
                      </a:r>
                      <a:endParaRPr lang="en-US" sz="95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4 of 5</a:t>
                      </a:r>
                      <a:endParaRPr lang="en-US" sz="95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1 · 1 · 1 · 1</a:t>
                      </a:r>
                      <a:endParaRPr lang="en-US" sz="95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4/61 = 0.0656</a:t>
                      </a:r>
                      <a:endParaRPr lang="en-US" sz="95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74320">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Notes: hybrid update</a:t>
                      </a:r>
                      <a:endParaRPr lang="en-US" sz="95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4 of 5</a:t>
                      </a:r>
                      <a:endParaRPr lang="en-US" sz="95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2 · 3 · 3 · 2</a:t>
                      </a:r>
                      <a:endParaRPr lang="en-US" sz="95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0.0640</a:t>
                      </a:r>
                      <a:endParaRPr lang="en-US" sz="95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74320">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Policy p.2 §4 Remote</a:t>
                      </a:r>
                      <a:endParaRPr lang="en-US" sz="95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4 of 5</a:t>
                      </a:r>
                      <a:endParaRPr lang="en-US" sz="95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3 · 2 · 2 · 4</a:t>
                      </a:r>
                      <a:endParaRPr lang="en-US" sz="95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0.0638</a:t>
                      </a:r>
                      <a:endParaRPr lang="en-US" sz="95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74320">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Website: Careers</a:t>
                      </a:r>
                      <a:endParaRPr lang="en-US" sz="95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4 of 5</a:t>
                      </a:r>
                      <a:endParaRPr lang="en-US" sz="95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5 · 4 · 5 · 6</a:t>
                      </a:r>
                      <a:endParaRPr lang="en-US" sz="95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0.0616</a:t>
                      </a:r>
                      <a:endParaRPr lang="en-US" sz="95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74320">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Policy p.1 §3 Hours</a:t>
                      </a:r>
                      <a:endParaRPr lang="en-US" sz="95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4 of 5</a:t>
                      </a:r>
                      <a:endParaRPr lang="en-US" sz="95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4 · 7 · 8 · 3</a:t>
                      </a:r>
                      <a:endParaRPr lang="en-US" sz="95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0.0611</a:t>
                      </a:r>
                      <a:endParaRPr lang="en-US" sz="95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bl>
          </a:graphicData>
        </a:graphic>
      </p:graphicFrame>
      <p:sp>
        <p:nvSpPr>
          <p:cNvPr id="11" name="Text 7"/>
          <p:cNvSpPr txBox="1"/>
          <p:nvPr/>
        </p:nvSpPr>
        <p:spPr>
          <a:xfrm>
            <a:off x="4754880" y="3337560"/>
            <a:ext cx="3931920" cy="82296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FAQ #6 is first in four lists → 4 × 1/61. The original's HR rows sit in one list each (1/61) and drop out. Website is never above 4th, yet finishes 4th because four lists agree — agreement beats position.</a:t>
            </a:r>
            <a:endParaRPr lang="en-US" sz="1050" dirty="0"/>
          </a:p>
        </p:txBody>
      </p:sp>
      <p:sp>
        <p:nvSpPr>
          <p:cNvPr id="12" name="Text 8"/>
          <p:cNvSpPr txBox="1"/>
          <p:nvPr/>
        </p:nvSpPr>
        <p:spPr>
          <a:xfrm>
            <a:off x="4754880" y="4224528"/>
            <a:ext cx="3931920" cy="274320"/>
          </a:xfrm>
          <a:prstGeom prst="rect">
            <a:avLst/>
          </a:prstGeom>
          <a:noFill/>
          <a:ln/>
        </p:spPr>
        <p:txBody>
          <a:bodyPr wrap="square" lIns="0" tIns="0" rIns="0" bIns="0" rtlCol="0" anchor="ctr"/>
          <a:lstStyle/>
          <a:p>
            <a:pPr indent="0" marL="0">
              <a:buNone/>
            </a:pPr>
            <a:r>
              <a:rPr lang="en-US" sz="1000" dirty="0">
                <a:solidFill>
                  <a:srgbClr val="6B7280"/>
                </a:solidFill>
                <a:latin typeface="Courier New" pitchFamily="34" charset="0"/>
                <a:ea typeface="Courier New" pitchFamily="34" charset="-122"/>
                <a:cs typeface="Courier New" pitchFamily="34" charset="-120"/>
              </a:rPr>
              <a:t>src/retriever.py · Retriever.retrieve_multi()</a:t>
            </a:r>
            <a:endParaRPr lang="en-US" sz="1000" dirty="0"/>
          </a:p>
        </p:txBody>
      </p:sp>
      <p:sp>
        <p:nvSpPr>
          <p:cNvPr id="13" name="Text 9"/>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Multi-Document RAG  ·  17</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RETRIEVAL + GENERATION</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One question, end to end</a:t>
            </a:r>
            <a:endParaRPr lang="en-US" sz="2800" dirty="0"/>
          </a:p>
        </p:txBody>
      </p:sp>
      <p:sp>
        <p:nvSpPr>
          <p:cNvPr id="4" name="Shape 2"/>
          <p:cNvSpPr/>
          <p:nvPr/>
        </p:nvSpPr>
        <p:spPr>
          <a:xfrm>
            <a:off x="1554480" y="1856232"/>
            <a:ext cx="228600" cy="0"/>
          </a:xfrm>
          <a:prstGeom prst="line">
            <a:avLst/>
          </a:prstGeom>
          <a:noFill/>
          <a:ln w="15875">
            <a:solidFill>
              <a:srgbClr val="6B7280"/>
            </a:solidFill>
            <a:prstDash val="solid"/>
            <a:tailEnd type="triangle"/>
          </a:ln>
        </p:spPr>
      </p:sp>
      <p:sp>
        <p:nvSpPr>
          <p:cNvPr id="5" name="Shape 3"/>
          <p:cNvSpPr/>
          <p:nvPr/>
        </p:nvSpPr>
        <p:spPr>
          <a:xfrm>
            <a:off x="2926080" y="1856232"/>
            <a:ext cx="137160" cy="0"/>
          </a:xfrm>
          <a:prstGeom prst="line">
            <a:avLst/>
          </a:prstGeom>
          <a:noFill/>
          <a:ln w="15875">
            <a:solidFill>
              <a:srgbClr val="6B7280"/>
            </a:solidFill>
            <a:prstDash val="solid"/>
          </a:ln>
        </p:spPr>
      </p:sp>
      <p:sp>
        <p:nvSpPr>
          <p:cNvPr id="6" name="Shape 4"/>
          <p:cNvSpPr/>
          <p:nvPr/>
        </p:nvSpPr>
        <p:spPr>
          <a:xfrm flipV="1">
            <a:off x="3063240" y="1504188"/>
            <a:ext cx="0" cy="352044"/>
          </a:xfrm>
          <a:prstGeom prst="line">
            <a:avLst/>
          </a:prstGeom>
          <a:noFill/>
          <a:ln w="15875">
            <a:solidFill>
              <a:srgbClr val="6B7280"/>
            </a:solidFill>
            <a:prstDash val="solid"/>
          </a:ln>
        </p:spPr>
      </p:sp>
      <p:sp>
        <p:nvSpPr>
          <p:cNvPr id="7" name="Shape 5"/>
          <p:cNvSpPr/>
          <p:nvPr/>
        </p:nvSpPr>
        <p:spPr>
          <a:xfrm>
            <a:off x="3063240" y="1504188"/>
            <a:ext cx="137160" cy="0"/>
          </a:xfrm>
          <a:prstGeom prst="line">
            <a:avLst/>
          </a:prstGeom>
          <a:noFill/>
          <a:ln w="15875">
            <a:solidFill>
              <a:srgbClr val="6B7280"/>
            </a:solidFill>
            <a:prstDash val="solid"/>
            <a:tailEnd type="triangle"/>
          </a:ln>
        </p:spPr>
      </p:sp>
      <p:sp>
        <p:nvSpPr>
          <p:cNvPr id="8" name="Shape 6"/>
          <p:cNvSpPr/>
          <p:nvPr/>
        </p:nvSpPr>
        <p:spPr>
          <a:xfrm>
            <a:off x="2926080" y="1856232"/>
            <a:ext cx="137160" cy="0"/>
          </a:xfrm>
          <a:prstGeom prst="line">
            <a:avLst/>
          </a:prstGeom>
          <a:noFill/>
          <a:ln w="15875">
            <a:solidFill>
              <a:srgbClr val="6B7280"/>
            </a:solidFill>
            <a:prstDash val="solid"/>
          </a:ln>
        </p:spPr>
      </p:sp>
      <p:sp>
        <p:nvSpPr>
          <p:cNvPr id="9" name="Shape 7"/>
          <p:cNvSpPr/>
          <p:nvPr/>
        </p:nvSpPr>
        <p:spPr>
          <a:xfrm>
            <a:off x="3063240" y="1856232"/>
            <a:ext cx="0" cy="379476"/>
          </a:xfrm>
          <a:prstGeom prst="line">
            <a:avLst/>
          </a:prstGeom>
          <a:noFill/>
          <a:ln w="15875">
            <a:solidFill>
              <a:srgbClr val="6B7280"/>
            </a:solidFill>
            <a:prstDash val="solid"/>
          </a:ln>
        </p:spPr>
      </p:sp>
      <p:sp>
        <p:nvSpPr>
          <p:cNvPr id="10" name="Shape 8"/>
          <p:cNvSpPr/>
          <p:nvPr/>
        </p:nvSpPr>
        <p:spPr>
          <a:xfrm>
            <a:off x="3063240" y="2235708"/>
            <a:ext cx="137160" cy="0"/>
          </a:xfrm>
          <a:prstGeom prst="line">
            <a:avLst/>
          </a:prstGeom>
          <a:noFill/>
          <a:ln w="15875">
            <a:solidFill>
              <a:srgbClr val="6B7280"/>
            </a:solidFill>
            <a:prstDash val="solid"/>
            <a:tailEnd type="triangle"/>
          </a:ln>
        </p:spPr>
      </p:sp>
      <p:sp>
        <p:nvSpPr>
          <p:cNvPr id="11" name="Shape 9"/>
          <p:cNvSpPr/>
          <p:nvPr/>
        </p:nvSpPr>
        <p:spPr>
          <a:xfrm>
            <a:off x="5166360" y="1504188"/>
            <a:ext cx="137160" cy="0"/>
          </a:xfrm>
          <a:prstGeom prst="line">
            <a:avLst/>
          </a:prstGeom>
          <a:noFill/>
          <a:ln w="15875">
            <a:solidFill>
              <a:srgbClr val="6B7280"/>
            </a:solidFill>
            <a:prstDash val="solid"/>
          </a:ln>
        </p:spPr>
      </p:sp>
      <p:sp>
        <p:nvSpPr>
          <p:cNvPr id="12" name="Shape 10"/>
          <p:cNvSpPr/>
          <p:nvPr/>
        </p:nvSpPr>
        <p:spPr>
          <a:xfrm>
            <a:off x="5303520" y="1504188"/>
            <a:ext cx="0" cy="352044"/>
          </a:xfrm>
          <a:prstGeom prst="line">
            <a:avLst/>
          </a:prstGeom>
          <a:noFill/>
          <a:ln w="15875">
            <a:solidFill>
              <a:srgbClr val="6B7280"/>
            </a:solidFill>
            <a:prstDash val="solid"/>
          </a:ln>
        </p:spPr>
      </p:sp>
      <p:sp>
        <p:nvSpPr>
          <p:cNvPr id="13" name="Shape 11"/>
          <p:cNvSpPr/>
          <p:nvPr/>
        </p:nvSpPr>
        <p:spPr>
          <a:xfrm>
            <a:off x="5303520" y="1856232"/>
            <a:ext cx="137160" cy="0"/>
          </a:xfrm>
          <a:prstGeom prst="line">
            <a:avLst/>
          </a:prstGeom>
          <a:noFill/>
          <a:ln w="15875">
            <a:solidFill>
              <a:srgbClr val="6B7280"/>
            </a:solidFill>
            <a:prstDash val="solid"/>
            <a:tailEnd type="triangle"/>
          </a:ln>
        </p:spPr>
      </p:sp>
      <p:sp>
        <p:nvSpPr>
          <p:cNvPr id="14" name="Shape 12"/>
          <p:cNvSpPr/>
          <p:nvPr/>
        </p:nvSpPr>
        <p:spPr>
          <a:xfrm>
            <a:off x="5166360" y="2235708"/>
            <a:ext cx="137160" cy="0"/>
          </a:xfrm>
          <a:prstGeom prst="line">
            <a:avLst/>
          </a:prstGeom>
          <a:noFill/>
          <a:ln w="15875">
            <a:solidFill>
              <a:srgbClr val="6B7280"/>
            </a:solidFill>
            <a:prstDash val="solid"/>
          </a:ln>
        </p:spPr>
      </p:sp>
      <p:sp>
        <p:nvSpPr>
          <p:cNvPr id="15" name="Shape 13"/>
          <p:cNvSpPr/>
          <p:nvPr/>
        </p:nvSpPr>
        <p:spPr>
          <a:xfrm flipV="1">
            <a:off x="5303520" y="1856232"/>
            <a:ext cx="0" cy="379476"/>
          </a:xfrm>
          <a:prstGeom prst="line">
            <a:avLst/>
          </a:prstGeom>
          <a:noFill/>
          <a:ln w="15875">
            <a:solidFill>
              <a:srgbClr val="6B7280"/>
            </a:solidFill>
            <a:prstDash val="solid"/>
          </a:ln>
        </p:spPr>
      </p:sp>
      <p:sp>
        <p:nvSpPr>
          <p:cNvPr id="16" name="Shape 14"/>
          <p:cNvSpPr/>
          <p:nvPr/>
        </p:nvSpPr>
        <p:spPr>
          <a:xfrm>
            <a:off x="5303520" y="1856232"/>
            <a:ext cx="137160" cy="0"/>
          </a:xfrm>
          <a:prstGeom prst="line">
            <a:avLst/>
          </a:prstGeom>
          <a:noFill/>
          <a:ln w="15875">
            <a:solidFill>
              <a:srgbClr val="6B7280"/>
            </a:solidFill>
            <a:prstDash val="solid"/>
            <a:tailEnd type="triangle"/>
          </a:ln>
        </p:spPr>
      </p:sp>
      <p:sp>
        <p:nvSpPr>
          <p:cNvPr id="17" name="Shape 15"/>
          <p:cNvSpPr/>
          <p:nvPr/>
        </p:nvSpPr>
        <p:spPr>
          <a:xfrm>
            <a:off x="6995160" y="1856232"/>
            <a:ext cx="228600" cy="0"/>
          </a:xfrm>
          <a:prstGeom prst="line">
            <a:avLst/>
          </a:prstGeom>
          <a:noFill/>
          <a:ln w="15875">
            <a:solidFill>
              <a:srgbClr val="6B7280"/>
            </a:solidFill>
            <a:prstDash val="solid"/>
            <a:tailEnd type="triangle"/>
          </a:ln>
        </p:spPr>
      </p:sp>
      <p:sp>
        <p:nvSpPr>
          <p:cNvPr id="18" name="Shape 16"/>
          <p:cNvSpPr/>
          <p:nvPr/>
        </p:nvSpPr>
        <p:spPr>
          <a:xfrm>
            <a:off x="7955280" y="2139696"/>
            <a:ext cx="0" cy="758952"/>
          </a:xfrm>
          <a:prstGeom prst="line">
            <a:avLst/>
          </a:prstGeom>
          <a:noFill/>
          <a:ln w="15875">
            <a:solidFill>
              <a:srgbClr val="6B7280"/>
            </a:solidFill>
            <a:prstDash val="solid"/>
            <a:tailEnd type="triangle"/>
          </a:ln>
        </p:spPr>
      </p:sp>
      <p:sp>
        <p:nvSpPr>
          <p:cNvPr id="19" name="Shape 17"/>
          <p:cNvSpPr/>
          <p:nvPr/>
        </p:nvSpPr>
        <p:spPr>
          <a:xfrm flipH="1">
            <a:off x="6995160" y="3182112"/>
            <a:ext cx="228600" cy="0"/>
          </a:xfrm>
          <a:prstGeom prst="line">
            <a:avLst/>
          </a:prstGeom>
          <a:noFill/>
          <a:ln w="15875">
            <a:solidFill>
              <a:srgbClr val="6B7280"/>
            </a:solidFill>
            <a:prstDash val="solid"/>
            <a:tailEnd type="triangle"/>
          </a:ln>
        </p:spPr>
      </p:sp>
      <p:sp>
        <p:nvSpPr>
          <p:cNvPr id="20" name="Shape 18"/>
          <p:cNvSpPr/>
          <p:nvPr/>
        </p:nvSpPr>
        <p:spPr>
          <a:xfrm flipH="1">
            <a:off x="5166360" y="3182112"/>
            <a:ext cx="274320" cy="0"/>
          </a:xfrm>
          <a:prstGeom prst="line">
            <a:avLst/>
          </a:prstGeom>
          <a:noFill/>
          <a:ln w="15875">
            <a:solidFill>
              <a:srgbClr val="6B7280"/>
            </a:solidFill>
            <a:prstDash val="solid"/>
            <a:tailEnd type="triangle"/>
          </a:ln>
        </p:spPr>
      </p:sp>
      <p:sp>
        <p:nvSpPr>
          <p:cNvPr id="21" name="Shape 19"/>
          <p:cNvSpPr/>
          <p:nvPr/>
        </p:nvSpPr>
        <p:spPr>
          <a:xfrm flipH="1">
            <a:off x="3154680" y="3182112"/>
            <a:ext cx="274320" cy="0"/>
          </a:xfrm>
          <a:prstGeom prst="line">
            <a:avLst/>
          </a:prstGeom>
          <a:noFill/>
          <a:ln w="15875">
            <a:solidFill>
              <a:srgbClr val="6B7280"/>
            </a:solidFill>
            <a:prstDash val="solid"/>
            <a:tailEnd type="triangle"/>
          </a:ln>
        </p:spPr>
      </p:sp>
      <p:sp>
        <p:nvSpPr>
          <p:cNvPr id="22" name="Shape 20"/>
          <p:cNvSpPr/>
          <p:nvPr/>
        </p:nvSpPr>
        <p:spPr>
          <a:xfrm>
            <a:off x="2354580" y="3593592"/>
            <a:ext cx="0" cy="246888"/>
          </a:xfrm>
          <a:prstGeom prst="line">
            <a:avLst/>
          </a:prstGeom>
          <a:noFill/>
          <a:ln w="15875">
            <a:solidFill>
              <a:srgbClr val="6B7280"/>
            </a:solidFill>
            <a:prstDash val="solid"/>
          </a:ln>
        </p:spPr>
      </p:sp>
      <p:sp>
        <p:nvSpPr>
          <p:cNvPr id="23" name="Shape 21"/>
          <p:cNvSpPr/>
          <p:nvPr/>
        </p:nvSpPr>
        <p:spPr>
          <a:xfrm flipH="1">
            <a:off x="1325880" y="3840480"/>
            <a:ext cx="1028700" cy="0"/>
          </a:xfrm>
          <a:prstGeom prst="line">
            <a:avLst/>
          </a:prstGeom>
          <a:noFill/>
          <a:ln w="15875">
            <a:solidFill>
              <a:srgbClr val="6B7280"/>
            </a:solidFill>
            <a:prstDash val="solid"/>
          </a:ln>
        </p:spPr>
      </p:sp>
      <p:sp>
        <p:nvSpPr>
          <p:cNvPr id="24" name="Shape 22"/>
          <p:cNvSpPr/>
          <p:nvPr/>
        </p:nvSpPr>
        <p:spPr>
          <a:xfrm>
            <a:off x="1325880" y="3840480"/>
            <a:ext cx="0" cy="246888"/>
          </a:xfrm>
          <a:prstGeom prst="line">
            <a:avLst/>
          </a:prstGeom>
          <a:noFill/>
          <a:ln w="15875">
            <a:solidFill>
              <a:srgbClr val="6B7280"/>
            </a:solidFill>
            <a:prstDash val="solid"/>
            <a:tailEnd type="triangle"/>
          </a:ln>
        </p:spPr>
      </p:sp>
      <p:sp>
        <p:nvSpPr>
          <p:cNvPr id="25" name="Text 23"/>
          <p:cNvSpPr txBox="1"/>
          <p:nvPr/>
        </p:nvSpPr>
        <p:spPr>
          <a:xfrm>
            <a:off x="1657350" y="3611880"/>
            <a:ext cx="365760" cy="201168"/>
          </a:xfrm>
          <a:prstGeom prst="rect">
            <a:avLst/>
          </a:prstGeom>
          <a:solidFill>
            <a:srgbClr val="FFFFFF"/>
          </a:solidFill>
          <a:ln/>
        </p:spPr>
        <p:txBody>
          <a:bodyPr wrap="square" lIns="0" tIns="0" rIns="0" bIns="0" rtlCol="0" anchor="ctr"/>
          <a:lstStyle/>
          <a:p>
            <a:pPr algn="ctr" indent="0" marL="0">
              <a:buNone/>
            </a:pPr>
            <a:r>
              <a:rPr lang="en-US" sz="800" i="1" dirty="0">
                <a:solidFill>
                  <a:srgbClr val="6B7280"/>
                </a:solidFill>
                <a:latin typeface="Calibri" pitchFamily="34" charset="0"/>
                <a:ea typeface="Calibri" pitchFamily="34" charset="-122"/>
                <a:cs typeface="Calibri" pitchFamily="34" charset="-120"/>
              </a:rPr>
              <a:t>yes</a:t>
            </a:r>
            <a:endParaRPr lang="en-US" sz="800" dirty="0"/>
          </a:p>
        </p:txBody>
      </p:sp>
      <p:sp>
        <p:nvSpPr>
          <p:cNvPr id="26" name="Shape 24"/>
          <p:cNvSpPr/>
          <p:nvPr/>
        </p:nvSpPr>
        <p:spPr>
          <a:xfrm>
            <a:off x="2354580" y="3593592"/>
            <a:ext cx="0" cy="246888"/>
          </a:xfrm>
          <a:prstGeom prst="line">
            <a:avLst/>
          </a:prstGeom>
          <a:noFill/>
          <a:ln w="15875">
            <a:solidFill>
              <a:srgbClr val="6B7280"/>
            </a:solidFill>
            <a:prstDash val="solid"/>
          </a:ln>
        </p:spPr>
      </p:sp>
      <p:sp>
        <p:nvSpPr>
          <p:cNvPr id="27" name="Shape 25"/>
          <p:cNvSpPr/>
          <p:nvPr/>
        </p:nvSpPr>
        <p:spPr>
          <a:xfrm>
            <a:off x="2354580" y="3840480"/>
            <a:ext cx="1348740" cy="0"/>
          </a:xfrm>
          <a:prstGeom prst="line">
            <a:avLst/>
          </a:prstGeom>
          <a:noFill/>
          <a:ln w="15875">
            <a:solidFill>
              <a:srgbClr val="6B7280"/>
            </a:solidFill>
            <a:prstDash val="solid"/>
          </a:ln>
        </p:spPr>
      </p:sp>
      <p:sp>
        <p:nvSpPr>
          <p:cNvPr id="28" name="Shape 26"/>
          <p:cNvSpPr/>
          <p:nvPr/>
        </p:nvSpPr>
        <p:spPr>
          <a:xfrm>
            <a:off x="3703320" y="3840480"/>
            <a:ext cx="0" cy="246888"/>
          </a:xfrm>
          <a:prstGeom prst="line">
            <a:avLst/>
          </a:prstGeom>
          <a:noFill/>
          <a:ln w="15875">
            <a:solidFill>
              <a:srgbClr val="6B7280"/>
            </a:solidFill>
            <a:prstDash val="solid"/>
            <a:tailEnd type="triangle"/>
          </a:ln>
        </p:spPr>
      </p:sp>
      <p:sp>
        <p:nvSpPr>
          <p:cNvPr id="29" name="Text 27"/>
          <p:cNvSpPr txBox="1"/>
          <p:nvPr/>
        </p:nvSpPr>
        <p:spPr>
          <a:xfrm>
            <a:off x="2846070" y="3611880"/>
            <a:ext cx="365760" cy="201168"/>
          </a:xfrm>
          <a:prstGeom prst="rect">
            <a:avLst/>
          </a:prstGeom>
          <a:solidFill>
            <a:srgbClr val="FFFFFF"/>
          </a:solidFill>
          <a:ln/>
        </p:spPr>
        <p:txBody>
          <a:bodyPr wrap="square" lIns="0" tIns="0" rIns="0" bIns="0" rtlCol="0" anchor="ctr"/>
          <a:lstStyle/>
          <a:p>
            <a:pPr algn="ctr" indent="0" marL="0">
              <a:buNone/>
            </a:pPr>
            <a:r>
              <a:rPr lang="en-US" sz="800" i="1" dirty="0">
                <a:solidFill>
                  <a:srgbClr val="6B7280"/>
                </a:solidFill>
                <a:latin typeface="Calibri" pitchFamily="34" charset="0"/>
                <a:ea typeface="Calibri" pitchFamily="34" charset="-122"/>
                <a:cs typeface="Calibri" pitchFamily="34" charset="-120"/>
              </a:rPr>
              <a:t>no</a:t>
            </a:r>
            <a:endParaRPr lang="en-US" sz="800" dirty="0"/>
          </a:p>
        </p:txBody>
      </p:sp>
      <p:sp>
        <p:nvSpPr>
          <p:cNvPr id="30" name="Shape 28"/>
          <p:cNvSpPr/>
          <p:nvPr/>
        </p:nvSpPr>
        <p:spPr>
          <a:xfrm>
            <a:off x="457200" y="1572768"/>
            <a:ext cx="1097280" cy="566928"/>
          </a:xfrm>
          <a:prstGeom prst="roundRect">
            <a:avLst>
              <a:gd name="adj" fmla="val 50000"/>
            </a:avLst>
          </a:prstGeom>
          <a:solidFill>
            <a:srgbClr val="14213D"/>
          </a:solidFill>
          <a:ln w="9525">
            <a:solidFill>
              <a:srgbClr val="14213D"/>
            </a:solidFill>
            <a:prstDash val="solid"/>
          </a:ln>
        </p:spPr>
      </p:sp>
      <p:sp>
        <p:nvSpPr>
          <p:cNvPr id="31" name="Text 29"/>
          <p:cNvSpPr txBox="1"/>
          <p:nvPr/>
        </p:nvSpPr>
        <p:spPr>
          <a:xfrm>
            <a:off x="512064" y="1572768"/>
            <a:ext cx="987552" cy="566928"/>
          </a:xfrm>
          <a:prstGeom prst="rect">
            <a:avLst/>
          </a:prstGeom>
          <a:noFill/>
          <a:ln/>
        </p:spPr>
        <p:txBody>
          <a:bodyPr wrap="square" lIns="25400" tIns="25400" rIns="25400" bIns="254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Question</a:t>
            </a:r>
            <a:endParaRPr lang="en-US" sz="1000" dirty="0"/>
          </a:p>
        </p:txBody>
      </p:sp>
      <p:sp>
        <p:nvSpPr>
          <p:cNvPr id="32" name="Shape 30"/>
          <p:cNvSpPr/>
          <p:nvPr/>
        </p:nvSpPr>
        <p:spPr>
          <a:xfrm>
            <a:off x="1783080" y="1467612"/>
            <a:ext cx="1143000" cy="777240"/>
          </a:xfrm>
          <a:prstGeom prst="diamond">
            <a:avLst/>
          </a:prstGeom>
          <a:solidFill>
            <a:srgbClr val="FFF4E0"/>
          </a:solidFill>
          <a:ln w="9525">
            <a:solidFill>
              <a:srgbClr val="FCA311"/>
            </a:solidFill>
            <a:prstDash val="solid"/>
          </a:ln>
        </p:spPr>
      </p:sp>
      <p:sp>
        <p:nvSpPr>
          <p:cNvPr id="33" name="Text 31"/>
          <p:cNvSpPr txBox="1"/>
          <p:nvPr/>
        </p:nvSpPr>
        <p:spPr>
          <a:xfrm>
            <a:off x="2011680" y="1467612"/>
            <a:ext cx="685800" cy="777240"/>
          </a:xfrm>
          <a:prstGeom prst="rect">
            <a:avLst/>
          </a:prstGeom>
          <a:noFill/>
          <a:ln/>
        </p:spPr>
        <p:txBody>
          <a:bodyPr wrap="square" lIns="25400" tIns="25400" rIns="25400" bIns="25400" rtlCol="0" anchor="ctr"/>
          <a:lstStyle/>
          <a:p>
            <a:pPr algn="ctr" indent="0" marL="0">
              <a:buNone/>
            </a:pPr>
            <a:r>
              <a:rPr lang="en-US" sz="900" b="1" dirty="0">
                <a:solidFill>
                  <a:srgbClr val="14213D"/>
                </a:solidFill>
                <a:latin typeface="Calibri" pitchFamily="34" charset="0"/>
                <a:ea typeface="Calibri" pitchFamily="34" charset="-122"/>
                <a:cs typeface="Calibri" pitchFamily="34" charset="-120"/>
              </a:rPr>
              <a:t>Strategy?</a:t>
            </a:r>
            <a:endParaRPr lang="en-US" sz="900" dirty="0"/>
          </a:p>
        </p:txBody>
      </p:sp>
      <p:sp>
        <p:nvSpPr>
          <p:cNvPr id="34" name="Shape 32"/>
          <p:cNvSpPr/>
          <p:nvPr/>
        </p:nvSpPr>
        <p:spPr>
          <a:xfrm>
            <a:off x="3200400" y="1252728"/>
            <a:ext cx="1965960" cy="502920"/>
          </a:xfrm>
          <a:prstGeom prst="roundRect">
            <a:avLst>
              <a:gd name="adj" fmla="val 14545"/>
            </a:avLst>
          </a:prstGeom>
          <a:solidFill>
            <a:srgbClr val="F4F5F7"/>
          </a:solidFill>
          <a:ln w="9525">
            <a:solidFill>
              <a:srgbClr val="CBD5E1"/>
            </a:solidFill>
            <a:prstDash val="solid"/>
          </a:ln>
        </p:spPr>
      </p:sp>
      <p:sp>
        <p:nvSpPr>
          <p:cNvPr id="35" name="Text 33"/>
          <p:cNvSpPr txBox="1"/>
          <p:nvPr/>
        </p:nvSpPr>
        <p:spPr>
          <a:xfrm>
            <a:off x="3255264" y="1252728"/>
            <a:ext cx="1856232" cy="502920"/>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Manual rewrites</a:t>
            </a:r>
            <a:endParaRPr lang="en-US" sz="1000" dirty="0"/>
          </a:p>
          <a:p>
            <a:pPr algn="ctr" indent="0" marL="0">
              <a:buNone/>
            </a:pPr>
            <a:r>
              <a:rPr lang="en-US" sz="850" dirty="0">
                <a:solidFill>
                  <a:srgbClr val="6B7280"/>
                </a:solidFill>
                <a:latin typeface="Calibri" pitchFamily="34" charset="0"/>
                <a:ea typeface="Calibri" pitchFamily="34" charset="-122"/>
                <a:cs typeface="Calibri" pitchFamily="34" charset="-120"/>
              </a:rPr>
              <a:t>abbrev · keyword · restatement</a:t>
            </a:r>
            <a:endParaRPr lang="en-US" sz="1000" dirty="0"/>
          </a:p>
        </p:txBody>
      </p:sp>
      <p:sp>
        <p:nvSpPr>
          <p:cNvPr id="36" name="Shape 34"/>
          <p:cNvSpPr/>
          <p:nvPr/>
        </p:nvSpPr>
        <p:spPr>
          <a:xfrm>
            <a:off x="3200400" y="1984248"/>
            <a:ext cx="1965960" cy="502920"/>
          </a:xfrm>
          <a:prstGeom prst="roundRect">
            <a:avLst>
              <a:gd name="adj" fmla="val 14545"/>
            </a:avLst>
          </a:prstGeom>
          <a:solidFill>
            <a:srgbClr val="F4F5F7"/>
          </a:solidFill>
          <a:ln w="9525">
            <a:solidFill>
              <a:srgbClr val="CBD5E1"/>
            </a:solidFill>
            <a:prstDash val="solid"/>
          </a:ln>
        </p:spPr>
      </p:sp>
      <p:sp>
        <p:nvSpPr>
          <p:cNvPr id="37" name="Text 35"/>
          <p:cNvSpPr txBox="1"/>
          <p:nvPr/>
        </p:nvSpPr>
        <p:spPr>
          <a:xfrm>
            <a:off x="3255264" y="1984248"/>
            <a:ext cx="1856232" cy="502920"/>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LLM rewrites</a:t>
            </a:r>
            <a:endParaRPr lang="en-US" sz="1000" dirty="0"/>
          </a:p>
          <a:p>
            <a:pPr algn="ctr" indent="0" marL="0">
              <a:buNone/>
            </a:pPr>
            <a:r>
              <a:rPr lang="en-US" sz="850" dirty="0">
                <a:solidFill>
                  <a:srgbClr val="6B7280"/>
                </a:solidFill>
                <a:latin typeface="Calibri" pitchFamily="34" charset="0"/>
                <a:ea typeface="Calibri" pitchFamily="34" charset="-122"/>
                <a:cs typeface="Calibri" pitchFamily="34" charset="-120"/>
              </a:rPr>
              <a:t>multi-query · HyDE · step-back</a:t>
            </a:r>
            <a:endParaRPr lang="en-US" sz="1000" dirty="0"/>
          </a:p>
        </p:txBody>
      </p:sp>
      <p:sp>
        <p:nvSpPr>
          <p:cNvPr id="38" name="Shape 36"/>
          <p:cNvSpPr/>
          <p:nvPr/>
        </p:nvSpPr>
        <p:spPr>
          <a:xfrm>
            <a:off x="5440680" y="1572768"/>
            <a:ext cx="1554480" cy="566928"/>
          </a:xfrm>
          <a:prstGeom prst="roundRect">
            <a:avLst>
              <a:gd name="adj" fmla="val 12903"/>
            </a:avLst>
          </a:prstGeom>
          <a:solidFill>
            <a:srgbClr val="F4F5F7"/>
          </a:solidFill>
          <a:ln w="9525">
            <a:solidFill>
              <a:srgbClr val="CBD5E1"/>
            </a:solidFill>
            <a:prstDash val="solid"/>
          </a:ln>
        </p:spPr>
      </p:sp>
      <p:sp>
        <p:nvSpPr>
          <p:cNvPr id="39" name="Text 37"/>
          <p:cNvSpPr txBox="1"/>
          <p:nvPr/>
        </p:nvSpPr>
        <p:spPr>
          <a:xfrm>
            <a:off x="5495544" y="1572768"/>
            <a:ext cx="1444752" cy="566928"/>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Embed every query</a:t>
            </a:r>
            <a:endParaRPr lang="en-US" sz="1000" dirty="0"/>
          </a:p>
          <a:p>
            <a:pPr algn="ctr" indent="0" marL="0">
              <a:buNone/>
            </a:pPr>
            <a:r>
              <a:rPr lang="en-US" sz="850" dirty="0">
                <a:solidFill>
                  <a:srgbClr val="6B7280"/>
                </a:solidFill>
                <a:latin typeface="Calibri" pitchFamily="34" charset="0"/>
                <a:ea typeface="Calibri" pitchFamily="34" charset="-122"/>
                <a:cs typeface="Calibri" pitchFamily="34" charset="-120"/>
              </a:rPr>
              <a:t>same model as documents</a:t>
            </a:r>
            <a:endParaRPr lang="en-US" sz="1000" dirty="0"/>
          </a:p>
        </p:txBody>
      </p:sp>
      <p:sp>
        <p:nvSpPr>
          <p:cNvPr id="40" name="Shape 38"/>
          <p:cNvSpPr/>
          <p:nvPr/>
        </p:nvSpPr>
        <p:spPr>
          <a:xfrm>
            <a:off x="7223760" y="1572768"/>
            <a:ext cx="1463040" cy="566928"/>
          </a:xfrm>
          <a:prstGeom prst="roundRect">
            <a:avLst>
              <a:gd name="adj" fmla="val 12903"/>
            </a:avLst>
          </a:prstGeom>
          <a:solidFill>
            <a:srgbClr val="F4F5F7"/>
          </a:solidFill>
          <a:ln w="9525">
            <a:solidFill>
              <a:srgbClr val="CBD5E1"/>
            </a:solidFill>
            <a:prstDash val="solid"/>
          </a:ln>
        </p:spPr>
      </p:sp>
      <p:sp>
        <p:nvSpPr>
          <p:cNvPr id="41" name="Text 39"/>
          <p:cNvSpPr txBox="1"/>
          <p:nvPr/>
        </p:nvSpPr>
        <p:spPr>
          <a:xfrm>
            <a:off x="7278624" y="1572768"/>
            <a:ext cx="1353312" cy="566928"/>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Vector search</a:t>
            </a:r>
            <a:endParaRPr lang="en-US" sz="1000" dirty="0"/>
          </a:p>
          <a:p>
            <a:pPr algn="ctr" indent="0" marL="0">
              <a:buNone/>
            </a:pPr>
            <a:r>
              <a:rPr lang="en-US" sz="850" dirty="0">
                <a:solidFill>
                  <a:srgbClr val="6B7280"/>
                </a:solidFill>
                <a:latin typeface="Calibri" pitchFamily="34" charset="0"/>
                <a:ea typeface="Calibri" pitchFamily="34" charset="-122"/>
                <a:cs typeface="Calibri" pitchFamily="34" charset="-120"/>
              </a:rPr>
              <a:t>per query · top 2k</a:t>
            </a:r>
            <a:endParaRPr lang="en-US" sz="1000" dirty="0"/>
          </a:p>
        </p:txBody>
      </p:sp>
      <p:sp>
        <p:nvSpPr>
          <p:cNvPr id="42" name="Shape 40"/>
          <p:cNvSpPr/>
          <p:nvPr/>
        </p:nvSpPr>
        <p:spPr>
          <a:xfrm>
            <a:off x="7223760" y="2898648"/>
            <a:ext cx="1463040" cy="566928"/>
          </a:xfrm>
          <a:prstGeom prst="roundRect">
            <a:avLst>
              <a:gd name="adj" fmla="val 12903"/>
            </a:avLst>
          </a:prstGeom>
          <a:solidFill>
            <a:srgbClr val="F4F5F7"/>
          </a:solidFill>
          <a:ln w="9525">
            <a:solidFill>
              <a:srgbClr val="CBD5E1"/>
            </a:solidFill>
            <a:prstDash val="solid"/>
          </a:ln>
        </p:spPr>
      </p:sp>
      <p:sp>
        <p:nvSpPr>
          <p:cNvPr id="43" name="Text 41"/>
          <p:cNvSpPr txBox="1"/>
          <p:nvPr/>
        </p:nvSpPr>
        <p:spPr>
          <a:xfrm>
            <a:off x="7278624" y="2898648"/>
            <a:ext cx="1353312" cy="566928"/>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RRF fusion</a:t>
            </a:r>
            <a:endParaRPr lang="en-US" sz="1000" dirty="0"/>
          </a:p>
          <a:p>
            <a:pPr algn="ctr" indent="0" marL="0">
              <a:buNone/>
            </a:pPr>
            <a:r>
              <a:rPr lang="en-US" sz="850" dirty="0">
                <a:solidFill>
                  <a:srgbClr val="6B7280"/>
                </a:solidFill>
                <a:latin typeface="Calibri" pitchFamily="34" charset="0"/>
                <a:ea typeface="Calibri" pitchFamily="34" charset="-122"/>
                <a:cs typeface="Calibri" pitchFamily="34" charset="-120"/>
              </a:rPr>
              <a:t>Σ 1/(60+rank) · dedupe</a:t>
            </a:r>
            <a:endParaRPr lang="en-US" sz="1000" dirty="0"/>
          </a:p>
        </p:txBody>
      </p:sp>
      <p:sp>
        <p:nvSpPr>
          <p:cNvPr id="44" name="Shape 42"/>
          <p:cNvSpPr/>
          <p:nvPr/>
        </p:nvSpPr>
        <p:spPr>
          <a:xfrm>
            <a:off x="5440680" y="2898648"/>
            <a:ext cx="1554480" cy="566928"/>
          </a:xfrm>
          <a:prstGeom prst="roundRect">
            <a:avLst>
              <a:gd name="adj" fmla="val 12903"/>
            </a:avLst>
          </a:prstGeom>
          <a:solidFill>
            <a:srgbClr val="F4F5F7"/>
          </a:solidFill>
          <a:ln w="9525">
            <a:solidFill>
              <a:srgbClr val="CBD5E1"/>
            </a:solidFill>
            <a:prstDash val="solid"/>
          </a:ln>
        </p:spPr>
      </p:sp>
      <p:sp>
        <p:nvSpPr>
          <p:cNvPr id="45" name="Text 43"/>
          <p:cNvSpPr txBox="1"/>
          <p:nvPr/>
        </p:nvSpPr>
        <p:spPr>
          <a:xfrm>
            <a:off x="5495544" y="2898648"/>
            <a:ext cx="1444752" cy="566928"/>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Top-k → prompt</a:t>
            </a:r>
            <a:endParaRPr lang="en-US" sz="1000" dirty="0"/>
          </a:p>
          <a:p>
            <a:pPr algn="ctr" indent="0" marL="0">
              <a:buNone/>
            </a:pPr>
            <a:r>
              <a:rPr lang="en-US" sz="850" dirty="0">
                <a:solidFill>
                  <a:srgbClr val="6B7280"/>
                </a:solidFill>
                <a:latin typeface="Calibri" pitchFamily="34" charset="0"/>
                <a:ea typeface="Calibri" pitchFamily="34" charset="-122"/>
                <a:cs typeface="Calibri" pitchFamily="34" charset="-120"/>
              </a:rPr>
              <a:t>numbered passages [n]</a:t>
            </a:r>
            <a:endParaRPr lang="en-US" sz="1000" dirty="0"/>
          </a:p>
        </p:txBody>
      </p:sp>
      <p:sp>
        <p:nvSpPr>
          <p:cNvPr id="46" name="Shape 44"/>
          <p:cNvSpPr/>
          <p:nvPr/>
        </p:nvSpPr>
        <p:spPr>
          <a:xfrm>
            <a:off x="3429000" y="2898648"/>
            <a:ext cx="1737360" cy="566928"/>
          </a:xfrm>
          <a:prstGeom prst="roundRect">
            <a:avLst>
              <a:gd name="adj" fmla="val 12903"/>
            </a:avLst>
          </a:prstGeom>
          <a:solidFill>
            <a:srgbClr val="F4F5F7"/>
          </a:solidFill>
          <a:ln w="9525">
            <a:solidFill>
              <a:srgbClr val="CBD5E1"/>
            </a:solidFill>
            <a:prstDash val="solid"/>
          </a:ln>
        </p:spPr>
      </p:sp>
      <p:sp>
        <p:nvSpPr>
          <p:cNvPr id="47" name="Text 45"/>
          <p:cNvSpPr txBox="1"/>
          <p:nvPr/>
        </p:nvSpPr>
        <p:spPr>
          <a:xfrm>
            <a:off x="3483864" y="2898648"/>
            <a:ext cx="1627632" cy="566928"/>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LLM answer</a:t>
            </a:r>
            <a:endParaRPr lang="en-US" sz="1000" dirty="0"/>
          </a:p>
          <a:p>
            <a:pPr algn="ctr" indent="0" marL="0">
              <a:buNone/>
            </a:pPr>
            <a:r>
              <a:rPr lang="en-US" sz="850" dirty="0">
                <a:solidFill>
                  <a:srgbClr val="6B7280"/>
                </a:solidFill>
                <a:latin typeface="Calibri" pitchFamily="34" charset="0"/>
                <a:ea typeface="Calibri" pitchFamily="34" charset="-122"/>
                <a:cs typeface="Calibri" pitchFamily="34" charset="-120"/>
              </a:rPr>
              <a:t>temperature 0.1 · cite [n]</a:t>
            </a:r>
            <a:endParaRPr lang="en-US" sz="1000" dirty="0"/>
          </a:p>
        </p:txBody>
      </p:sp>
      <p:sp>
        <p:nvSpPr>
          <p:cNvPr id="48" name="Shape 46"/>
          <p:cNvSpPr/>
          <p:nvPr/>
        </p:nvSpPr>
        <p:spPr>
          <a:xfrm>
            <a:off x="1554480" y="2770632"/>
            <a:ext cx="1600200" cy="822960"/>
          </a:xfrm>
          <a:prstGeom prst="diamond">
            <a:avLst/>
          </a:prstGeom>
          <a:solidFill>
            <a:srgbClr val="FFF4E0"/>
          </a:solidFill>
          <a:ln w="9525">
            <a:solidFill>
              <a:srgbClr val="FCA311"/>
            </a:solidFill>
            <a:prstDash val="solid"/>
          </a:ln>
        </p:spPr>
      </p:sp>
      <p:sp>
        <p:nvSpPr>
          <p:cNvPr id="49" name="Text 47"/>
          <p:cNvSpPr txBox="1"/>
          <p:nvPr/>
        </p:nvSpPr>
        <p:spPr>
          <a:xfrm>
            <a:off x="1874520" y="2770632"/>
            <a:ext cx="960120" cy="822960"/>
          </a:xfrm>
          <a:prstGeom prst="rect">
            <a:avLst/>
          </a:prstGeom>
          <a:noFill/>
          <a:ln/>
        </p:spPr>
        <p:txBody>
          <a:bodyPr wrap="square" lIns="25400" tIns="25400" rIns="25400" bIns="25400" rtlCol="0" anchor="ctr"/>
          <a:lstStyle/>
          <a:p>
            <a:pPr algn="ctr" indent="0" marL="0">
              <a:buNone/>
            </a:pPr>
            <a:r>
              <a:rPr lang="en-US" sz="850" b="1" dirty="0">
                <a:solidFill>
                  <a:srgbClr val="14213D"/>
                </a:solidFill>
                <a:latin typeface="Calibri" pitchFamily="34" charset="0"/>
                <a:ea typeface="Calibri" pitchFamily="34" charset="-122"/>
                <a:cs typeface="Calibri" pitchFamily="34" charset="-120"/>
              </a:rPr>
              <a:t>Evidence in passages?</a:t>
            </a:r>
            <a:endParaRPr lang="en-US" sz="850" dirty="0"/>
          </a:p>
        </p:txBody>
      </p:sp>
      <p:sp>
        <p:nvSpPr>
          <p:cNvPr id="50" name="Shape 48"/>
          <p:cNvSpPr/>
          <p:nvPr/>
        </p:nvSpPr>
        <p:spPr>
          <a:xfrm>
            <a:off x="457200" y="4087368"/>
            <a:ext cx="1737360" cy="502920"/>
          </a:xfrm>
          <a:prstGeom prst="roundRect">
            <a:avLst>
              <a:gd name="adj" fmla="val 50000"/>
            </a:avLst>
          </a:prstGeom>
          <a:solidFill>
            <a:srgbClr val="14213D"/>
          </a:solidFill>
          <a:ln w="9525">
            <a:solidFill>
              <a:srgbClr val="14213D"/>
            </a:solidFill>
            <a:prstDash val="solid"/>
          </a:ln>
        </p:spPr>
      </p:sp>
      <p:sp>
        <p:nvSpPr>
          <p:cNvPr id="51" name="Text 49"/>
          <p:cNvSpPr txBox="1"/>
          <p:nvPr/>
        </p:nvSpPr>
        <p:spPr>
          <a:xfrm>
            <a:off x="512064" y="4087368"/>
            <a:ext cx="1627632" cy="502920"/>
          </a:xfrm>
          <a:prstGeom prst="rect">
            <a:avLst/>
          </a:prstGeom>
          <a:noFill/>
          <a:ln/>
        </p:spPr>
        <p:txBody>
          <a:bodyPr wrap="square" lIns="25400" tIns="25400" rIns="25400" bIns="254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Answer + [n] citations</a:t>
            </a:r>
            <a:endParaRPr lang="en-US" sz="1000" dirty="0"/>
          </a:p>
        </p:txBody>
      </p:sp>
      <p:sp>
        <p:nvSpPr>
          <p:cNvPr id="52" name="Shape 50"/>
          <p:cNvSpPr/>
          <p:nvPr/>
        </p:nvSpPr>
        <p:spPr>
          <a:xfrm>
            <a:off x="2514600" y="4087368"/>
            <a:ext cx="2377440" cy="502920"/>
          </a:xfrm>
          <a:prstGeom prst="roundRect">
            <a:avLst>
              <a:gd name="adj" fmla="val 50000"/>
            </a:avLst>
          </a:prstGeom>
          <a:solidFill>
            <a:srgbClr val="14213D"/>
          </a:solidFill>
          <a:ln w="9525">
            <a:solidFill>
              <a:srgbClr val="14213D"/>
            </a:solidFill>
            <a:prstDash val="solid"/>
          </a:ln>
        </p:spPr>
      </p:sp>
      <p:sp>
        <p:nvSpPr>
          <p:cNvPr id="53" name="Text 51"/>
          <p:cNvSpPr txBox="1"/>
          <p:nvPr/>
        </p:nvSpPr>
        <p:spPr>
          <a:xfrm>
            <a:off x="2569464" y="4087368"/>
            <a:ext cx="2267712" cy="502920"/>
          </a:xfrm>
          <a:prstGeom prst="rect">
            <a:avLst/>
          </a:prstGeom>
          <a:noFill/>
          <a:ln/>
        </p:spPr>
        <p:txBody>
          <a:bodyPr wrap="square" lIns="25400" tIns="25400" rIns="25400" bIns="254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Fixed refusal sentence</a:t>
            </a:r>
            <a:endParaRPr lang="en-US" sz="1000" dirty="0"/>
          </a:p>
          <a:p>
            <a:pPr algn="ctr" indent="0" marL="0">
              <a:buNone/>
            </a:pPr>
            <a:r>
              <a:rPr lang="en-US" sz="850" dirty="0">
                <a:solidFill>
                  <a:srgbClr val="C9D6EE"/>
                </a:solidFill>
                <a:latin typeface="Calibri" pitchFamily="34" charset="0"/>
                <a:ea typeface="Calibri" pitchFamily="34" charset="-122"/>
                <a:cs typeface="Calibri" pitchFamily="34" charset="-120"/>
              </a:rPr>
              <a:t>"I don't have enough information…"</a:t>
            </a:r>
            <a:endParaRPr lang="en-US" sz="1000" dirty="0"/>
          </a:p>
        </p:txBody>
      </p:sp>
      <p:sp>
        <p:nvSpPr>
          <p:cNvPr id="54" name="Text 52"/>
          <p:cNvSpPr txBox="1"/>
          <p:nvPr/>
        </p:nvSpPr>
        <p:spPr>
          <a:xfrm>
            <a:off x="5120640" y="4133088"/>
            <a:ext cx="3566160" cy="45720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Citation variants (full-width brackets, line ranges, [1, 3] lists, [2-4] ranges) are normalised to [n] before sources are matched.</a:t>
            </a:r>
            <a:endParaRPr lang="en-US" sz="900" dirty="0"/>
          </a:p>
        </p:txBody>
      </p:sp>
      <p:sp>
        <p:nvSpPr>
          <p:cNvPr id="55" name="Text 53"/>
          <p:cNvSpPr txBox="1"/>
          <p:nvPr/>
        </p:nvSpPr>
        <p:spPr>
          <a:xfrm>
            <a:off x="457200" y="4617720"/>
            <a:ext cx="4572000" cy="201168"/>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strategy = none skips the rewrite step and searches the original question only.</a:t>
            </a:r>
            <a:endParaRPr lang="en-US" sz="900" dirty="0"/>
          </a:p>
        </p:txBody>
      </p:sp>
      <p:sp>
        <p:nvSpPr>
          <p:cNvPr id="56" name="Text 54"/>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Multi-Document RAG  ·  18</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RETRIEVAL + GENERATION</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Who calls whom: a question in sequence</a:t>
            </a:r>
            <a:endParaRPr lang="en-US" sz="2800" dirty="0"/>
          </a:p>
        </p:txBody>
      </p:sp>
      <p:sp>
        <p:nvSpPr>
          <p:cNvPr id="4" name="Shape 2"/>
          <p:cNvSpPr/>
          <p:nvPr/>
        </p:nvSpPr>
        <p:spPr>
          <a:xfrm>
            <a:off x="411480" y="1234440"/>
            <a:ext cx="1280160" cy="411480"/>
          </a:xfrm>
          <a:prstGeom prst="roundRect">
            <a:avLst>
              <a:gd name="adj" fmla="val 17778"/>
            </a:avLst>
          </a:prstGeom>
          <a:solidFill>
            <a:srgbClr val="14213D"/>
          </a:solidFill>
          <a:ln w="12700">
            <a:solidFill>
              <a:srgbClr val="14213D"/>
            </a:solidFill>
            <a:prstDash val="solid"/>
          </a:ln>
        </p:spPr>
      </p:sp>
      <p:sp>
        <p:nvSpPr>
          <p:cNvPr id="5" name="Text 3"/>
          <p:cNvSpPr txBox="1"/>
          <p:nvPr/>
        </p:nvSpPr>
        <p:spPr>
          <a:xfrm>
            <a:off x="411480" y="1234440"/>
            <a:ext cx="1280160" cy="411480"/>
          </a:xfrm>
          <a:prstGeom prst="rect">
            <a:avLst/>
          </a:prstGeom>
          <a:noFill/>
          <a:ln/>
        </p:spPr>
        <p:txBody>
          <a:bodyPr wrap="square" lIns="25400" tIns="25400" rIns="25400" bIns="2540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CLI (main.py)</a:t>
            </a:r>
            <a:endParaRPr lang="en-US" sz="950" dirty="0"/>
          </a:p>
        </p:txBody>
      </p:sp>
      <p:sp>
        <p:nvSpPr>
          <p:cNvPr id="6" name="Shape 4"/>
          <p:cNvSpPr/>
          <p:nvPr/>
        </p:nvSpPr>
        <p:spPr>
          <a:xfrm>
            <a:off x="1051560" y="1645920"/>
            <a:ext cx="0" cy="3035808"/>
          </a:xfrm>
          <a:prstGeom prst="line">
            <a:avLst/>
          </a:prstGeom>
          <a:noFill/>
          <a:ln w="9525">
            <a:solidFill>
              <a:srgbClr val="B0B7C3"/>
            </a:solidFill>
            <a:prstDash val="dash"/>
          </a:ln>
        </p:spPr>
      </p:sp>
      <p:sp>
        <p:nvSpPr>
          <p:cNvPr id="7" name="Shape 5"/>
          <p:cNvSpPr/>
          <p:nvPr/>
        </p:nvSpPr>
        <p:spPr>
          <a:xfrm>
            <a:off x="1819656" y="1234440"/>
            <a:ext cx="1280160" cy="411480"/>
          </a:xfrm>
          <a:prstGeom prst="roundRect">
            <a:avLst>
              <a:gd name="adj" fmla="val 17778"/>
            </a:avLst>
          </a:prstGeom>
          <a:solidFill>
            <a:srgbClr val="14213D"/>
          </a:solidFill>
          <a:ln w="12700">
            <a:solidFill>
              <a:srgbClr val="14213D"/>
            </a:solidFill>
            <a:prstDash val="solid"/>
          </a:ln>
        </p:spPr>
      </p:sp>
      <p:sp>
        <p:nvSpPr>
          <p:cNvPr id="8" name="Text 6"/>
          <p:cNvSpPr txBox="1"/>
          <p:nvPr/>
        </p:nvSpPr>
        <p:spPr>
          <a:xfrm>
            <a:off x="1819656" y="1234440"/>
            <a:ext cx="1280160" cy="411480"/>
          </a:xfrm>
          <a:prstGeom prst="rect">
            <a:avLst/>
          </a:prstGeom>
          <a:noFill/>
          <a:ln/>
        </p:spPr>
        <p:txBody>
          <a:bodyPr wrap="square" lIns="25400" tIns="25400" rIns="25400" bIns="2540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RAGPipeline</a:t>
            </a:r>
            <a:endParaRPr lang="en-US" sz="950" dirty="0"/>
          </a:p>
        </p:txBody>
      </p:sp>
      <p:sp>
        <p:nvSpPr>
          <p:cNvPr id="9" name="Shape 7"/>
          <p:cNvSpPr/>
          <p:nvPr/>
        </p:nvSpPr>
        <p:spPr>
          <a:xfrm>
            <a:off x="2459736" y="1645920"/>
            <a:ext cx="0" cy="3035808"/>
          </a:xfrm>
          <a:prstGeom prst="line">
            <a:avLst/>
          </a:prstGeom>
          <a:noFill/>
          <a:ln w="9525">
            <a:solidFill>
              <a:srgbClr val="B0B7C3"/>
            </a:solidFill>
            <a:prstDash val="dash"/>
          </a:ln>
        </p:spPr>
      </p:sp>
      <p:sp>
        <p:nvSpPr>
          <p:cNvPr id="10" name="Shape 8"/>
          <p:cNvSpPr/>
          <p:nvPr/>
        </p:nvSpPr>
        <p:spPr>
          <a:xfrm>
            <a:off x="3227832" y="1234440"/>
            <a:ext cx="1280160" cy="411480"/>
          </a:xfrm>
          <a:prstGeom prst="roundRect">
            <a:avLst>
              <a:gd name="adj" fmla="val 17778"/>
            </a:avLst>
          </a:prstGeom>
          <a:solidFill>
            <a:srgbClr val="14213D"/>
          </a:solidFill>
          <a:ln w="12700">
            <a:solidFill>
              <a:srgbClr val="14213D"/>
            </a:solidFill>
            <a:prstDash val="solid"/>
          </a:ln>
        </p:spPr>
      </p:sp>
      <p:sp>
        <p:nvSpPr>
          <p:cNvPr id="11" name="Text 9"/>
          <p:cNvSpPr txBox="1"/>
          <p:nvPr/>
        </p:nvSpPr>
        <p:spPr>
          <a:xfrm>
            <a:off x="3227832" y="1234440"/>
            <a:ext cx="1280160" cy="411480"/>
          </a:xfrm>
          <a:prstGeom prst="rect">
            <a:avLst/>
          </a:prstGeom>
          <a:noFill/>
          <a:ln/>
        </p:spPr>
        <p:txBody>
          <a:bodyPr wrap="square" lIns="25400" tIns="25400" rIns="25400" bIns="2540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QueryRewriter</a:t>
            </a:r>
            <a:endParaRPr lang="en-US" sz="950" dirty="0"/>
          </a:p>
        </p:txBody>
      </p:sp>
      <p:sp>
        <p:nvSpPr>
          <p:cNvPr id="12" name="Shape 10"/>
          <p:cNvSpPr/>
          <p:nvPr/>
        </p:nvSpPr>
        <p:spPr>
          <a:xfrm>
            <a:off x="3867912" y="1645920"/>
            <a:ext cx="0" cy="3035808"/>
          </a:xfrm>
          <a:prstGeom prst="line">
            <a:avLst/>
          </a:prstGeom>
          <a:noFill/>
          <a:ln w="9525">
            <a:solidFill>
              <a:srgbClr val="B0B7C3"/>
            </a:solidFill>
            <a:prstDash val="dash"/>
          </a:ln>
        </p:spPr>
      </p:sp>
      <p:sp>
        <p:nvSpPr>
          <p:cNvPr id="13" name="Shape 11"/>
          <p:cNvSpPr/>
          <p:nvPr/>
        </p:nvSpPr>
        <p:spPr>
          <a:xfrm>
            <a:off x="4636008" y="1234440"/>
            <a:ext cx="1280160" cy="411480"/>
          </a:xfrm>
          <a:prstGeom prst="roundRect">
            <a:avLst>
              <a:gd name="adj" fmla="val 17778"/>
            </a:avLst>
          </a:prstGeom>
          <a:solidFill>
            <a:srgbClr val="14213D"/>
          </a:solidFill>
          <a:ln w="12700">
            <a:solidFill>
              <a:srgbClr val="14213D"/>
            </a:solidFill>
            <a:prstDash val="solid"/>
          </a:ln>
        </p:spPr>
      </p:sp>
      <p:sp>
        <p:nvSpPr>
          <p:cNvPr id="14" name="Text 12"/>
          <p:cNvSpPr txBox="1"/>
          <p:nvPr/>
        </p:nvSpPr>
        <p:spPr>
          <a:xfrm>
            <a:off x="4636008" y="1234440"/>
            <a:ext cx="1280160" cy="411480"/>
          </a:xfrm>
          <a:prstGeom prst="rect">
            <a:avLst/>
          </a:prstGeom>
          <a:noFill/>
          <a:ln/>
        </p:spPr>
        <p:txBody>
          <a:bodyPr wrap="square" lIns="25400" tIns="25400" rIns="25400" bIns="2540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EmbeddingModel</a:t>
            </a:r>
            <a:endParaRPr lang="en-US" sz="950" dirty="0"/>
          </a:p>
        </p:txBody>
      </p:sp>
      <p:sp>
        <p:nvSpPr>
          <p:cNvPr id="15" name="Shape 13"/>
          <p:cNvSpPr/>
          <p:nvPr/>
        </p:nvSpPr>
        <p:spPr>
          <a:xfrm>
            <a:off x="5276088" y="1645920"/>
            <a:ext cx="0" cy="3035808"/>
          </a:xfrm>
          <a:prstGeom prst="line">
            <a:avLst/>
          </a:prstGeom>
          <a:noFill/>
          <a:ln w="9525">
            <a:solidFill>
              <a:srgbClr val="B0B7C3"/>
            </a:solidFill>
            <a:prstDash val="dash"/>
          </a:ln>
        </p:spPr>
      </p:sp>
      <p:sp>
        <p:nvSpPr>
          <p:cNvPr id="16" name="Shape 14"/>
          <p:cNvSpPr/>
          <p:nvPr/>
        </p:nvSpPr>
        <p:spPr>
          <a:xfrm>
            <a:off x="6044184" y="1234440"/>
            <a:ext cx="1280160" cy="411480"/>
          </a:xfrm>
          <a:prstGeom prst="roundRect">
            <a:avLst>
              <a:gd name="adj" fmla="val 17778"/>
            </a:avLst>
          </a:prstGeom>
          <a:solidFill>
            <a:srgbClr val="14213D"/>
          </a:solidFill>
          <a:ln w="12700">
            <a:solidFill>
              <a:srgbClr val="14213D"/>
            </a:solidFill>
            <a:prstDash val="solid"/>
          </a:ln>
        </p:spPr>
      </p:sp>
      <p:sp>
        <p:nvSpPr>
          <p:cNvPr id="17" name="Text 15"/>
          <p:cNvSpPr txBox="1"/>
          <p:nvPr/>
        </p:nvSpPr>
        <p:spPr>
          <a:xfrm>
            <a:off x="6044184" y="1234440"/>
            <a:ext cx="1280160" cy="411480"/>
          </a:xfrm>
          <a:prstGeom prst="rect">
            <a:avLst/>
          </a:prstGeom>
          <a:noFill/>
          <a:ln/>
        </p:spPr>
        <p:txBody>
          <a:bodyPr wrap="square" lIns="25400" tIns="25400" rIns="25400" bIns="2540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ChromaVectorStore</a:t>
            </a:r>
            <a:endParaRPr lang="en-US" sz="950" dirty="0"/>
          </a:p>
        </p:txBody>
      </p:sp>
      <p:sp>
        <p:nvSpPr>
          <p:cNvPr id="18" name="Shape 16"/>
          <p:cNvSpPr/>
          <p:nvPr/>
        </p:nvSpPr>
        <p:spPr>
          <a:xfrm>
            <a:off x="6684264" y="1645920"/>
            <a:ext cx="0" cy="3035808"/>
          </a:xfrm>
          <a:prstGeom prst="line">
            <a:avLst/>
          </a:prstGeom>
          <a:noFill/>
          <a:ln w="9525">
            <a:solidFill>
              <a:srgbClr val="B0B7C3"/>
            </a:solidFill>
            <a:prstDash val="dash"/>
          </a:ln>
        </p:spPr>
      </p:sp>
      <p:sp>
        <p:nvSpPr>
          <p:cNvPr id="19" name="Shape 17"/>
          <p:cNvSpPr/>
          <p:nvPr/>
        </p:nvSpPr>
        <p:spPr>
          <a:xfrm>
            <a:off x="7452360" y="1234440"/>
            <a:ext cx="1280160" cy="411480"/>
          </a:xfrm>
          <a:prstGeom prst="roundRect">
            <a:avLst>
              <a:gd name="adj" fmla="val 17778"/>
            </a:avLst>
          </a:prstGeom>
          <a:solidFill>
            <a:srgbClr val="14213D"/>
          </a:solidFill>
          <a:ln w="12700">
            <a:solidFill>
              <a:srgbClr val="14213D"/>
            </a:solidFill>
            <a:prstDash val="solid"/>
          </a:ln>
        </p:spPr>
      </p:sp>
      <p:sp>
        <p:nvSpPr>
          <p:cNvPr id="20" name="Text 18"/>
          <p:cNvSpPr txBox="1"/>
          <p:nvPr/>
        </p:nvSpPr>
        <p:spPr>
          <a:xfrm>
            <a:off x="7452360" y="1234440"/>
            <a:ext cx="1280160" cy="411480"/>
          </a:xfrm>
          <a:prstGeom prst="rect">
            <a:avLst/>
          </a:prstGeom>
          <a:noFill/>
          <a:ln/>
        </p:spPr>
        <p:txBody>
          <a:bodyPr wrap="square" lIns="25400" tIns="25400" rIns="25400" bIns="2540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LLM (Groq)</a:t>
            </a:r>
            <a:endParaRPr lang="en-US" sz="950" dirty="0"/>
          </a:p>
        </p:txBody>
      </p:sp>
      <p:sp>
        <p:nvSpPr>
          <p:cNvPr id="21" name="Shape 19"/>
          <p:cNvSpPr/>
          <p:nvPr/>
        </p:nvSpPr>
        <p:spPr>
          <a:xfrm>
            <a:off x="8092440" y="1645920"/>
            <a:ext cx="0" cy="3035808"/>
          </a:xfrm>
          <a:prstGeom prst="line">
            <a:avLst/>
          </a:prstGeom>
          <a:noFill/>
          <a:ln w="9525">
            <a:solidFill>
              <a:srgbClr val="B0B7C3"/>
            </a:solidFill>
            <a:prstDash val="dash"/>
          </a:ln>
        </p:spPr>
      </p:sp>
      <p:sp>
        <p:nvSpPr>
          <p:cNvPr id="22" name="Shape 20"/>
          <p:cNvSpPr/>
          <p:nvPr/>
        </p:nvSpPr>
        <p:spPr>
          <a:xfrm>
            <a:off x="2459736" y="3538728"/>
            <a:ext cx="274320" cy="0"/>
          </a:xfrm>
          <a:prstGeom prst="line">
            <a:avLst/>
          </a:prstGeom>
          <a:noFill/>
          <a:ln w="12700">
            <a:solidFill>
              <a:srgbClr val="14213D"/>
            </a:solidFill>
            <a:prstDash val="solid"/>
          </a:ln>
        </p:spPr>
      </p:sp>
      <p:sp>
        <p:nvSpPr>
          <p:cNvPr id="23" name="Shape 21"/>
          <p:cNvSpPr/>
          <p:nvPr/>
        </p:nvSpPr>
        <p:spPr>
          <a:xfrm>
            <a:off x="2734056" y="3538728"/>
            <a:ext cx="0" cy="182880"/>
          </a:xfrm>
          <a:prstGeom prst="line">
            <a:avLst/>
          </a:prstGeom>
          <a:noFill/>
          <a:ln w="12700">
            <a:solidFill>
              <a:srgbClr val="14213D"/>
            </a:solidFill>
            <a:prstDash val="solid"/>
          </a:ln>
        </p:spPr>
      </p:sp>
      <p:sp>
        <p:nvSpPr>
          <p:cNvPr id="24" name="Shape 22"/>
          <p:cNvSpPr/>
          <p:nvPr/>
        </p:nvSpPr>
        <p:spPr>
          <a:xfrm flipH="1">
            <a:off x="2459736" y="3721608"/>
            <a:ext cx="274320" cy="0"/>
          </a:xfrm>
          <a:prstGeom prst="line">
            <a:avLst/>
          </a:prstGeom>
          <a:noFill/>
          <a:ln w="12700">
            <a:solidFill>
              <a:srgbClr val="14213D"/>
            </a:solidFill>
            <a:prstDash val="solid"/>
            <a:tailEnd type="triangle"/>
          </a:ln>
        </p:spPr>
      </p:sp>
      <p:sp>
        <p:nvSpPr>
          <p:cNvPr id="25" name="Text 23"/>
          <p:cNvSpPr txBox="1"/>
          <p:nvPr/>
        </p:nvSpPr>
        <p:spPr>
          <a:xfrm>
            <a:off x="2788920" y="3520440"/>
            <a:ext cx="1051560" cy="219456"/>
          </a:xfrm>
          <a:prstGeom prst="rect">
            <a:avLst/>
          </a:prstGeom>
          <a:solidFill>
            <a:srgbClr val="FFFFFF"/>
          </a:solidFill>
          <a:ln/>
        </p:spPr>
        <p:txBody>
          <a:bodyPr wrap="square" lIns="0" tIns="0" rIns="0" bIns="0" rtlCol="0" anchor="ctr"/>
          <a:lstStyle/>
          <a:p>
            <a:pPr indent="0" marL="0">
              <a:buNone/>
            </a:pPr>
            <a:r>
              <a:rPr lang="en-US" sz="800" dirty="0">
                <a:solidFill>
                  <a:srgbClr val="1F2937"/>
                </a:solidFill>
                <a:latin typeface="Calibri" pitchFamily="34" charset="0"/>
                <a:ea typeface="Calibri" pitchFamily="34" charset="-122"/>
                <a:cs typeface="Calibri" pitchFamily="34" charset="-120"/>
              </a:rPr>
              <a:t>RRF fusion → top-k</a:t>
            </a:r>
            <a:endParaRPr lang="en-US" sz="800" dirty="0"/>
          </a:p>
        </p:txBody>
      </p:sp>
      <p:sp>
        <p:nvSpPr>
          <p:cNvPr id="26" name="Shape 24"/>
          <p:cNvSpPr/>
          <p:nvPr/>
        </p:nvSpPr>
        <p:spPr>
          <a:xfrm>
            <a:off x="1051560" y="1965960"/>
            <a:ext cx="1408176" cy="0"/>
          </a:xfrm>
          <a:prstGeom prst="line">
            <a:avLst/>
          </a:prstGeom>
          <a:noFill/>
          <a:ln w="12700">
            <a:solidFill>
              <a:srgbClr val="14213D"/>
            </a:solidFill>
            <a:prstDash val="solid"/>
            <a:tailEnd type="triangle"/>
          </a:ln>
        </p:spPr>
      </p:sp>
      <p:sp>
        <p:nvSpPr>
          <p:cNvPr id="27" name="Text 25"/>
          <p:cNvSpPr txBox="1"/>
          <p:nvPr/>
        </p:nvSpPr>
        <p:spPr>
          <a:xfrm>
            <a:off x="1302106" y="1746504"/>
            <a:ext cx="907085" cy="201168"/>
          </a:xfrm>
          <a:prstGeom prst="rect">
            <a:avLst/>
          </a:prstGeom>
          <a:solidFill>
            <a:srgbClr val="FFFFFF"/>
          </a:solidFill>
          <a:ln/>
        </p:spPr>
        <p:txBody>
          <a:bodyPr wrap="square" lIns="0" tIns="0" rIns="0" bIns="0" rtlCol="0" anchor="b"/>
          <a:lstStyle/>
          <a:p>
            <a:pPr algn="ctr" indent="0" marL="0">
              <a:buNone/>
            </a:pPr>
            <a:r>
              <a:rPr lang="en-US" sz="800" dirty="0">
                <a:solidFill>
                  <a:srgbClr val="1F2937"/>
                </a:solidFill>
                <a:latin typeface="Calibri" pitchFamily="34" charset="0"/>
                <a:ea typeface="Calibri" pitchFamily="34" charset="-122"/>
                <a:cs typeface="Calibri" pitchFamily="34" charset="-120"/>
              </a:rPr>
              <a:t>ask(question, k)</a:t>
            </a:r>
            <a:endParaRPr lang="en-US" sz="800" dirty="0"/>
          </a:p>
        </p:txBody>
      </p:sp>
      <p:sp>
        <p:nvSpPr>
          <p:cNvPr id="28" name="Shape 26"/>
          <p:cNvSpPr/>
          <p:nvPr/>
        </p:nvSpPr>
        <p:spPr>
          <a:xfrm>
            <a:off x="2459736" y="2240280"/>
            <a:ext cx="1408176" cy="0"/>
          </a:xfrm>
          <a:prstGeom prst="line">
            <a:avLst/>
          </a:prstGeom>
          <a:noFill/>
          <a:ln w="12700">
            <a:solidFill>
              <a:srgbClr val="14213D"/>
            </a:solidFill>
            <a:prstDash val="solid"/>
            <a:tailEnd type="triangle"/>
          </a:ln>
        </p:spPr>
      </p:sp>
      <p:sp>
        <p:nvSpPr>
          <p:cNvPr id="29" name="Text 27"/>
          <p:cNvSpPr txBox="1"/>
          <p:nvPr/>
        </p:nvSpPr>
        <p:spPr>
          <a:xfrm>
            <a:off x="2681935" y="2020824"/>
            <a:ext cx="963778" cy="201168"/>
          </a:xfrm>
          <a:prstGeom prst="rect">
            <a:avLst/>
          </a:prstGeom>
          <a:solidFill>
            <a:srgbClr val="FFFFFF"/>
          </a:solidFill>
          <a:ln/>
        </p:spPr>
        <p:txBody>
          <a:bodyPr wrap="square" lIns="0" tIns="0" rIns="0" bIns="0" rtlCol="0" anchor="b"/>
          <a:lstStyle/>
          <a:p>
            <a:pPr algn="ctr" indent="0" marL="0">
              <a:buNone/>
            </a:pPr>
            <a:r>
              <a:rPr lang="en-US" sz="800" dirty="0">
                <a:solidFill>
                  <a:srgbClr val="1F2937"/>
                </a:solidFill>
                <a:latin typeface="Calibri" pitchFamily="34" charset="0"/>
                <a:ea typeface="Calibri" pitchFamily="34" charset="-122"/>
                <a:cs typeface="Calibri" pitchFamily="34" charset="-120"/>
              </a:rPr>
              <a:t>rewrite(question)</a:t>
            </a:r>
            <a:endParaRPr lang="en-US" sz="800" dirty="0"/>
          </a:p>
        </p:txBody>
      </p:sp>
      <p:sp>
        <p:nvSpPr>
          <p:cNvPr id="30" name="Shape 28"/>
          <p:cNvSpPr/>
          <p:nvPr/>
        </p:nvSpPr>
        <p:spPr>
          <a:xfrm>
            <a:off x="3867912" y="2514600"/>
            <a:ext cx="4224528" cy="0"/>
          </a:xfrm>
          <a:prstGeom prst="line">
            <a:avLst/>
          </a:prstGeom>
          <a:noFill/>
          <a:ln w="12700">
            <a:solidFill>
              <a:srgbClr val="6B7280"/>
            </a:solidFill>
            <a:prstDash val="dash"/>
            <a:tailEnd type="triangle"/>
          </a:ln>
        </p:spPr>
      </p:sp>
      <p:sp>
        <p:nvSpPr>
          <p:cNvPr id="31" name="Text 29"/>
          <p:cNvSpPr txBox="1"/>
          <p:nvPr/>
        </p:nvSpPr>
        <p:spPr>
          <a:xfrm>
            <a:off x="4449470" y="2295144"/>
            <a:ext cx="3061411" cy="201168"/>
          </a:xfrm>
          <a:prstGeom prst="rect">
            <a:avLst/>
          </a:prstGeom>
          <a:solidFill>
            <a:srgbClr val="FFFFFF"/>
          </a:solidFill>
          <a:ln/>
        </p:spPr>
        <p:txBody>
          <a:bodyPr wrap="square" lIns="0" tIns="0" rIns="0" bIns="0" rtlCol="0" anchor="b"/>
          <a:lstStyle/>
          <a:p>
            <a:pPr algn="ctr" indent="0" marL="0">
              <a:buNone/>
            </a:pPr>
            <a:r>
              <a:rPr lang="en-US" sz="800" i="1" dirty="0">
                <a:solidFill>
                  <a:srgbClr val="6B7280"/>
                </a:solidFill>
                <a:latin typeface="Calibri" pitchFamily="34" charset="0"/>
                <a:ea typeface="Calibri" pitchFamily="34" charset="-122"/>
                <a:cs typeface="Calibri" pitchFamily="34" charset="-120"/>
              </a:rPr>
              <a:t>paraphrase / HyDE / step-back  (llm_* strategies only)</a:t>
            </a:r>
            <a:endParaRPr lang="en-US" sz="800" dirty="0"/>
          </a:p>
        </p:txBody>
      </p:sp>
      <p:sp>
        <p:nvSpPr>
          <p:cNvPr id="32" name="Shape 30"/>
          <p:cNvSpPr/>
          <p:nvPr/>
        </p:nvSpPr>
        <p:spPr>
          <a:xfrm flipH="1">
            <a:off x="2459736" y="2788920"/>
            <a:ext cx="1408176" cy="0"/>
          </a:xfrm>
          <a:prstGeom prst="line">
            <a:avLst/>
          </a:prstGeom>
          <a:noFill/>
          <a:ln w="12700">
            <a:solidFill>
              <a:srgbClr val="6B7280"/>
            </a:solidFill>
            <a:prstDash val="dash"/>
            <a:tailEnd type="triangle"/>
          </a:ln>
        </p:spPr>
      </p:sp>
      <p:sp>
        <p:nvSpPr>
          <p:cNvPr id="33" name="Text 31"/>
          <p:cNvSpPr txBox="1"/>
          <p:nvPr/>
        </p:nvSpPr>
        <p:spPr>
          <a:xfrm>
            <a:off x="2795321" y="2569464"/>
            <a:ext cx="737006" cy="201168"/>
          </a:xfrm>
          <a:prstGeom prst="rect">
            <a:avLst/>
          </a:prstGeom>
          <a:solidFill>
            <a:srgbClr val="FFFFFF"/>
          </a:solidFill>
          <a:ln/>
        </p:spPr>
        <p:txBody>
          <a:bodyPr wrap="square" lIns="0" tIns="0" rIns="0" bIns="0" rtlCol="0" anchor="b"/>
          <a:lstStyle/>
          <a:p>
            <a:pPr algn="ctr" indent="0" marL="0">
              <a:buNone/>
            </a:pPr>
            <a:r>
              <a:rPr lang="en-US" sz="800" i="1" dirty="0">
                <a:solidFill>
                  <a:srgbClr val="6B7280"/>
                </a:solidFill>
                <a:latin typeface="Calibri" pitchFamily="34" charset="0"/>
                <a:ea typeface="Calibri" pitchFamily="34" charset="-122"/>
                <a:cs typeface="Calibri" pitchFamily="34" charset="-120"/>
              </a:rPr>
              <a:t>RewriteResult</a:t>
            </a:r>
            <a:endParaRPr lang="en-US" sz="800" dirty="0"/>
          </a:p>
        </p:txBody>
      </p:sp>
      <p:sp>
        <p:nvSpPr>
          <p:cNvPr id="34" name="Shape 32"/>
          <p:cNvSpPr/>
          <p:nvPr/>
        </p:nvSpPr>
        <p:spPr>
          <a:xfrm>
            <a:off x="2459736" y="3063240"/>
            <a:ext cx="2816352" cy="0"/>
          </a:xfrm>
          <a:prstGeom prst="line">
            <a:avLst/>
          </a:prstGeom>
          <a:noFill/>
          <a:ln w="12700">
            <a:solidFill>
              <a:srgbClr val="14213D"/>
            </a:solidFill>
            <a:prstDash val="solid"/>
            <a:tailEnd type="triangle"/>
          </a:ln>
        </p:spPr>
      </p:sp>
      <p:sp>
        <p:nvSpPr>
          <p:cNvPr id="35" name="Text 33"/>
          <p:cNvSpPr txBox="1"/>
          <p:nvPr/>
        </p:nvSpPr>
        <p:spPr>
          <a:xfrm>
            <a:off x="3130906" y="2843784"/>
            <a:ext cx="1474013" cy="201168"/>
          </a:xfrm>
          <a:prstGeom prst="rect">
            <a:avLst/>
          </a:prstGeom>
          <a:solidFill>
            <a:srgbClr val="FFFFFF"/>
          </a:solidFill>
          <a:ln/>
        </p:spPr>
        <p:txBody>
          <a:bodyPr wrap="square" lIns="0" tIns="0" rIns="0" bIns="0" rtlCol="0" anchor="b"/>
          <a:lstStyle/>
          <a:p>
            <a:pPr algn="ctr" indent="0" marL="0">
              <a:buNone/>
            </a:pPr>
            <a:r>
              <a:rPr lang="en-US" sz="800" dirty="0">
                <a:solidFill>
                  <a:srgbClr val="1F2937"/>
                </a:solidFill>
                <a:latin typeface="Calibri" pitchFamily="34" charset="0"/>
                <a:ea typeface="Calibri" pitchFamily="34" charset="-122"/>
                <a:cs typeface="Calibri" pitchFamily="34" charset="-120"/>
              </a:rPr>
              <a:t>embed_queries(all_queries)</a:t>
            </a:r>
            <a:endParaRPr lang="en-US" sz="800" dirty="0"/>
          </a:p>
        </p:txBody>
      </p:sp>
      <p:sp>
        <p:nvSpPr>
          <p:cNvPr id="36" name="Shape 34"/>
          <p:cNvSpPr/>
          <p:nvPr/>
        </p:nvSpPr>
        <p:spPr>
          <a:xfrm>
            <a:off x="2459736" y="3337560"/>
            <a:ext cx="4224528" cy="0"/>
          </a:xfrm>
          <a:prstGeom prst="line">
            <a:avLst/>
          </a:prstGeom>
          <a:noFill/>
          <a:ln w="12700">
            <a:solidFill>
              <a:srgbClr val="14213D"/>
            </a:solidFill>
            <a:prstDash val="solid"/>
            <a:tailEnd type="triangle"/>
          </a:ln>
        </p:spPr>
      </p:sp>
      <p:sp>
        <p:nvSpPr>
          <p:cNvPr id="37" name="Text 35"/>
          <p:cNvSpPr txBox="1"/>
          <p:nvPr/>
        </p:nvSpPr>
        <p:spPr>
          <a:xfrm>
            <a:off x="3551530" y="3118104"/>
            <a:ext cx="2040941" cy="201168"/>
          </a:xfrm>
          <a:prstGeom prst="rect">
            <a:avLst/>
          </a:prstGeom>
          <a:solidFill>
            <a:srgbClr val="FFFFFF"/>
          </a:solidFill>
          <a:ln/>
        </p:spPr>
        <p:txBody>
          <a:bodyPr wrap="square" lIns="0" tIns="0" rIns="0" bIns="0" rtlCol="0" anchor="b"/>
          <a:lstStyle/>
          <a:p>
            <a:pPr algn="ctr" indent="0" marL="0">
              <a:buNone/>
            </a:pPr>
            <a:r>
              <a:rPr lang="en-US" sz="800" dirty="0">
                <a:solidFill>
                  <a:srgbClr val="1F2937"/>
                </a:solidFill>
                <a:latin typeface="Calibri" pitchFamily="34" charset="0"/>
                <a:ea typeface="Calibri" pitchFamily="34" charset="-122"/>
                <a:cs typeface="Calibri" pitchFamily="34" charset="-120"/>
              </a:rPr>
              <a:t>search(vector, 2k)  — once per query</a:t>
            </a:r>
            <a:endParaRPr lang="en-US" sz="800" dirty="0"/>
          </a:p>
        </p:txBody>
      </p:sp>
      <p:sp>
        <p:nvSpPr>
          <p:cNvPr id="38" name="Shape 36"/>
          <p:cNvSpPr/>
          <p:nvPr/>
        </p:nvSpPr>
        <p:spPr>
          <a:xfrm>
            <a:off x="2459736" y="3931920"/>
            <a:ext cx="5632704" cy="0"/>
          </a:xfrm>
          <a:prstGeom prst="line">
            <a:avLst/>
          </a:prstGeom>
          <a:noFill/>
          <a:ln w="12700">
            <a:solidFill>
              <a:srgbClr val="14213D"/>
            </a:solidFill>
            <a:prstDash val="solid"/>
            <a:tailEnd type="triangle"/>
          </a:ln>
        </p:spPr>
      </p:sp>
      <p:sp>
        <p:nvSpPr>
          <p:cNvPr id="39" name="Text 37"/>
          <p:cNvSpPr txBox="1"/>
          <p:nvPr/>
        </p:nvSpPr>
        <p:spPr>
          <a:xfrm>
            <a:off x="4085539" y="3712464"/>
            <a:ext cx="2381098" cy="201168"/>
          </a:xfrm>
          <a:prstGeom prst="rect">
            <a:avLst/>
          </a:prstGeom>
          <a:solidFill>
            <a:srgbClr val="FFFFFF"/>
          </a:solidFill>
          <a:ln/>
        </p:spPr>
        <p:txBody>
          <a:bodyPr wrap="square" lIns="0" tIns="0" rIns="0" bIns="0" rtlCol="0" anchor="b"/>
          <a:lstStyle/>
          <a:p>
            <a:pPr algn="ctr" indent="0" marL="0">
              <a:buNone/>
            </a:pPr>
            <a:r>
              <a:rPr lang="en-US" sz="800" dirty="0">
                <a:solidFill>
                  <a:srgbClr val="1F2937"/>
                </a:solidFill>
                <a:latin typeface="Calibri" pitchFamily="34" charset="0"/>
                <a:ea typeface="Calibri" pitchFamily="34" charset="-122"/>
                <a:cs typeface="Calibri" pitchFamily="34" charset="-120"/>
              </a:rPr>
              <a:t>chat(rules + numbered passages + question)</a:t>
            </a:r>
            <a:endParaRPr lang="en-US" sz="800" dirty="0"/>
          </a:p>
        </p:txBody>
      </p:sp>
      <p:sp>
        <p:nvSpPr>
          <p:cNvPr id="40" name="Shape 38"/>
          <p:cNvSpPr/>
          <p:nvPr/>
        </p:nvSpPr>
        <p:spPr>
          <a:xfrm flipH="1">
            <a:off x="2459736" y="4206240"/>
            <a:ext cx="5632704" cy="0"/>
          </a:xfrm>
          <a:prstGeom prst="line">
            <a:avLst/>
          </a:prstGeom>
          <a:noFill/>
          <a:ln w="12700">
            <a:solidFill>
              <a:srgbClr val="6B7280"/>
            </a:solidFill>
            <a:prstDash val="dash"/>
            <a:tailEnd type="triangle"/>
          </a:ln>
        </p:spPr>
      </p:sp>
      <p:sp>
        <p:nvSpPr>
          <p:cNvPr id="41" name="Text 39"/>
          <p:cNvSpPr txBox="1"/>
          <p:nvPr/>
        </p:nvSpPr>
        <p:spPr>
          <a:xfrm>
            <a:off x="4425696" y="3986784"/>
            <a:ext cx="1700784" cy="201168"/>
          </a:xfrm>
          <a:prstGeom prst="rect">
            <a:avLst/>
          </a:prstGeom>
          <a:solidFill>
            <a:srgbClr val="FFFFFF"/>
          </a:solidFill>
          <a:ln/>
        </p:spPr>
        <p:txBody>
          <a:bodyPr wrap="square" lIns="0" tIns="0" rIns="0" bIns="0" rtlCol="0" anchor="b"/>
          <a:lstStyle/>
          <a:p>
            <a:pPr algn="ctr" indent="0" marL="0">
              <a:buNone/>
            </a:pPr>
            <a:r>
              <a:rPr lang="en-US" sz="800" i="1" dirty="0">
                <a:solidFill>
                  <a:srgbClr val="6B7280"/>
                </a:solidFill>
                <a:latin typeface="Calibri" pitchFamily="34" charset="0"/>
                <a:ea typeface="Calibri" pitchFamily="34" charset="-122"/>
                <a:cs typeface="Calibri" pitchFamily="34" charset="-120"/>
              </a:rPr>
              <a:t>answer text with [n] citations</a:t>
            </a:r>
            <a:endParaRPr lang="en-US" sz="800" dirty="0"/>
          </a:p>
        </p:txBody>
      </p:sp>
      <p:sp>
        <p:nvSpPr>
          <p:cNvPr id="42" name="Shape 40"/>
          <p:cNvSpPr/>
          <p:nvPr/>
        </p:nvSpPr>
        <p:spPr>
          <a:xfrm flipH="1">
            <a:off x="1051560" y="4480560"/>
            <a:ext cx="1408176" cy="0"/>
          </a:xfrm>
          <a:prstGeom prst="line">
            <a:avLst/>
          </a:prstGeom>
          <a:noFill/>
          <a:ln w="12700">
            <a:solidFill>
              <a:srgbClr val="6B7280"/>
            </a:solidFill>
            <a:prstDash val="dash"/>
            <a:tailEnd type="triangle"/>
          </a:ln>
        </p:spPr>
      </p:sp>
      <p:sp>
        <p:nvSpPr>
          <p:cNvPr id="43" name="Text 41"/>
          <p:cNvSpPr txBox="1"/>
          <p:nvPr/>
        </p:nvSpPr>
        <p:spPr>
          <a:xfrm>
            <a:off x="1443838" y="4261104"/>
            <a:ext cx="623621" cy="201168"/>
          </a:xfrm>
          <a:prstGeom prst="rect">
            <a:avLst/>
          </a:prstGeom>
          <a:solidFill>
            <a:srgbClr val="FFFFFF"/>
          </a:solidFill>
          <a:ln/>
        </p:spPr>
        <p:txBody>
          <a:bodyPr wrap="square" lIns="0" tIns="0" rIns="0" bIns="0" rtlCol="0" anchor="b"/>
          <a:lstStyle/>
          <a:p>
            <a:pPr algn="ctr" indent="0" marL="0">
              <a:buNone/>
            </a:pPr>
            <a:r>
              <a:rPr lang="en-US" sz="800" i="1" dirty="0">
                <a:solidFill>
                  <a:srgbClr val="6B7280"/>
                </a:solidFill>
                <a:latin typeface="Calibri" pitchFamily="34" charset="0"/>
                <a:ea typeface="Calibri" pitchFamily="34" charset="-122"/>
                <a:cs typeface="Calibri" pitchFamily="34" charset="-120"/>
              </a:rPr>
              <a:t>RAGResponse</a:t>
            </a:r>
            <a:endParaRPr lang="en-US" sz="800" dirty="0"/>
          </a:p>
        </p:txBody>
      </p:sp>
      <p:sp>
        <p:nvSpPr>
          <p:cNvPr id="44" name="Text 42"/>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Multi-Document RAG  ·  19</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731520" y="1737360"/>
            <a:ext cx="7315200" cy="274320"/>
          </a:xfrm>
          <a:prstGeom prst="rect">
            <a:avLst/>
          </a:prstGeom>
          <a:noFill/>
          <a:ln/>
        </p:spPr>
        <p:txBody>
          <a:bodyPr wrap="square" lIns="0" tIns="0" rIns="0" bIns="0" rtlCol="0" anchor="ctr"/>
          <a:lstStyle/>
          <a:p>
            <a:pPr indent="0" marL="0">
              <a:buNone/>
            </a:pPr>
            <a:r>
              <a:rPr lang="en-US" sz="1200" b="1" spc="300" kern="0" dirty="0">
                <a:solidFill>
                  <a:srgbClr val="FCA311"/>
                </a:solidFill>
                <a:latin typeface="Calibri" pitchFamily="34" charset="0"/>
                <a:ea typeface="Calibri" pitchFamily="34" charset="-122"/>
                <a:cs typeface="Calibri" pitchFamily="34" charset="-120"/>
              </a:rPr>
              <a:t>PART 4</a:t>
            </a:r>
            <a:endParaRPr lang="en-US" sz="1200" dirty="0"/>
          </a:p>
        </p:txBody>
      </p:sp>
      <p:sp>
        <p:nvSpPr>
          <p:cNvPr id="3" name="Text 1"/>
          <p:cNvSpPr txBox="1"/>
          <p:nvPr/>
        </p:nvSpPr>
        <p:spPr>
          <a:xfrm>
            <a:off x="731520" y="2057400"/>
            <a:ext cx="768096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Generation &amp; CLI</a:t>
            </a:r>
            <a:endParaRPr lang="en-US" sz="4000" dirty="0"/>
          </a:p>
        </p:txBody>
      </p:sp>
      <p:sp>
        <p:nvSpPr>
          <p:cNvPr id="4" name="Text 2"/>
          <p:cNvSpPr txBox="1"/>
          <p:nvPr/>
        </p:nvSpPr>
        <p:spPr>
          <a:xfrm>
            <a:off x="731520" y="2926080"/>
            <a:ext cx="7315200" cy="548640"/>
          </a:xfrm>
          <a:prstGeom prst="rect">
            <a:avLst/>
          </a:prstGeom>
          <a:noFill/>
          <a:ln/>
        </p:spPr>
        <p:txBody>
          <a:bodyPr wrap="square" lIns="0" tIns="0" rIns="0" bIns="0" rtlCol="0" anchor="ctr"/>
          <a:lstStyle/>
          <a:p>
            <a:pPr indent="0" marL="0">
              <a:buNone/>
            </a:pPr>
            <a:r>
              <a:rPr lang="en-US" sz="1600" dirty="0">
                <a:solidFill>
                  <a:srgbClr val="C9D6EE"/>
                </a:solidFill>
                <a:latin typeface="Calibri" pitchFamily="34" charset="0"/>
                <a:ea typeface="Calibri" pitchFamily="34" charset="-122"/>
                <a:cs typeface="Calibri" pitchFamily="34" charset="-120"/>
              </a:rPr>
              <a:t>Grounded prompting with citations, pluggable LLM providers, and the interactive CLI.</a:t>
            </a:r>
            <a:endParaRPr lang="en-US" sz="1600" dirty="0"/>
          </a:p>
        </p:txBody>
      </p:sp>
      <p:sp>
        <p:nvSpPr>
          <p:cNvPr id="5" name="Shape 3"/>
          <p:cNvSpPr/>
          <p:nvPr/>
        </p:nvSpPr>
        <p:spPr>
          <a:xfrm>
            <a:off x="731520" y="3931920"/>
            <a:ext cx="146304" cy="146304"/>
          </a:xfrm>
          <a:prstGeom prst="ellipse">
            <a:avLst/>
          </a:prstGeom>
          <a:solidFill>
            <a:srgbClr val="FCA311"/>
          </a:solidFill>
          <a:ln w="12700">
            <a:solidFill>
              <a:srgbClr val="FCA311"/>
            </a:solidFill>
            <a:prstDash val="solid"/>
          </a:ln>
        </p:spPr>
      </p:sp>
      <p:sp>
        <p:nvSpPr>
          <p:cNvPr id="6" name="Shape 4"/>
          <p:cNvSpPr/>
          <p:nvPr/>
        </p:nvSpPr>
        <p:spPr>
          <a:xfrm>
            <a:off x="987552" y="3931920"/>
            <a:ext cx="146304" cy="146304"/>
          </a:xfrm>
          <a:prstGeom prst="ellipse">
            <a:avLst/>
          </a:prstGeom>
          <a:solidFill>
            <a:srgbClr val="1F2F5C"/>
          </a:solidFill>
          <a:ln w="12700">
            <a:solidFill>
              <a:srgbClr val="FCA311"/>
            </a:solidFill>
            <a:prstDash val="solid"/>
          </a:ln>
        </p:spPr>
      </p:sp>
      <p:sp>
        <p:nvSpPr>
          <p:cNvPr id="7" name="Shape 5"/>
          <p:cNvSpPr/>
          <p:nvPr/>
        </p:nvSpPr>
        <p:spPr>
          <a:xfrm>
            <a:off x="1243584" y="3931920"/>
            <a:ext cx="146304" cy="146304"/>
          </a:xfrm>
          <a:prstGeom prst="ellipse">
            <a:avLst/>
          </a:prstGeom>
          <a:solidFill>
            <a:srgbClr val="1F2F5C"/>
          </a:solidFill>
          <a:ln w="12700">
            <a:solidFill>
              <a:srgbClr val="FCA311"/>
            </a:solidFill>
            <a:prstDash val="solid"/>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GENERATION</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Grounded answers with [n] citations</a:t>
            </a:r>
            <a:endParaRPr lang="en-US" sz="2800" dirty="0"/>
          </a:p>
        </p:txBody>
      </p:sp>
      <p:sp>
        <p:nvSpPr>
          <p:cNvPr id="4" name="Shape 2"/>
          <p:cNvSpPr/>
          <p:nvPr/>
        </p:nvSpPr>
        <p:spPr>
          <a:xfrm>
            <a:off x="457200" y="1280160"/>
            <a:ext cx="4114800" cy="3383280"/>
          </a:xfrm>
          <a:prstGeom prst="roundRect">
            <a:avLst>
              <a:gd name="adj" fmla="val 2703"/>
            </a:avLst>
          </a:prstGeom>
          <a:solidFill>
            <a:srgbClr val="F4F5F7"/>
          </a:solidFill>
          <a:ln w="9525">
            <a:solidFill>
              <a:srgbClr val="E5E7EB"/>
            </a:solidFill>
            <a:prstDash val="solid"/>
          </a:ln>
        </p:spPr>
      </p:sp>
      <p:sp>
        <p:nvSpPr>
          <p:cNvPr id="5" name="Text 3"/>
          <p:cNvSpPr txBox="1"/>
          <p:nvPr/>
        </p:nvSpPr>
        <p:spPr>
          <a:xfrm>
            <a:off x="640080" y="1371600"/>
            <a:ext cx="3749040" cy="274320"/>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Prompt anatomy  (src/prompt.py)</a:t>
            </a:r>
            <a:endParaRPr lang="en-US" sz="1200" dirty="0"/>
          </a:p>
        </p:txBody>
      </p:sp>
      <p:sp>
        <p:nvSpPr>
          <p:cNvPr id="6" name="Text 4"/>
          <p:cNvSpPr txBox="1"/>
          <p:nvPr/>
        </p:nvSpPr>
        <p:spPr>
          <a:xfrm>
            <a:off x="640080" y="1691640"/>
            <a:ext cx="3749040" cy="219456"/>
          </a:xfrm>
          <a:prstGeom prst="rect">
            <a:avLst/>
          </a:prstGeom>
          <a:noFill/>
          <a:ln/>
        </p:spPr>
        <p:txBody>
          <a:bodyPr wrap="square" lIns="0" tIns="0" rIns="0" bIns="0" rtlCol="0" anchor="ctr"/>
          <a:lstStyle/>
          <a:p>
            <a:pPr indent="0" marL="0">
              <a:buNone/>
            </a:pPr>
            <a:r>
              <a:rPr lang="en-US" sz="950" b="1" spc="100" kern="0" dirty="0">
                <a:solidFill>
                  <a:srgbClr val="FCA311"/>
                </a:solidFill>
                <a:latin typeface="Calibri" pitchFamily="34" charset="0"/>
                <a:ea typeface="Calibri" pitchFamily="34" charset="-122"/>
                <a:cs typeface="Calibri" pitchFamily="34" charset="-120"/>
              </a:rPr>
              <a:t>SYSTEM RULES</a:t>
            </a:r>
            <a:endParaRPr lang="en-US" sz="950" dirty="0"/>
          </a:p>
        </p:txBody>
      </p:sp>
      <p:sp>
        <p:nvSpPr>
          <p:cNvPr id="7" name="Text 5"/>
          <p:cNvSpPr txBox="1"/>
          <p:nvPr/>
        </p:nvSpPr>
        <p:spPr>
          <a:xfrm>
            <a:off x="640080" y="1911096"/>
            <a:ext cx="3749040" cy="713232"/>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Answer ONLY from the passages · cite [n] after each claim · if the evidence is missing, reply with one fixed sentence · no outside knowledge</a:t>
            </a:r>
            <a:endParaRPr lang="en-US" sz="1050" dirty="0"/>
          </a:p>
        </p:txBody>
      </p:sp>
      <p:sp>
        <p:nvSpPr>
          <p:cNvPr id="8" name="Text 6"/>
          <p:cNvSpPr txBox="1"/>
          <p:nvPr/>
        </p:nvSpPr>
        <p:spPr>
          <a:xfrm>
            <a:off x="640080" y="2651760"/>
            <a:ext cx="3749040" cy="219456"/>
          </a:xfrm>
          <a:prstGeom prst="rect">
            <a:avLst/>
          </a:prstGeom>
          <a:noFill/>
          <a:ln/>
        </p:spPr>
        <p:txBody>
          <a:bodyPr wrap="square" lIns="0" tIns="0" rIns="0" bIns="0" rtlCol="0" anchor="ctr"/>
          <a:lstStyle/>
          <a:p>
            <a:pPr indent="0" marL="0">
              <a:buNone/>
            </a:pPr>
            <a:r>
              <a:rPr lang="en-US" sz="950" b="1" spc="100" kern="0" dirty="0">
                <a:solidFill>
                  <a:srgbClr val="FCA311"/>
                </a:solidFill>
                <a:latin typeface="Calibri" pitchFamily="34" charset="0"/>
                <a:ea typeface="Calibri" pitchFamily="34" charset="-122"/>
                <a:cs typeface="Calibri" pitchFamily="34" charset="-120"/>
              </a:rPr>
              <a:t>NUMBERED PASSAGES</a:t>
            </a:r>
            <a:endParaRPr lang="en-US" sz="950" dirty="0"/>
          </a:p>
        </p:txBody>
      </p:sp>
      <p:sp>
        <p:nvSpPr>
          <p:cNvPr id="9" name="Text 7"/>
          <p:cNvSpPr txBox="1"/>
          <p:nvPr/>
        </p:nvSpPr>
        <p:spPr>
          <a:xfrm>
            <a:off x="640080" y="2871216"/>
            <a:ext cx="3749040" cy="713232"/>
          </a:xfrm>
          <a:prstGeom prst="rect">
            <a:avLst/>
          </a:prstGeom>
          <a:noFill/>
          <a:ln/>
        </p:spPr>
        <p:txBody>
          <a:bodyPr wrap="square" lIns="0" tIns="0" rIns="0" bIns="0" rtlCol="0" anchor="ctr"/>
          <a:lstStyle/>
          <a:p>
            <a:pPr indent="0" marL="0">
              <a:buNone/>
            </a:pPr>
            <a:r>
              <a:rPr lang="en-US" sz="950" dirty="0">
                <a:solidFill>
                  <a:srgbClr val="1F2937"/>
                </a:solidFill>
                <a:latin typeface="Courier New" pitchFamily="34" charset="0"/>
                <a:ea typeface="Courier New" pitchFamily="34" charset="-122"/>
                <a:cs typeface="Courier New" pitchFamily="34" charset="-120"/>
              </a:rPr>
              <a:t>[1] faq.json — item 2 (Leave)</a:t>
            </a:r>
            <a:endParaRPr lang="en-US" sz="950" dirty="0"/>
          </a:p>
          <a:p>
            <a:pPr indent="0" marL="0">
              <a:buNone/>
            </a:pPr>
            <a:r>
              <a:rPr lang="en-US" sz="950" dirty="0">
                <a:solidFill>
                  <a:srgbClr val="1F2937"/>
                </a:solidFill>
                <a:latin typeface="Courier New" pitchFamily="34" charset="0"/>
                <a:ea typeface="Courier New" pitchFamily="34" charset="-122"/>
                <a:cs typeface="Courier New" pitchFamily="34" charset="-120"/>
              </a:rPr>
              <a:t>[2] employee_handbook.docx — Leave at a Glance</a:t>
            </a:r>
            <a:endParaRPr lang="en-US" sz="950" dirty="0"/>
          </a:p>
          <a:p>
            <a:pPr indent="0" marL="0">
              <a:buNone/>
            </a:pPr>
            <a:r>
              <a:rPr lang="en-US" sz="950" dirty="0">
                <a:solidFill>
                  <a:srgbClr val="1F2937"/>
                </a:solidFill>
                <a:latin typeface="Courier New" pitchFamily="34" charset="0"/>
                <a:ea typeface="Courier New" pitchFamily="34" charset="-122"/>
                <a:cs typeface="Courier New" pitchFamily="34" charset="-120"/>
              </a:rPr>
              <a:t>[3] leave_policy.txt — 2. ANNUAL LEAVE …</a:t>
            </a:r>
            <a:endParaRPr lang="en-US" sz="950" dirty="0"/>
          </a:p>
        </p:txBody>
      </p:sp>
      <p:sp>
        <p:nvSpPr>
          <p:cNvPr id="10" name="Text 8"/>
          <p:cNvSpPr txBox="1"/>
          <p:nvPr/>
        </p:nvSpPr>
        <p:spPr>
          <a:xfrm>
            <a:off x="640080" y="3611880"/>
            <a:ext cx="3749040" cy="219456"/>
          </a:xfrm>
          <a:prstGeom prst="rect">
            <a:avLst/>
          </a:prstGeom>
          <a:noFill/>
          <a:ln/>
        </p:spPr>
        <p:txBody>
          <a:bodyPr wrap="square" lIns="0" tIns="0" rIns="0" bIns="0" rtlCol="0" anchor="ctr"/>
          <a:lstStyle/>
          <a:p>
            <a:pPr indent="0" marL="0">
              <a:buNone/>
            </a:pPr>
            <a:r>
              <a:rPr lang="en-US" sz="950" b="1" spc="100" kern="0" dirty="0">
                <a:solidFill>
                  <a:srgbClr val="FCA311"/>
                </a:solidFill>
                <a:latin typeface="Calibri" pitchFamily="34" charset="0"/>
                <a:ea typeface="Calibri" pitchFamily="34" charset="-122"/>
                <a:cs typeface="Calibri" pitchFamily="34" charset="-120"/>
              </a:rPr>
              <a:t>QUESTION</a:t>
            </a:r>
            <a:endParaRPr lang="en-US" sz="950" dirty="0"/>
          </a:p>
        </p:txBody>
      </p:sp>
      <p:sp>
        <p:nvSpPr>
          <p:cNvPr id="11" name="Text 9"/>
          <p:cNvSpPr txBox="1"/>
          <p:nvPr/>
        </p:nvSpPr>
        <p:spPr>
          <a:xfrm>
            <a:off x="640080" y="3831336"/>
            <a:ext cx="3749040" cy="713232"/>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How many annual leave days are allowed?</a:t>
            </a:r>
            <a:endParaRPr lang="en-US" sz="1050" dirty="0"/>
          </a:p>
        </p:txBody>
      </p:sp>
      <p:sp>
        <p:nvSpPr>
          <p:cNvPr id="12" name="Shape 10"/>
          <p:cNvSpPr/>
          <p:nvPr/>
        </p:nvSpPr>
        <p:spPr>
          <a:xfrm>
            <a:off x="4846320" y="1280160"/>
            <a:ext cx="3840480" cy="1234440"/>
          </a:xfrm>
          <a:prstGeom prst="roundRect">
            <a:avLst>
              <a:gd name="adj" fmla="val 7407"/>
            </a:avLst>
          </a:prstGeom>
          <a:solidFill>
            <a:srgbClr val="14213D"/>
          </a:solidFill>
          <a:ln w="12700">
            <a:solidFill>
              <a:srgbClr val="14213D"/>
            </a:solidFill>
            <a:prstDash val="solid"/>
          </a:ln>
        </p:spPr>
      </p:sp>
      <p:sp>
        <p:nvSpPr>
          <p:cNvPr id="13" name="Text 11"/>
          <p:cNvSpPr txBox="1"/>
          <p:nvPr/>
        </p:nvSpPr>
        <p:spPr>
          <a:xfrm>
            <a:off x="5029200" y="1371600"/>
            <a:ext cx="1828800" cy="228600"/>
          </a:xfrm>
          <a:prstGeom prst="rect">
            <a:avLst/>
          </a:prstGeom>
          <a:noFill/>
          <a:ln/>
        </p:spPr>
        <p:txBody>
          <a:bodyPr wrap="square" lIns="0" tIns="0" rIns="0" bIns="0" rtlCol="0" anchor="ctr"/>
          <a:lstStyle/>
          <a:p>
            <a:pPr indent="0" marL="0">
              <a:buNone/>
            </a:pPr>
            <a:r>
              <a:rPr lang="en-US" sz="950" b="1" spc="200" kern="0" dirty="0">
                <a:solidFill>
                  <a:srgbClr val="FCA311"/>
                </a:solidFill>
                <a:latin typeface="Calibri" pitchFamily="34" charset="0"/>
                <a:ea typeface="Calibri" pitchFamily="34" charset="-122"/>
                <a:cs typeface="Calibri" pitchFamily="34" charset="-120"/>
              </a:rPr>
              <a:t>ANSWER</a:t>
            </a:r>
            <a:endParaRPr lang="en-US" sz="950" dirty="0"/>
          </a:p>
        </p:txBody>
      </p:sp>
      <p:sp>
        <p:nvSpPr>
          <p:cNvPr id="14" name="Text 12"/>
          <p:cNvSpPr txBox="1"/>
          <p:nvPr/>
        </p:nvSpPr>
        <p:spPr>
          <a:xfrm>
            <a:off x="5029200" y="1627632"/>
            <a:ext cx="3520440" cy="8229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Employees are entitled to 20 paid annual leave days per calendar year [2][3].</a:t>
            </a:r>
            <a:endParaRPr lang="en-US" sz="1300" dirty="0"/>
          </a:p>
        </p:txBody>
      </p:sp>
      <p:sp>
        <p:nvSpPr>
          <p:cNvPr id="15" name="Shape 13"/>
          <p:cNvSpPr/>
          <p:nvPr/>
        </p:nvSpPr>
        <p:spPr>
          <a:xfrm>
            <a:off x="4846320" y="2743200"/>
            <a:ext cx="384048" cy="384048"/>
          </a:xfrm>
          <a:prstGeom prst="ellipse">
            <a:avLst/>
          </a:prstGeom>
          <a:solidFill>
            <a:srgbClr val="FCA311"/>
          </a:solidFill>
          <a:ln w="12700">
            <a:solidFill>
              <a:srgbClr val="FCA311"/>
            </a:solidFill>
            <a:prstDash val="solid"/>
          </a:ln>
        </p:spPr>
      </p:sp>
      <p:pic>
        <p:nvPicPr>
          <p:cNvPr id="16" name="Image 0" descr="preencoded.png">    </p:cNvPr>
          <p:cNvPicPr>
            <a:picLocks noChangeAspect="1"/>
          </p:cNvPicPr>
          <p:nvPr/>
        </p:nvPicPr>
        <p:blipFill>
          <a:blip r:embed="rId1"/>
          <a:stretch>
            <a:fillRect/>
          </a:stretch>
        </p:blipFill>
        <p:spPr>
          <a:xfrm>
            <a:off x="4938492" y="2835372"/>
            <a:ext cx="199705" cy="199705"/>
          </a:xfrm>
          <a:prstGeom prst="rect">
            <a:avLst/>
          </a:prstGeom>
        </p:spPr>
      </p:pic>
      <p:sp>
        <p:nvSpPr>
          <p:cNvPr id="17" name="Text 14"/>
          <p:cNvSpPr txBox="1"/>
          <p:nvPr/>
        </p:nvSpPr>
        <p:spPr>
          <a:xfrm>
            <a:off x="5349240" y="2697480"/>
            <a:ext cx="3291840" cy="228600"/>
          </a:xfrm>
          <a:prstGeom prst="rect">
            <a:avLst/>
          </a:prstGeom>
          <a:noFill/>
          <a:ln/>
        </p:spPr>
        <p:txBody>
          <a:bodyPr wrap="square" lIns="0" tIns="0" rIns="0" bIns="0" rtlCol="0" anchor="ctr"/>
          <a:lstStyle/>
          <a:p>
            <a:pPr indent="0" marL="0">
              <a:buNone/>
            </a:pPr>
            <a:r>
              <a:rPr lang="en-US" sz="1150" b="1" dirty="0">
                <a:solidFill>
                  <a:srgbClr val="14213D"/>
                </a:solidFill>
                <a:latin typeface="Calibri" pitchFamily="34" charset="0"/>
                <a:ea typeface="Calibri" pitchFamily="34" charset="-122"/>
                <a:cs typeface="Calibri" pitchFamily="34" charset="-120"/>
              </a:rPr>
              <a:t>temperature 0.1</a:t>
            </a:r>
            <a:endParaRPr lang="en-US" sz="1150" dirty="0"/>
          </a:p>
        </p:txBody>
      </p:sp>
      <p:sp>
        <p:nvSpPr>
          <p:cNvPr id="18" name="Text 15"/>
          <p:cNvSpPr txBox="1"/>
          <p:nvPr/>
        </p:nvSpPr>
        <p:spPr>
          <a:xfrm>
            <a:off x="5349240" y="2916936"/>
            <a:ext cx="3291840" cy="45720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deterministic, evidence-bound wording</a:t>
            </a:r>
            <a:endParaRPr lang="en-US" sz="950" dirty="0"/>
          </a:p>
        </p:txBody>
      </p:sp>
      <p:sp>
        <p:nvSpPr>
          <p:cNvPr id="19" name="Shape 16"/>
          <p:cNvSpPr/>
          <p:nvPr/>
        </p:nvSpPr>
        <p:spPr>
          <a:xfrm>
            <a:off x="4846320" y="3429000"/>
            <a:ext cx="384048" cy="384048"/>
          </a:xfrm>
          <a:prstGeom prst="ellipse">
            <a:avLst/>
          </a:prstGeom>
          <a:solidFill>
            <a:srgbClr val="FCA311"/>
          </a:solidFill>
          <a:ln w="12700">
            <a:solidFill>
              <a:srgbClr val="FCA311"/>
            </a:solidFill>
            <a:prstDash val="solid"/>
          </a:ln>
        </p:spPr>
      </p:sp>
      <p:pic>
        <p:nvPicPr>
          <p:cNvPr id="20" name="Image 1" descr="preencoded.png">    </p:cNvPr>
          <p:cNvPicPr>
            <a:picLocks noChangeAspect="1"/>
          </p:cNvPicPr>
          <p:nvPr/>
        </p:nvPicPr>
        <p:blipFill>
          <a:blip r:embed="rId2"/>
          <a:stretch>
            <a:fillRect/>
          </a:stretch>
        </p:blipFill>
        <p:spPr>
          <a:xfrm>
            <a:off x="4938492" y="3521172"/>
            <a:ext cx="199705" cy="199705"/>
          </a:xfrm>
          <a:prstGeom prst="rect">
            <a:avLst/>
          </a:prstGeom>
        </p:spPr>
      </p:pic>
      <p:sp>
        <p:nvSpPr>
          <p:cNvPr id="21" name="Text 17"/>
          <p:cNvSpPr txBox="1"/>
          <p:nvPr/>
        </p:nvSpPr>
        <p:spPr>
          <a:xfrm>
            <a:off x="5349240" y="3383280"/>
            <a:ext cx="3291840" cy="228600"/>
          </a:xfrm>
          <a:prstGeom prst="rect">
            <a:avLst/>
          </a:prstGeom>
          <a:noFill/>
          <a:ln/>
        </p:spPr>
        <p:txBody>
          <a:bodyPr wrap="square" lIns="0" tIns="0" rIns="0" bIns="0" rtlCol="0" anchor="ctr"/>
          <a:lstStyle/>
          <a:p>
            <a:pPr indent="0" marL="0">
              <a:buNone/>
            </a:pPr>
            <a:r>
              <a:rPr lang="en-US" sz="1150" b="1" dirty="0">
                <a:solidFill>
                  <a:srgbClr val="14213D"/>
                </a:solidFill>
                <a:latin typeface="Calibri" pitchFamily="34" charset="0"/>
                <a:ea typeface="Calibri" pitchFamily="34" charset="-122"/>
                <a:cs typeface="Calibri" pitchFamily="34" charset="-120"/>
              </a:rPr>
              <a:t>Explicit refusal</a:t>
            </a:r>
            <a:endParaRPr lang="en-US" sz="1150" dirty="0"/>
          </a:p>
        </p:txBody>
      </p:sp>
      <p:sp>
        <p:nvSpPr>
          <p:cNvPr id="22" name="Text 18"/>
          <p:cNvSpPr txBox="1"/>
          <p:nvPr/>
        </p:nvSpPr>
        <p:spPr>
          <a:xfrm>
            <a:off x="5349240" y="3602736"/>
            <a:ext cx="3291840" cy="45720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"I don't have enough information in the provided documents to answer that." — detected and shown as a refusal, never a guess</a:t>
            </a:r>
            <a:endParaRPr lang="en-US" sz="950" dirty="0"/>
          </a:p>
        </p:txBody>
      </p:sp>
      <p:sp>
        <p:nvSpPr>
          <p:cNvPr id="23" name="Shape 19"/>
          <p:cNvSpPr/>
          <p:nvPr/>
        </p:nvSpPr>
        <p:spPr>
          <a:xfrm>
            <a:off x="4846320" y="4114800"/>
            <a:ext cx="384048" cy="384048"/>
          </a:xfrm>
          <a:prstGeom prst="ellipse">
            <a:avLst/>
          </a:prstGeom>
          <a:solidFill>
            <a:srgbClr val="FCA311"/>
          </a:solidFill>
          <a:ln w="12700">
            <a:solidFill>
              <a:srgbClr val="FCA311"/>
            </a:solidFill>
            <a:prstDash val="solid"/>
          </a:ln>
        </p:spPr>
      </p:sp>
      <p:pic>
        <p:nvPicPr>
          <p:cNvPr id="24" name="Image 2" descr="preencoded.png">    </p:cNvPr>
          <p:cNvPicPr>
            <a:picLocks noChangeAspect="1"/>
          </p:cNvPicPr>
          <p:nvPr/>
        </p:nvPicPr>
        <p:blipFill>
          <a:blip r:embed="rId3"/>
          <a:stretch>
            <a:fillRect/>
          </a:stretch>
        </p:blipFill>
        <p:spPr>
          <a:xfrm>
            <a:off x="4938492" y="4206972"/>
            <a:ext cx="199705" cy="199705"/>
          </a:xfrm>
          <a:prstGeom prst="rect">
            <a:avLst/>
          </a:prstGeom>
        </p:spPr>
      </p:pic>
      <p:sp>
        <p:nvSpPr>
          <p:cNvPr id="25" name="Text 20"/>
          <p:cNvSpPr txBox="1"/>
          <p:nvPr/>
        </p:nvSpPr>
        <p:spPr>
          <a:xfrm>
            <a:off x="5349240" y="4069080"/>
            <a:ext cx="3291840" cy="228600"/>
          </a:xfrm>
          <a:prstGeom prst="rect">
            <a:avLst/>
          </a:prstGeom>
          <a:noFill/>
          <a:ln/>
        </p:spPr>
        <p:txBody>
          <a:bodyPr wrap="square" lIns="0" tIns="0" rIns="0" bIns="0" rtlCol="0" anchor="ctr"/>
          <a:lstStyle/>
          <a:p>
            <a:pPr indent="0" marL="0">
              <a:buNone/>
            </a:pPr>
            <a:r>
              <a:rPr lang="en-US" sz="1150" b="1" dirty="0">
                <a:solidFill>
                  <a:srgbClr val="14213D"/>
                </a:solidFill>
                <a:latin typeface="Calibri" pitchFamily="34" charset="0"/>
                <a:ea typeface="Calibri" pitchFamily="34" charset="-122"/>
                <a:cs typeface="Calibri" pitchFamily="34" charset="-120"/>
              </a:rPr>
              <a:t>Citation post-processing</a:t>
            </a:r>
            <a:endParaRPr lang="en-US" sz="1150" dirty="0"/>
          </a:p>
        </p:txBody>
      </p:sp>
      <p:sp>
        <p:nvSpPr>
          <p:cNvPr id="26" name="Text 21"/>
          <p:cNvSpPr txBox="1"/>
          <p:nvPr/>
        </p:nvSpPr>
        <p:spPr>
          <a:xfrm>
            <a:off x="5349240" y="4288536"/>
            <a:ext cx="3291840" cy="45720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Full-width brackets, [1, 3] lists and [2-4] ranges normalised to [n]; sources marked cited vs. merely retrieved</a:t>
            </a:r>
            <a:endParaRPr lang="en-US" sz="950" dirty="0"/>
          </a:p>
        </p:txBody>
      </p:sp>
      <p:sp>
        <p:nvSpPr>
          <p:cNvPr id="27" name="Text 22"/>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Multi-Document RAG  ·  20</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GENERATION · PROVIDERS</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One client, many LLM providers</a:t>
            </a:r>
            <a:endParaRPr lang="en-US" sz="2800" dirty="0"/>
          </a:p>
        </p:txBody>
      </p:sp>
      <p:sp>
        <p:nvSpPr>
          <p:cNvPr id="4" name="Text 2"/>
          <p:cNvSpPr txBox="1"/>
          <p:nvPr/>
        </p:nvSpPr>
        <p:spPr>
          <a:xfrm>
            <a:off x="457200" y="1280160"/>
            <a:ext cx="4480560" cy="3383280"/>
          </a:xfrm>
          <a:prstGeom prst="rect">
            <a:avLst/>
          </a:prstGeom>
          <a:noFill/>
          <a:ln/>
        </p:spPr>
        <p:txBody>
          <a:bodyPr wrap="square" lIns="0" tIns="0" rIns="0" bIns="0" rtlCol="0" anchor="t"/>
          <a:lstStyle/>
          <a:p>
            <a:pPr marL="152400" indent="-152400">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Groq and the Hugging Face router both speak the OpenAI chat-completions protocol → one openai.OpenAI client with a different base_url per provider.</a:t>
            </a:r>
            <a:endParaRPr lang="en-US" sz="1200" dirty="0"/>
          </a:p>
          <a:p>
            <a:pPr marL="152400" indent="-152400">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PROVIDERS registry (src/llm.py): Groq, the Hugging Face router and a local Ollama (no key, no internet) are three entries; adding OpenAI or Gemini is one more — nothing else changes.</a:t>
            </a:r>
            <a:endParaRPr lang="en-US" sz="1200" dirty="0"/>
          </a:p>
          <a:p>
            <a:pPr marL="152400" indent="-152400">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Live model list from GET /models (main.py --list-models), curated free-plan models first; API keys from .env or environment variables.</a:t>
            </a:r>
            <a:endParaRPr lang="en-US" sz="1200" dirty="0"/>
          </a:p>
          <a:p>
            <a:pPr marL="152400" indent="-152400">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Reasoning models (gpt-oss, qwen3) are sent reasoning_effort=low so "thinking" tokens do not eat the free budget.</a:t>
            </a:r>
            <a:endParaRPr lang="en-US" sz="1200" dirty="0"/>
          </a:p>
        </p:txBody>
      </p:sp>
      <p:sp>
        <p:nvSpPr>
          <p:cNvPr id="5" name="Text 3"/>
          <p:cNvSpPr txBox="1"/>
          <p:nvPr/>
        </p:nvSpPr>
        <p:spPr>
          <a:xfrm>
            <a:off x="5212080" y="1280160"/>
            <a:ext cx="3474720" cy="274320"/>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Groq free plan (Sept 2026)</a:t>
            </a:r>
            <a:endParaRPr lang="en-US" sz="1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212080" y="1600200"/>
          <a:ext cx="3474720" cy="914400"/>
        </p:xfrm>
        <a:graphic>
          <a:graphicData uri="http://schemas.openxmlformats.org/drawingml/2006/table">
            <a:tbl>
              <a:tblPr/>
              <a:tblGrid>
                <a:gridCol w="1737360"/>
                <a:gridCol w="1737360"/>
              </a:tblGrid>
              <a:tr h="30175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Model</a:t>
                      </a:r>
                      <a:endParaRPr lang="en-US" sz="105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Used for</a:t>
                      </a:r>
                      <a:endParaRPr lang="en-US" sz="105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r>
              <a:tr h="301752">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openai/gpt-oss-120b</a:t>
                      </a:r>
                      <a:endParaRPr lang="en-US" sz="105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default answers + RAGAS judge</a:t>
                      </a:r>
                      <a:endParaRPr lang="en-US" sz="105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01752">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openai/gpt-oss-20b</a:t>
                      </a:r>
                      <a:endParaRPr lang="en-US" sz="105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faster, lighter alternative</a:t>
                      </a:r>
                      <a:endParaRPr lang="en-US" sz="105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01752">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qwen/qwen3.6-27b</a:t>
                      </a:r>
                      <a:endParaRPr lang="en-US" sz="105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alternative (reasoning off)</a:t>
                      </a:r>
                      <a:endParaRPr lang="en-US" sz="105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01752">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qwen/qwen3.8-27b</a:t>
                      </a:r>
                      <a:endParaRPr lang="en-US" sz="105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alternative (reasoning off)</a:t>
                      </a:r>
                      <a:endParaRPr lang="en-US" sz="1050" dirty="0">
                        <a:latin typeface="Calibri" charset="0"/>
                        <a:ea typeface="Calibri" charset="0"/>
                        <a:cs typeface="Calibri" charset="0"/>
                      </a:endParaRPr>
                    </a:p>
                  </a:txBody>
                  <a:tcPr marL="38100" marR="38100" marT="38100" marB="381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bl>
          </a:graphicData>
        </a:graphic>
      </p:graphicFrame>
      <p:sp>
        <p:nvSpPr>
          <p:cNvPr id="7" name="Text 4"/>
          <p:cNvSpPr txBox="1"/>
          <p:nvPr/>
        </p:nvSpPr>
        <p:spPr>
          <a:xfrm>
            <a:off x="5212080" y="3154680"/>
            <a:ext cx="3474720" cy="365760"/>
          </a:xfrm>
          <a:prstGeom prst="rect">
            <a:avLst/>
          </a:prstGeom>
          <a:noFill/>
          <a:ln/>
        </p:spPr>
        <p:txBody>
          <a:bodyPr wrap="square" lIns="0" tIns="0" rIns="0" bIns="0" rtlCol="0" anchor="ctr"/>
          <a:lstStyle/>
          <a:p>
            <a:pPr indent="0" marL="0">
              <a:buNone/>
            </a:pPr>
            <a:r>
              <a:rPr lang="en-US" sz="950" b="1" dirty="0">
                <a:solidFill>
                  <a:srgbClr val="14213D"/>
                </a:solidFill>
                <a:latin typeface="Calibri" pitchFamily="34" charset="0"/>
                <a:ea typeface="Calibri" pitchFamily="34" charset="-122"/>
                <a:cs typeface="Calibri" pitchFamily="34" charset="-120"/>
              </a:rPr>
              <a:t>Limits per model: 30 req/min · 1,000 req/day · 8K tokens/min · 200K tokens/day · no card required</a:t>
            </a:r>
            <a:endParaRPr lang="en-US" sz="950" dirty="0"/>
          </a:p>
        </p:txBody>
      </p:sp>
      <p:sp>
        <p:nvSpPr>
          <p:cNvPr id="8" name="Shape 5"/>
          <p:cNvSpPr/>
          <p:nvPr/>
        </p:nvSpPr>
        <p:spPr>
          <a:xfrm>
            <a:off x="5212080" y="3566160"/>
            <a:ext cx="3474720" cy="1051560"/>
          </a:xfrm>
          <a:prstGeom prst="roundRect">
            <a:avLst>
              <a:gd name="adj" fmla="val 6957"/>
            </a:avLst>
          </a:prstGeom>
          <a:solidFill>
            <a:srgbClr val="FFF4E0"/>
          </a:solidFill>
          <a:ln w="12700">
            <a:solidFill>
              <a:srgbClr val="FFF4E0"/>
            </a:solidFill>
            <a:prstDash val="solid"/>
          </a:ln>
        </p:spPr>
      </p:sp>
      <p:sp>
        <p:nvSpPr>
          <p:cNvPr id="9" name="Text 6"/>
          <p:cNvSpPr txBox="1"/>
          <p:nvPr/>
        </p:nvSpPr>
        <p:spPr>
          <a:xfrm>
            <a:off x="5349240" y="3584448"/>
            <a:ext cx="3200400" cy="1005840"/>
          </a:xfrm>
          <a:prstGeom prst="rect">
            <a:avLst/>
          </a:prstGeom>
          <a:noFill/>
          <a:ln/>
        </p:spPr>
        <p:txBody>
          <a:bodyPr wrap="square" lIns="0" tIns="0" rIns="0" bIns="0" rtlCol="0" anchor="ctr"/>
          <a:lstStyle/>
          <a:p>
            <a:pPr indent="0" marL="0">
              <a:buNone/>
            </a:pPr>
            <a:r>
              <a:rPr lang="en-US" sz="1000" b="1" dirty="0">
                <a:solidFill>
                  <a:srgbClr val="14213D"/>
                </a:solidFill>
                <a:latin typeface="Calibri" pitchFamily="34" charset="0"/>
                <a:ea typeface="Calibri" pitchFamily="34" charset="-122"/>
                <a:cs typeface="Calibri" pitchFamily="34" charset="-120"/>
              </a:rPr>
              <a:t>Note on pricing:  </a:t>
            </a:r>
            <a:pPr indent="0" marL="0">
              <a:buNone/>
            </a:pPr>
            <a:r>
              <a:rPr lang="en-US" sz="1000" dirty="0">
                <a:solidFill>
                  <a:srgbClr val="1F2937"/>
                </a:solidFill>
                <a:latin typeface="Calibri" pitchFamily="34" charset="0"/>
                <a:ea typeface="Calibri" pitchFamily="34" charset="-122"/>
                <a:cs typeface="Calibri" pitchFamily="34" charset="-120"/>
              </a:rPr>
              <a:t>the per-token prices on Groq's models page apply to the paid Developer plan; new accounts start on the Free Plan. Llama 3.x models moved to Enterprise-only, so defaults were updated.</a:t>
            </a:r>
            <a:endParaRPr lang="en-US" sz="1000" dirty="0"/>
          </a:p>
        </p:txBody>
      </p:sp>
      <p:sp>
        <p:nvSpPr>
          <p:cNvPr id="10" name="Text 7"/>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Multi-Document RAG  ·  21</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GENERATION · PROVIDERS</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Inside src/llm.py: one client, three endpoints</a:t>
            </a:r>
            <a:endParaRPr lang="en-US" sz="2800" dirty="0"/>
          </a:p>
        </p:txBody>
      </p:sp>
      <p:sp>
        <p:nvSpPr>
          <p:cNvPr id="4" name="Shape 2"/>
          <p:cNvSpPr/>
          <p:nvPr/>
        </p:nvSpPr>
        <p:spPr>
          <a:xfrm>
            <a:off x="365760" y="1280160"/>
            <a:ext cx="2286000" cy="1554480"/>
          </a:xfrm>
          <a:prstGeom prst="rect">
            <a:avLst/>
          </a:prstGeom>
          <a:noFill/>
          <a:ln w="9525">
            <a:solidFill>
              <a:srgbClr val="9CA3AF"/>
            </a:solidFill>
            <a:prstDash val="dash"/>
          </a:ln>
        </p:spPr>
      </p:sp>
      <p:sp>
        <p:nvSpPr>
          <p:cNvPr id="5" name="Text 3"/>
          <p:cNvSpPr txBox="1"/>
          <p:nvPr/>
        </p:nvSpPr>
        <p:spPr>
          <a:xfrm>
            <a:off x="457200" y="1298448"/>
            <a:ext cx="2103120" cy="228600"/>
          </a:xfrm>
          <a:prstGeom prst="rect">
            <a:avLst/>
          </a:prstGeom>
          <a:noFill/>
          <a:ln/>
        </p:spPr>
        <p:txBody>
          <a:bodyPr wrap="square" lIns="0" tIns="0" rIns="0" bIns="0" rtlCol="0" anchor="ctr"/>
          <a:lstStyle/>
          <a:p>
            <a:pPr indent="0" marL="0">
              <a:buNone/>
            </a:pPr>
            <a:r>
              <a:rPr lang="en-US" sz="900" b="1" spc="100" kern="0" dirty="0">
                <a:solidFill>
                  <a:srgbClr val="6B7280"/>
                </a:solidFill>
                <a:latin typeface="Calibri" pitchFamily="34" charset="0"/>
                <a:ea typeface="Calibri" pitchFamily="34" charset="-122"/>
                <a:cs typeface="Calibri" pitchFamily="34" charset="-120"/>
              </a:rPr>
              <a:t>RAGPipeline.ask()  ·  per question</a:t>
            </a:r>
            <a:endParaRPr lang="en-US" sz="900" dirty="0"/>
          </a:p>
        </p:txBody>
      </p:sp>
      <p:sp>
        <p:nvSpPr>
          <p:cNvPr id="6" name="Shape 4"/>
          <p:cNvSpPr/>
          <p:nvPr/>
        </p:nvSpPr>
        <p:spPr>
          <a:xfrm>
            <a:off x="365760" y="2926080"/>
            <a:ext cx="2286000" cy="1481328"/>
          </a:xfrm>
          <a:prstGeom prst="rect">
            <a:avLst/>
          </a:prstGeom>
          <a:noFill/>
          <a:ln w="9525">
            <a:solidFill>
              <a:srgbClr val="9CA3AF"/>
            </a:solidFill>
            <a:prstDash val="dash"/>
          </a:ln>
        </p:spPr>
      </p:sp>
      <p:sp>
        <p:nvSpPr>
          <p:cNvPr id="7" name="Text 5"/>
          <p:cNvSpPr txBox="1"/>
          <p:nvPr/>
        </p:nvSpPr>
        <p:spPr>
          <a:xfrm>
            <a:off x="457200" y="2944368"/>
            <a:ext cx="2103120" cy="228600"/>
          </a:xfrm>
          <a:prstGeom prst="rect">
            <a:avLst/>
          </a:prstGeom>
          <a:noFill/>
          <a:ln/>
        </p:spPr>
        <p:txBody>
          <a:bodyPr wrap="square" lIns="0" tIns="0" rIns="0" bIns="0" rtlCol="0" anchor="ctr"/>
          <a:lstStyle/>
          <a:p>
            <a:pPr indent="0" marL="0">
              <a:buNone/>
            </a:pPr>
            <a:r>
              <a:rPr lang="en-US" sz="900" b="1" spc="100" kern="0" dirty="0">
                <a:solidFill>
                  <a:srgbClr val="6B7280"/>
                </a:solidFill>
                <a:latin typeface="Calibri" pitchFamily="34" charset="0"/>
                <a:ea typeface="Calibri" pitchFamily="34" charset="-122"/>
                <a:cs typeface="Calibri" pitchFamily="34" charset="-120"/>
              </a:rPr>
              <a:t>evaluation/  ·  the two judges</a:t>
            </a:r>
            <a:endParaRPr lang="en-US" sz="900" dirty="0"/>
          </a:p>
        </p:txBody>
      </p:sp>
      <p:sp>
        <p:nvSpPr>
          <p:cNvPr id="8" name="Shape 6"/>
          <p:cNvSpPr/>
          <p:nvPr/>
        </p:nvSpPr>
        <p:spPr>
          <a:xfrm>
            <a:off x="5943600" y="1280160"/>
            <a:ext cx="2834640" cy="3154680"/>
          </a:xfrm>
          <a:prstGeom prst="rect">
            <a:avLst/>
          </a:prstGeom>
          <a:noFill/>
          <a:ln w="9525">
            <a:solidFill>
              <a:srgbClr val="9CA3AF"/>
            </a:solidFill>
            <a:prstDash val="dash"/>
          </a:ln>
        </p:spPr>
      </p:sp>
      <p:sp>
        <p:nvSpPr>
          <p:cNvPr id="9" name="Text 7"/>
          <p:cNvSpPr txBox="1"/>
          <p:nvPr/>
        </p:nvSpPr>
        <p:spPr>
          <a:xfrm>
            <a:off x="6035040" y="1298448"/>
            <a:ext cx="2651760" cy="228600"/>
          </a:xfrm>
          <a:prstGeom prst="rect">
            <a:avLst/>
          </a:prstGeom>
          <a:noFill/>
          <a:ln/>
        </p:spPr>
        <p:txBody>
          <a:bodyPr wrap="square" lIns="0" tIns="0" rIns="0" bIns="0" rtlCol="0" anchor="ctr"/>
          <a:lstStyle/>
          <a:p>
            <a:pPr indent="0" marL="0">
              <a:buNone/>
            </a:pPr>
            <a:r>
              <a:rPr lang="en-US" sz="900" b="1" spc="100" kern="0" dirty="0">
                <a:solidFill>
                  <a:srgbClr val="6B7280"/>
                </a:solidFill>
                <a:latin typeface="Calibri" pitchFamily="34" charset="0"/>
                <a:ea typeface="Calibri" pitchFamily="34" charset="-122"/>
                <a:cs typeface="Calibri" pitchFamily="34" charset="-120"/>
              </a:rPr>
              <a:t>OPENAI-COMPATIBLE ENDPOINTS</a:t>
            </a:r>
            <a:endParaRPr lang="en-US" sz="900" dirty="0"/>
          </a:p>
        </p:txBody>
      </p:sp>
      <p:sp>
        <p:nvSpPr>
          <p:cNvPr id="10" name="Shape 8"/>
          <p:cNvSpPr/>
          <p:nvPr/>
        </p:nvSpPr>
        <p:spPr>
          <a:xfrm>
            <a:off x="2514600" y="1847088"/>
            <a:ext cx="320040" cy="0"/>
          </a:xfrm>
          <a:prstGeom prst="line">
            <a:avLst/>
          </a:prstGeom>
          <a:noFill/>
          <a:ln w="15875">
            <a:solidFill>
              <a:srgbClr val="6B7280"/>
            </a:solidFill>
            <a:prstDash val="solid"/>
          </a:ln>
        </p:spPr>
      </p:sp>
      <p:sp>
        <p:nvSpPr>
          <p:cNvPr id="11" name="Shape 9"/>
          <p:cNvSpPr/>
          <p:nvPr/>
        </p:nvSpPr>
        <p:spPr>
          <a:xfrm>
            <a:off x="2834640" y="1847088"/>
            <a:ext cx="0" cy="461772"/>
          </a:xfrm>
          <a:prstGeom prst="line">
            <a:avLst/>
          </a:prstGeom>
          <a:noFill/>
          <a:ln w="15875">
            <a:solidFill>
              <a:srgbClr val="6B7280"/>
            </a:solidFill>
            <a:prstDash val="solid"/>
          </a:ln>
        </p:spPr>
      </p:sp>
      <p:sp>
        <p:nvSpPr>
          <p:cNvPr id="12" name="Shape 10"/>
          <p:cNvSpPr/>
          <p:nvPr/>
        </p:nvSpPr>
        <p:spPr>
          <a:xfrm>
            <a:off x="2834640" y="2308860"/>
            <a:ext cx="320040" cy="0"/>
          </a:xfrm>
          <a:prstGeom prst="line">
            <a:avLst/>
          </a:prstGeom>
          <a:noFill/>
          <a:ln w="15875">
            <a:solidFill>
              <a:srgbClr val="6B7280"/>
            </a:solidFill>
            <a:prstDash val="solid"/>
            <a:tailEnd type="triangle"/>
          </a:ln>
        </p:spPr>
      </p:sp>
      <p:sp>
        <p:nvSpPr>
          <p:cNvPr id="13" name="Shape 11"/>
          <p:cNvSpPr/>
          <p:nvPr/>
        </p:nvSpPr>
        <p:spPr>
          <a:xfrm>
            <a:off x="2514600" y="2487168"/>
            <a:ext cx="320040" cy="0"/>
          </a:xfrm>
          <a:prstGeom prst="line">
            <a:avLst/>
          </a:prstGeom>
          <a:noFill/>
          <a:ln w="15875">
            <a:solidFill>
              <a:srgbClr val="6B7280"/>
            </a:solidFill>
            <a:prstDash val="solid"/>
          </a:ln>
        </p:spPr>
      </p:sp>
      <p:sp>
        <p:nvSpPr>
          <p:cNvPr id="14" name="Shape 12"/>
          <p:cNvSpPr/>
          <p:nvPr/>
        </p:nvSpPr>
        <p:spPr>
          <a:xfrm flipV="1">
            <a:off x="2834640" y="2308860"/>
            <a:ext cx="0" cy="178308"/>
          </a:xfrm>
          <a:prstGeom prst="line">
            <a:avLst/>
          </a:prstGeom>
          <a:noFill/>
          <a:ln w="15875">
            <a:solidFill>
              <a:srgbClr val="6B7280"/>
            </a:solidFill>
            <a:prstDash val="solid"/>
          </a:ln>
        </p:spPr>
      </p:sp>
      <p:sp>
        <p:nvSpPr>
          <p:cNvPr id="15" name="Shape 13"/>
          <p:cNvSpPr/>
          <p:nvPr/>
        </p:nvSpPr>
        <p:spPr>
          <a:xfrm>
            <a:off x="2834640" y="2308860"/>
            <a:ext cx="320040" cy="0"/>
          </a:xfrm>
          <a:prstGeom prst="line">
            <a:avLst/>
          </a:prstGeom>
          <a:noFill/>
          <a:ln w="15875">
            <a:solidFill>
              <a:srgbClr val="6B7280"/>
            </a:solidFill>
            <a:prstDash val="solid"/>
            <a:tailEnd type="triangle"/>
          </a:ln>
        </p:spPr>
      </p:sp>
      <p:sp>
        <p:nvSpPr>
          <p:cNvPr id="16" name="Shape 14"/>
          <p:cNvSpPr/>
          <p:nvPr/>
        </p:nvSpPr>
        <p:spPr>
          <a:xfrm>
            <a:off x="2514600" y="3474720"/>
            <a:ext cx="320040" cy="0"/>
          </a:xfrm>
          <a:prstGeom prst="line">
            <a:avLst/>
          </a:prstGeom>
          <a:noFill/>
          <a:ln w="15875">
            <a:solidFill>
              <a:srgbClr val="6B7280"/>
            </a:solidFill>
            <a:prstDash val="solid"/>
          </a:ln>
        </p:spPr>
      </p:sp>
      <p:sp>
        <p:nvSpPr>
          <p:cNvPr id="17" name="Shape 15"/>
          <p:cNvSpPr/>
          <p:nvPr/>
        </p:nvSpPr>
        <p:spPr>
          <a:xfrm flipV="1">
            <a:off x="2834640" y="2308860"/>
            <a:ext cx="0" cy="1165860"/>
          </a:xfrm>
          <a:prstGeom prst="line">
            <a:avLst/>
          </a:prstGeom>
          <a:noFill/>
          <a:ln w="15875">
            <a:solidFill>
              <a:srgbClr val="6B7280"/>
            </a:solidFill>
            <a:prstDash val="solid"/>
          </a:ln>
        </p:spPr>
      </p:sp>
      <p:sp>
        <p:nvSpPr>
          <p:cNvPr id="18" name="Shape 16"/>
          <p:cNvSpPr/>
          <p:nvPr/>
        </p:nvSpPr>
        <p:spPr>
          <a:xfrm>
            <a:off x="2834640" y="2308860"/>
            <a:ext cx="320040" cy="0"/>
          </a:xfrm>
          <a:prstGeom prst="line">
            <a:avLst/>
          </a:prstGeom>
          <a:noFill/>
          <a:ln w="15875">
            <a:solidFill>
              <a:srgbClr val="6B7280"/>
            </a:solidFill>
            <a:prstDash val="solid"/>
            <a:tailEnd type="triangle"/>
          </a:ln>
        </p:spPr>
      </p:sp>
      <p:sp>
        <p:nvSpPr>
          <p:cNvPr id="19" name="Shape 17"/>
          <p:cNvSpPr/>
          <p:nvPr/>
        </p:nvSpPr>
        <p:spPr>
          <a:xfrm>
            <a:off x="2514600" y="4087368"/>
            <a:ext cx="320040" cy="0"/>
          </a:xfrm>
          <a:prstGeom prst="line">
            <a:avLst/>
          </a:prstGeom>
          <a:noFill/>
          <a:ln w="15875">
            <a:solidFill>
              <a:srgbClr val="6B7280"/>
            </a:solidFill>
            <a:prstDash val="solid"/>
          </a:ln>
        </p:spPr>
      </p:sp>
      <p:sp>
        <p:nvSpPr>
          <p:cNvPr id="20" name="Shape 18"/>
          <p:cNvSpPr/>
          <p:nvPr/>
        </p:nvSpPr>
        <p:spPr>
          <a:xfrm flipV="1">
            <a:off x="2834640" y="2308860"/>
            <a:ext cx="0" cy="1778508"/>
          </a:xfrm>
          <a:prstGeom prst="line">
            <a:avLst/>
          </a:prstGeom>
          <a:noFill/>
          <a:ln w="15875">
            <a:solidFill>
              <a:srgbClr val="6B7280"/>
            </a:solidFill>
            <a:prstDash val="solid"/>
          </a:ln>
        </p:spPr>
      </p:sp>
      <p:sp>
        <p:nvSpPr>
          <p:cNvPr id="21" name="Shape 19"/>
          <p:cNvSpPr/>
          <p:nvPr/>
        </p:nvSpPr>
        <p:spPr>
          <a:xfrm>
            <a:off x="2834640" y="2308860"/>
            <a:ext cx="320040" cy="0"/>
          </a:xfrm>
          <a:prstGeom prst="line">
            <a:avLst/>
          </a:prstGeom>
          <a:noFill/>
          <a:ln w="15875">
            <a:solidFill>
              <a:srgbClr val="6B7280"/>
            </a:solidFill>
            <a:prstDash val="solid"/>
            <a:tailEnd type="triangle"/>
          </a:ln>
        </p:spPr>
      </p:sp>
      <p:sp>
        <p:nvSpPr>
          <p:cNvPr id="22" name="Shape 20"/>
          <p:cNvSpPr/>
          <p:nvPr/>
        </p:nvSpPr>
        <p:spPr>
          <a:xfrm>
            <a:off x="4320540" y="2834640"/>
            <a:ext cx="0" cy="594360"/>
          </a:xfrm>
          <a:prstGeom prst="line">
            <a:avLst/>
          </a:prstGeom>
          <a:noFill/>
          <a:ln w="15875">
            <a:solidFill>
              <a:srgbClr val="6B7280"/>
            </a:solidFill>
            <a:prstDash val="dash"/>
            <a:tailEnd type="triangle"/>
          </a:ln>
        </p:spPr>
      </p:sp>
      <p:sp>
        <p:nvSpPr>
          <p:cNvPr id="23" name="Text 21"/>
          <p:cNvSpPr txBox="1"/>
          <p:nvPr/>
        </p:nvSpPr>
        <p:spPr>
          <a:xfrm>
            <a:off x="4640580" y="3031236"/>
            <a:ext cx="914400" cy="201168"/>
          </a:xfrm>
          <a:prstGeom prst="rect">
            <a:avLst/>
          </a:prstGeom>
          <a:solidFill>
            <a:srgbClr val="FFFFFF"/>
          </a:solidFill>
          <a:ln/>
        </p:spPr>
        <p:txBody>
          <a:bodyPr wrap="square" lIns="0" tIns="0" rIns="0" bIns="0" rtlCol="0" anchor="ctr"/>
          <a:lstStyle/>
          <a:p>
            <a:pPr algn="ctr" indent="0" marL="0">
              <a:buNone/>
            </a:pPr>
            <a:r>
              <a:rPr lang="en-US" sz="800" i="1" dirty="0">
                <a:solidFill>
                  <a:srgbClr val="6B7280"/>
                </a:solidFill>
                <a:latin typeface="Calibri" pitchFamily="34" charset="0"/>
                <a:ea typeface="Calibri" pitchFamily="34" charset="-122"/>
                <a:cs typeface="Calibri" pitchFamily="34" charset="-120"/>
              </a:rPr>
              <a:t>reads one row</a:t>
            </a:r>
            <a:endParaRPr lang="en-US" sz="800" dirty="0"/>
          </a:p>
        </p:txBody>
      </p:sp>
      <p:sp>
        <p:nvSpPr>
          <p:cNvPr id="24" name="Shape 22"/>
          <p:cNvSpPr/>
          <p:nvPr/>
        </p:nvSpPr>
        <p:spPr>
          <a:xfrm>
            <a:off x="5486400" y="2308860"/>
            <a:ext cx="297180" cy="0"/>
          </a:xfrm>
          <a:prstGeom prst="line">
            <a:avLst/>
          </a:prstGeom>
          <a:noFill/>
          <a:ln w="15875">
            <a:solidFill>
              <a:srgbClr val="6B7280"/>
            </a:solidFill>
            <a:prstDash val="solid"/>
          </a:ln>
        </p:spPr>
      </p:sp>
      <p:sp>
        <p:nvSpPr>
          <p:cNvPr id="25" name="Shape 23"/>
          <p:cNvSpPr/>
          <p:nvPr/>
        </p:nvSpPr>
        <p:spPr>
          <a:xfrm flipV="1">
            <a:off x="5783580" y="1988820"/>
            <a:ext cx="0" cy="320040"/>
          </a:xfrm>
          <a:prstGeom prst="line">
            <a:avLst/>
          </a:prstGeom>
          <a:noFill/>
          <a:ln w="15875">
            <a:solidFill>
              <a:srgbClr val="6B7280"/>
            </a:solidFill>
            <a:prstDash val="solid"/>
          </a:ln>
        </p:spPr>
      </p:sp>
      <p:sp>
        <p:nvSpPr>
          <p:cNvPr id="26" name="Shape 24"/>
          <p:cNvSpPr/>
          <p:nvPr/>
        </p:nvSpPr>
        <p:spPr>
          <a:xfrm>
            <a:off x="5783580" y="1988820"/>
            <a:ext cx="297180" cy="0"/>
          </a:xfrm>
          <a:prstGeom prst="line">
            <a:avLst/>
          </a:prstGeom>
          <a:noFill/>
          <a:ln w="15875">
            <a:solidFill>
              <a:srgbClr val="6B7280"/>
            </a:solidFill>
            <a:prstDash val="solid"/>
            <a:tailEnd type="triangle"/>
          </a:ln>
        </p:spPr>
      </p:sp>
      <p:sp>
        <p:nvSpPr>
          <p:cNvPr id="27" name="Shape 25"/>
          <p:cNvSpPr/>
          <p:nvPr/>
        </p:nvSpPr>
        <p:spPr>
          <a:xfrm>
            <a:off x="5486400" y="2308860"/>
            <a:ext cx="297180" cy="0"/>
          </a:xfrm>
          <a:prstGeom prst="line">
            <a:avLst/>
          </a:prstGeom>
          <a:noFill/>
          <a:ln w="15875">
            <a:solidFill>
              <a:srgbClr val="6B7280"/>
            </a:solidFill>
            <a:prstDash val="solid"/>
          </a:ln>
        </p:spPr>
      </p:sp>
      <p:sp>
        <p:nvSpPr>
          <p:cNvPr id="28" name="Shape 26"/>
          <p:cNvSpPr/>
          <p:nvPr/>
        </p:nvSpPr>
        <p:spPr>
          <a:xfrm>
            <a:off x="5783580" y="2308860"/>
            <a:ext cx="0" cy="594360"/>
          </a:xfrm>
          <a:prstGeom prst="line">
            <a:avLst/>
          </a:prstGeom>
          <a:noFill/>
          <a:ln w="15875">
            <a:solidFill>
              <a:srgbClr val="6B7280"/>
            </a:solidFill>
            <a:prstDash val="solid"/>
          </a:ln>
        </p:spPr>
      </p:sp>
      <p:sp>
        <p:nvSpPr>
          <p:cNvPr id="29" name="Shape 27"/>
          <p:cNvSpPr/>
          <p:nvPr/>
        </p:nvSpPr>
        <p:spPr>
          <a:xfrm>
            <a:off x="5783580" y="2903220"/>
            <a:ext cx="297180" cy="0"/>
          </a:xfrm>
          <a:prstGeom prst="line">
            <a:avLst/>
          </a:prstGeom>
          <a:noFill/>
          <a:ln w="15875">
            <a:solidFill>
              <a:srgbClr val="6B7280"/>
            </a:solidFill>
            <a:prstDash val="solid"/>
            <a:tailEnd type="triangle"/>
          </a:ln>
        </p:spPr>
      </p:sp>
      <p:sp>
        <p:nvSpPr>
          <p:cNvPr id="30" name="Shape 28"/>
          <p:cNvSpPr/>
          <p:nvPr/>
        </p:nvSpPr>
        <p:spPr>
          <a:xfrm>
            <a:off x="5486400" y="2308860"/>
            <a:ext cx="297180" cy="0"/>
          </a:xfrm>
          <a:prstGeom prst="line">
            <a:avLst/>
          </a:prstGeom>
          <a:noFill/>
          <a:ln w="15875">
            <a:solidFill>
              <a:srgbClr val="6B7280"/>
            </a:solidFill>
            <a:prstDash val="solid"/>
          </a:ln>
        </p:spPr>
      </p:sp>
      <p:sp>
        <p:nvSpPr>
          <p:cNvPr id="31" name="Shape 29"/>
          <p:cNvSpPr/>
          <p:nvPr/>
        </p:nvSpPr>
        <p:spPr>
          <a:xfrm>
            <a:off x="5783580" y="2308860"/>
            <a:ext cx="0" cy="1508760"/>
          </a:xfrm>
          <a:prstGeom prst="line">
            <a:avLst/>
          </a:prstGeom>
          <a:noFill/>
          <a:ln w="15875">
            <a:solidFill>
              <a:srgbClr val="6B7280"/>
            </a:solidFill>
            <a:prstDash val="solid"/>
          </a:ln>
        </p:spPr>
      </p:sp>
      <p:sp>
        <p:nvSpPr>
          <p:cNvPr id="32" name="Shape 30"/>
          <p:cNvSpPr/>
          <p:nvPr/>
        </p:nvSpPr>
        <p:spPr>
          <a:xfrm>
            <a:off x="5783580" y="3817620"/>
            <a:ext cx="297180" cy="0"/>
          </a:xfrm>
          <a:prstGeom prst="line">
            <a:avLst/>
          </a:prstGeom>
          <a:noFill/>
          <a:ln w="15875">
            <a:solidFill>
              <a:srgbClr val="6B7280"/>
            </a:solidFill>
            <a:prstDash val="solid"/>
            <a:tailEnd type="triangle"/>
          </a:ln>
        </p:spPr>
      </p:sp>
      <p:sp>
        <p:nvSpPr>
          <p:cNvPr id="33" name="Shape 31"/>
          <p:cNvSpPr/>
          <p:nvPr/>
        </p:nvSpPr>
        <p:spPr>
          <a:xfrm>
            <a:off x="502920" y="1572768"/>
            <a:ext cx="2011680" cy="548640"/>
          </a:xfrm>
          <a:prstGeom prst="roundRect">
            <a:avLst>
              <a:gd name="adj" fmla="val 13333"/>
            </a:avLst>
          </a:prstGeom>
          <a:solidFill>
            <a:srgbClr val="F4F5F7"/>
          </a:solidFill>
          <a:ln w="9525">
            <a:solidFill>
              <a:srgbClr val="CBD5E1"/>
            </a:solidFill>
            <a:prstDash val="solid"/>
          </a:ln>
        </p:spPr>
      </p:sp>
      <p:sp>
        <p:nvSpPr>
          <p:cNvPr id="34" name="Text 32"/>
          <p:cNvSpPr txBox="1"/>
          <p:nvPr/>
        </p:nvSpPr>
        <p:spPr>
          <a:xfrm>
            <a:off x="557784" y="1572768"/>
            <a:ext cx="1901952" cy="548640"/>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answer call</a:t>
            </a:r>
            <a:endParaRPr lang="en-US" sz="1000" dirty="0"/>
          </a:p>
          <a:p>
            <a:pPr algn="ctr" indent="0" marL="0">
              <a:buNone/>
            </a:pPr>
            <a:r>
              <a:rPr lang="en-US" sz="800" dirty="0">
                <a:solidFill>
                  <a:srgbClr val="6B7280"/>
                </a:solidFill>
                <a:latin typeface="Calibri" pitchFamily="34" charset="0"/>
                <a:ea typeface="Calibri" pitchFamily="34" charset="-122"/>
                <a:cs typeface="Calibri" pitchFamily="34" charset="-120"/>
              </a:rPr>
              <a:t>rules + 5 passages + question</a:t>
            </a:r>
            <a:endParaRPr lang="en-US" sz="1000" dirty="0"/>
          </a:p>
        </p:txBody>
      </p:sp>
      <p:sp>
        <p:nvSpPr>
          <p:cNvPr id="35" name="Shape 33"/>
          <p:cNvSpPr/>
          <p:nvPr/>
        </p:nvSpPr>
        <p:spPr>
          <a:xfrm>
            <a:off x="502920" y="2212848"/>
            <a:ext cx="2011680" cy="548640"/>
          </a:xfrm>
          <a:prstGeom prst="roundRect">
            <a:avLst>
              <a:gd name="adj" fmla="val 13333"/>
            </a:avLst>
          </a:prstGeom>
          <a:solidFill>
            <a:srgbClr val="F4F5F7"/>
          </a:solidFill>
          <a:ln w="9525">
            <a:solidFill>
              <a:srgbClr val="CBD5E1"/>
            </a:solidFill>
            <a:prstDash val="solid"/>
          </a:ln>
        </p:spPr>
      </p:sp>
      <p:sp>
        <p:nvSpPr>
          <p:cNvPr id="36" name="Text 34"/>
          <p:cNvSpPr txBox="1"/>
          <p:nvPr/>
        </p:nvSpPr>
        <p:spPr>
          <a:xfrm>
            <a:off x="557784" y="2212848"/>
            <a:ext cx="1901952" cy="548640"/>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LLMRewriter</a:t>
            </a:r>
            <a:endParaRPr lang="en-US" sz="1000" dirty="0"/>
          </a:p>
          <a:p>
            <a:pPr algn="ctr" indent="0" marL="0">
              <a:buNone/>
            </a:pPr>
            <a:r>
              <a:rPr lang="en-US" sz="800" dirty="0">
                <a:solidFill>
                  <a:srgbClr val="6B7280"/>
                </a:solidFill>
                <a:latin typeface="Calibri" pitchFamily="34" charset="0"/>
                <a:ea typeface="Calibri" pitchFamily="34" charset="-122"/>
                <a:cs typeface="Calibri" pitchFamily="34" charset="-120"/>
              </a:rPr>
              <a:t>only for the llm_* strategies</a:t>
            </a:r>
            <a:endParaRPr lang="en-US" sz="1000" dirty="0"/>
          </a:p>
        </p:txBody>
      </p:sp>
      <p:sp>
        <p:nvSpPr>
          <p:cNvPr id="37" name="Shape 35"/>
          <p:cNvSpPr/>
          <p:nvPr/>
        </p:nvSpPr>
        <p:spPr>
          <a:xfrm>
            <a:off x="502920" y="3200400"/>
            <a:ext cx="2011680" cy="548640"/>
          </a:xfrm>
          <a:prstGeom prst="roundRect">
            <a:avLst>
              <a:gd name="adj" fmla="val 13333"/>
            </a:avLst>
          </a:prstGeom>
          <a:solidFill>
            <a:srgbClr val="F4F5F7"/>
          </a:solidFill>
          <a:ln w="9525">
            <a:solidFill>
              <a:srgbClr val="CBD5E1"/>
            </a:solidFill>
            <a:prstDash val="solid"/>
          </a:ln>
        </p:spPr>
      </p:sp>
      <p:sp>
        <p:nvSpPr>
          <p:cNvPr id="38" name="Text 36"/>
          <p:cNvSpPr txBox="1"/>
          <p:nvPr/>
        </p:nvSpPr>
        <p:spPr>
          <a:xfrm>
            <a:off x="557784" y="3200400"/>
            <a:ext cx="1901952" cy="548640"/>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manual_evaluation.py</a:t>
            </a:r>
            <a:endParaRPr lang="en-US" sz="1000" dirty="0"/>
          </a:p>
          <a:p>
            <a:pPr algn="ctr" indent="0" marL="0">
              <a:buNone/>
            </a:pPr>
            <a:r>
              <a:rPr lang="en-US" sz="800" dirty="0">
                <a:solidFill>
                  <a:srgbClr val="6B7280"/>
                </a:solidFill>
                <a:latin typeface="Calibri" pitchFamily="34" charset="0"/>
                <a:ea typeface="Calibri" pitchFamily="34" charset="-122"/>
                <a:cs typeface="Calibri" pitchFamily="34" charset="-120"/>
              </a:rPr>
              <a:t>faithfulness + relevance (2 of 4 metrics)</a:t>
            </a:r>
            <a:endParaRPr lang="en-US" sz="1000" dirty="0"/>
          </a:p>
        </p:txBody>
      </p:sp>
      <p:sp>
        <p:nvSpPr>
          <p:cNvPr id="39" name="Shape 37"/>
          <p:cNvSpPr/>
          <p:nvPr/>
        </p:nvSpPr>
        <p:spPr>
          <a:xfrm>
            <a:off x="502920" y="3813048"/>
            <a:ext cx="2011680" cy="548640"/>
          </a:xfrm>
          <a:prstGeom prst="roundRect">
            <a:avLst>
              <a:gd name="adj" fmla="val 13333"/>
            </a:avLst>
          </a:prstGeom>
          <a:solidFill>
            <a:srgbClr val="F4F5F7"/>
          </a:solidFill>
          <a:ln w="9525">
            <a:solidFill>
              <a:srgbClr val="CBD5E1"/>
            </a:solidFill>
            <a:prstDash val="solid"/>
          </a:ln>
        </p:spPr>
      </p:sp>
      <p:sp>
        <p:nvSpPr>
          <p:cNvPr id="40" name="Text 38"/>
          <p:cNvSpPr txBox="1"/>
          <p:nvPr/>
        </p:nvSpPr>
        <p:spPr>
          <a:xfrm>
            <a:off x="557784" y="3813048"/>
            <a:ext cx="1901952" cy="548640"/>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ragas_evaluation.py</a:t>
            </a:r>
            <a:endParaRPr lang="en-US" sz="1000" dirty="0"/>
          </a:p>
          <a:p>
            <a:pPr algn="ctr" indent="0" marL="0">
              <a:buNone/>
            </a:pPr>
            <a:r>
              <a:rPr lang="en-US" sz="800" dirty="0">
                <a:solidFill>
                  <a:srgbClr val="6B7280"/>
                </a:solidFill>
                <a:latin typeface="Calibri" pitchFamily="34" charset="0"/>
                <a:ea typeface="Calibri" pitchFamily="34" charset="-122"/>
                <a:cs typeface="Calibri" pitchFamily="34" charset="-120"/>
              </a:rPr>
              <a:t>RAGAS metrics (async client)</a:t>
            </a:r>
            <a:endParaRPr lang="en-US" sz="1000" dirty="0"/>
          </a:p>
        </p:txBody>
      </p:sp>
      <p:sp>
        <p:nvSpPr>
          <p:cNvPr id="41" name="Shape 39"/>
          <p:cNvSpPr/>
          <p:nvPr/>
        </p:nvSpPr>
        <p:spPr>
          <a:xfrm>
            <a:off x="3154680" y="1783080"/>
            <a:ext cx="2331720" cy="1051560"/>
          </a:xfrm>
          <a:prstGeom prst="roundRect">
            <a:avLst>
              <a:gd name="adj" fmla="val 30435"/>
            </a:avLst>
          </a:prstGeom>
          <a:solidFill>
            <a:srgbClr val="14213D"/>
          </a:solidFill>
          <a:ln w="9525">
            <a:solidFill>
              <a:srgbClr val="14213D"/>
            </a:solidFill>
            <a:prstDash val="solid"/>
          </a:ln>
        </p:spPr>
      </p:sp>
      <p:sp>
        <p:nvSpPr>
          <p:cNvPr id="42" name="Text 40"/>
          <p:cNvSpPr txBox="1"/>
          <p:nvPr/>
        </p:nvSpPr>
        <p:spPr>
          <a:xfrm>
            <a:off x="3209544" y="1783080"/>
            <a:ext cx="2221992" cy="1051560"/>
          </a:xfrm>
          <a:prstGeom prst="rect">
            <a:avLst/>
          </a:prstGeom>
          <a:noFill/>
          <a:ln/>
        </p:spPr>
        <p:txBody>
          <a:bodyPr wrap="square" lIns="25400" tIns="25400" rIns="25400" bIns="254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OpenAICompatibleLLM</a:t>
            </a:r>
            <a:endParaRPr lang="en-US" sz="1000" dirty="0"/>
          </a:p>
          <a:p>
            <a:pPr algn="ctr" indent="0" marL="0">
              <a:buNone/>
            </a:pPr>
            <a:r>
              <a:rPr lang="en-US" sz="800" dirty="0">
                <a:solidFill>
                  <a:srgbClr val="C9D6EE"/>
                </a:solidFill>
                <a:latin typeface="Calibri" pitchFamily="34" charset="0"/>
                <a:ea typeface="Calibri" pitchFamily="34" charset="-122"/>
                <a:cs typeface="Calibri" pitchFamily="34" charset="-120"/>
              </a:rPr>
              <a:t>BaseLLM.chat(messages) → text</a:t>
            </a:r>
            <a:endParaRPr lang="en-US" sz="1000" dirty="0"/>
          </a:p>
          <a:p>
            <a:pPr algn="ctr" indent="0" marL="0">
              <a:buNone/>
            </a:pPr>
            <a:r>
              <a:rPr lang="en-US" sz="800" dirty="0">
                <a:solidFill>
                  <a:srgbClr val="C9D6EE"/>
                </a:solidFill>
                <a:latin typeface="Calibri" pitchFamily="34" charset="0"/>
                <a:ea typeface="Calibri" pitchFamily="34" charset="-122"/>
                <a:cs typeface="Calibri" pitchFamily="34" charset="-120"/>
              </a:rPr>
              <a:t>openai SDK · retries 429 (retry-after)</a:t>
            </a:r>
            <a:endParaRPr lang="en-US" sz="1000" dirty="0"/>
          </a:p>
          <a:p>
            <a:pPr algn="ctr" indent="0" marL="0">
              <a:buNone/>
            </a:pPr>
            <a:r>
              <a:rPr lang="en-US" sz="800" dirty="0">
                <a:solidFill>
                  <a:srgbClr val="C9D6EE"/>
                </a:solidFill>
                <a:latin typeface="Calibri" pitchFamily="34" charset="0"/>
                <a:ea typeface="Calibri" pitchFamily="34" charset="-122"/>
                <a:cs typeface="Calibri" pitchFamily="34" charset="-120"/>
              </a:rPr>
              <a:t>reasoning_effort=low · JSON-mode fallback</a:t>
            </a:r>
            <a:endParaRPr lang="en-US" sz="1000" dirty="0"/>
          </a:p>
        </p:txBody>
      </p:sp>
      <p:sp>
        <p:nvSpPr>
          <p:cNvPr id="43" name="Shape 41"/>
          <p:cNvSpPr/>
          <p:nvPr/>
        </p:nvSpPr>
        <p:spPr>
          <a:xfrm>
            <a:off x="3246120" y="3429000"/>
            <a:ext cx="2148840" cy="777240"/>
          </a:xfrm>
          <a:prstGeom prst="can">
            <a:avLst/>
          </a:prstGeom>
          <a:solidFill>
            <a:srgbClr val="C9D6EE"/>
          </a:solidFill>
          <a:ln w="9525">
            <a:solidFill>
              <a:srgbClr val="9DB2D9"/>
            </a:solidFill>
            <a:prstDash val="solid"/>
          </a:ln>
        </p:spPr>
      </p:sp>
      <p:sp>
        <p:nvSpPr>
          <p:cNvPr id="44" name="Text 42"/>
          <p:cNvSpPr txBox="1"/>
          <p:nvPr/>
        </p:nvSpPr>
        <p:spPr>
          <a:xfrm>
            <a:off x="3300984" y="3429000"/>
            <a:ext cx="2039112" cy="777240"/>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PROVIDERS registry</a:t>
            </a:r>
            <a:endParaRPr lang="en-US" sz="1000" dirty="0"/>
          </a:p>
          <a:p>
            <a:pPr algn="ctr" indent="0" marL="0">
              <a:buNone/>
            </a:pPr>
            <a:r>
              <a:rPr lang="en-US" sz="800" dirty="0">
                <a:solidFill>
                  <a:srgbClr val="1F2F5C"/>
                </a:solidFill>
                <a:latin typeface="Calibri" pitchFamily="34" charset="0"/>
                <a:ea typeface="Calibri" pitchFamily="34" charset="-122"/>
                <a:cs typeface="Calibri" pitchFamily="34" charset="-120"/>
              </a:rPr>
              <a:t>dict: name → ProviderSpec</a:t>
            </a:r>
            <a:endParaRPr lang="en-US" sz="1000" dirty="0"/>
          </a:p>
          <a:p>
            <a:pPr algn="ctr" indent="0" marL="0">
              <a:buNone/>
            </a:pPr>
            <a:r>
              <a:rPr lang="en-US" sz="800" dirty="0">
                <a:solidFill>
                  <a:srgbClr val="1F2F5C"/>
                </a:solidFill>
                <a:latin typeface="Calibri" pitchFamily="34" charset="0"/>
                <a:ea typeface="Calibri" pitchFamily="34" charset="-122"/>
                <a:cs typeface="Calibri" pitchFamily="34" charset="-120"/>
              </a:rPr>
              <a:t>base_url · key variable · default model</a:t>
            </a:r>
            <a:endParaRPr lang="en-US" sz="1000" dirty="0"/>
          </a:p>
        </p:txBody>
      </p:sp>
      <p:sp>
        <p:nvSpPr>
          <p:cNvPr id="45" name="Shape 43"/>
          <p:cNvSpPr/>
          <p:nvPr/>
        </p:nvSpPr>
        <p:spPr>
          <a:xfrm>
            <a:off x="6080760" y="1600200"/>
            <a:ext cx="2560320" cy="777240"/>
          </a:xfrm>
          <a:prstGeom prst="roundRect">
            <a:avLst>
              <a:gd name="adj" fmla="val 9412"/>
            </a:avLst>
          </a:prstGeom>
          <a:solidFill>
            <a:srgbClr val="F4F5F7"/>
          </a:solidFill>
          <a:ln w="9525">
            <a:solidFill>
              <a:srgbClr val="CBD5E1"/>
            </a:solidFill>
            <a:prstDash val="solid"/>
          </a:ln>
        </p:spPr>
      </p:sp>
      <p:sp>
        <p:nvSpPr>
          <p:cNvPr id="46" name="Text 44"/>
          <p:cNvSpPr txBox="1"/>
          <p:nvPr/>
        </p:nvSpPr>
        <p:spPr>
          <a:xfrm>
            <a:off x="6135624" y="1600200"/>
            <a:ext cx="2450592" cy="777240"/>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Groq</a:t>
            </a:r>
            <a:endParaRPr lang="en-US" sz="1000" dirty="0"/>
          </a:p>
          <a:p>
            <a:pPr algn="ctr" indent="0" marL="0">
              <a:buNone/>
            </a:pPr>
            <a:r>
              <a:rPr lang="en-US" sz="800" dirty="0">
                <a:solidFill>
                  <a:srgbClr val="6B7280"/>
                </a:solidFill>
                <a:latin typeface="Calibri" pitchFamily="34" charset="0"/>
                <a:ea typeface="Calibri" pitchFamily="34" charset="-122"/>
                <a:cs typeface="Calibri" pitchFamily="34" charset="-120"/>
              </a:rPr>
              <a:t>api.groq.com/openai/v1</a:t>
            </a:r>
            <a:endParaRPr lang="en-US" sz="1000" dirty="0"/>
          </a:p>
          <a:p>
            <a:pPr algn="ctr" indent="0" marL="0">
              <a:buNone/>
            </a:pPr>
            <a:r>
              <a:rPr lang="en-US" sz="800" dirty="0">
                <a:solidFill>
                  <a:srgbClr val="6B7280"/>
                </a:solidFill>
                <a:latin typeface="Calibri" pitchFamily="34" charset="0"/>
                <a:ea typeface="Calibri" pitchFamily="34" charset="-122"/>
                <a:cs typeface="Calibri" pitchFamily="34" charset="-120"/>
              </a:rPr>
              <a:t>GROQ_API_KEY · free plan, no card</a:t>
            </a:r>
            <a:endParaRPr lang="en-US" sz="1000" dirty="0"/>
          </a:p>
          <a:p>
            <a:pPr algn="ctr" indent="0" marL="0">
              <a:buNone/>
            </a:pPr>
            <a:r>
              <a:rPr lang="en-US" sz="800" dirty="0">
                <a:solidFill>
                  <a:srgbClr val="6B7280"/>
                </a:solidFill>
                <a:latin typeface="Calibri" pitchFamily="34" charset="0"/>
                <a:ea typeface="Calibri" pitchFamily="34" charset="-122"/>
                <a:cs typeface="Calibri" pitchFamily="34" charset="-120"/>
              </a:rPr>
              <a:t>openai/gpt-oss-120b (default)</a:t>
            </a:r>
            <a:endParaRPr lang="en-US" sz="1000" dirty="0"/>
          </a:p>
        </p:txBody>
      </p:sp>
      <p:sp>
        <p:nvSpPr>
          <p:cNvPr id="47" name="Shape 45"/>
          <p:cNvSpPr/>
          <p:nvPr/>
        </p:nvSpPr>
        <p:spPr>
          <a:xfrm>
            <a:off x="6080760" y="2514600"/>
            <a:ext cx="2560320" cy="777240"/>
          </a:xfrm>
          <a:prstGeom prst="roundRect">
            <a:avLst>
              <a:gd name="adj" fmla="val 9412"/>
            </a:avLst>
          </a:prstGeom>
          <a:solidFill>
            <a:srgbClr val="F4F5F7"/>
          </a:solidFill>
          <a:ln w="9525">
            <a:solidFill>
              <a:srgbClr val="CBD5E1"/>
            </a:solidFill>
            <a:prstDash val="solid"/>
          </a:ln>
        </p:spPr>
      </p:sp>
      <p:sp>
        <p:nvSpPr>
          <p:cNvPr id="48" name="Text 46"/>
          <p:cNvSpPr txBox="1"/>
          <p:nvPr/>
        </p:nvSpPr>
        <p:spPr>
          <a:xfrm>
            <a:off x="6135624" y="2514600"/>
            <a:ext cx="2450592" cy="777240"/>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Hugging Face router</a:t>
            </a:r>
            <a:endParaRPr lang="en-US" sz="1000" dirty="0"/>
          </a:p>
          <a:p>
            <a:pPr algn="ctr" indent="0" marL="0">
              <a:buNone/>
            </a:pPr>
            <a:r>
              <a:rPr lang="en-US" sz="800" dirty="0">
                <a:solidFill>
                  <a:srgbClr val="6B7280"/>
                </a:solidFill>
                <a:latin typeface="Calibri" pitchFamily="34" charset="0"/>
                <a:ea typeface="Calibri" pitchFamily="34" charset="-122"/>
                <a:cs typeface="Calibri" pitchFamily="34" charset="-120"/>
              </a:rPr>
              <a:t>router.huggingface.co/v1</a:t>
            </a:r>
            <a:endParaRPr lang="en-US" sz="1000" dirty="0"/>
          </a:p>
          <a:p>
            <a:pPr algn="ctr" indent="0" marL="0">
              <a:buNone/>
            </a:pPr>
            <a:r>
              <a:rPr lang="en-US" sz="800" dirty="0">
                <a:solidFill>
                  <a:srgbClr val="6B7280"/>
                </a:solidFill>
                <a:latin typeface="Calibri" pitchFamily="34" charset="0"/>
                <a:ea typeface="Calibri" pitchFamily="34" charset="-122"/>
                <a:cs typeface="Calibri" pitchFamily="34" charset="-120"/>
              </a:rPr>
              <a:t>HF_TOKEN · 140+ hosted models</a:t>
            </a:r>
            <a:endParaRPr lang="en-US" sz="1000" dirty="0"/>
          </a:p>
          <a:p>
            <a:pPr algn="ctr" indent="0" marL="0">
              <a:buNone/>
            </a:pPr>
            <a:r>
              <a:rPr lang="en-US" sz="800" dirty="0">
                <a:solidFill>
                  <a:srgbClr val="6B7280"/>
                </a:solidFill>
                <a:latin typeface="Calibri" pitchFamily="34" charset="0"/>
                <a:ea typeface="Calibri" pitchFamily="34" charset="-122"/>
                <a:cs typeface="Calibri" pitchFamily="34" charset="-120"/>
              </a:rPr>
              <a:t>Llama-3.3-70B-Instruct (default)</a:t>
            </a:r>
            <a:endParaRPr lang="en-US" sz="1000" dirty="0"/>
          </a:p>
        </p:txBody>
      </p:sp>
      <p:sp>
        <p:nvSpPr>
          <p:cNvPr id="49" name="Shape 47"/>
          <p:cNvSpPr/>
          <p:nvPr/>
        </p:nvSpPr>
        <p:spPr>
          <a:xfrm>
            <a:off x="6080760" y="3429000"/>
            <a:ext cx="2560320" cy="777240"/>
          </a:xfrm>
          <a:prstGeom prst="roundRect">
            <a:avLst>
              <a:gd name="adj" fmla="val 9412"/>
            </a:avLst>
          </a:prstGeom>
          <a:solidFill>
            <a:srgbClr val="F4F5F7"/>
          </a:solidFill>
          <a:ln w="9525">
            <a:solidFill>
              <a:srgbClr val="CBD5E1"/>
            </a:solidFill>
            <a:prstDash val="solid"/>
          </a:ln>
        </p:spPr>
      </p:sp>
      <p:sp>
        <p:nvSpPr>
          <p:cNvPr id="50" name="Text 48"/>
          <p:cNvSpPr txBox="1"/>
          <p:nvPr/>
        </p:nvSpPr>
        <p:spPr>
          <a:xfrm>
            <a:off x="6135624" y="3429000"/>
            <a:ext cx="2450592" cy="777240"/>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Ollama  (this machine)</a:t>
            </a:r>
            <a:endParaRPr lang="en-US" sz="1000" dirty="0"/>
          </a:p>
          <a:p>
            <a:pPr algn="ctr" indent="0" marL="0">
              <a:buNone/>
            </a:pPr>
            <a:r>
              <a:rPr lang="en-US" sz="800" dirty="0">
                <a:solidFill>
                  <a:srgbClr val="6B7280"/>
                </a:solidFill>
                <a:latin typeface="Calibri" pitchFamily="34" charset="0"/>
                <a:ea typeface="Calibri" pitchFamily="34" charset="-122"/>
                <a:cs typeface="Calibri" pitchFamily="34" charset="-120"/>
              </a:rPr>
              <a:t>localhost:11434/v1</a:t>
            </a:r>
            <a:endParaRPr lang="en-US" sz="1000" dirty="0"/>
          </a:p>
          <a:p>
            <a:pPr algn="ctr" indent="0" marL="0">
              <a:buNone/>
            </a:pPr>
            <a:r>
              <a:rPr lang="en-US" sz="800" dirty="0">
                <a:solidFill>
                  <a:srgbClr val="6B7280"/>
                </a:solidFill>
                <a:latin typeface="Calibri" pitchFamily="34" charset="0"/>
                <a:ea typeface="Calibri" pitchFamily="34" charset="-122"/>
                <a:cs typeface="Calibri" pitchFamily="34" charset="-120"/>
              </a:rPr>
              <a:t>no key · no internet · no limits</a:t>
            </a:r>
            <a:endParaRPr lang="en-US" sz="1000" dirty="0"/>
          </a:p>
          <a:p>
            <a:pPr algn="ctr" indent="0" marL="0">
              <a:buNone/>
            </a:pPr>
            <a:r>
              <a:rPr lang="en-US" sz="800" dirty="0">
                <a:solidFill>
                  <a:srgbClr val="6B7280"/>
                </a:solidFill>
                <a:latin typeface="Calibri" pitchFamily="34" charset="0"/>
                <a:ea typeface="Calibri" pitchFamily="34" charset="-122"/>
                <a:cs typeface="Calibri" pitchFamily="34" charset="-120"/>
              </a:rPr>
              <a:t>llama3.2 (default)</a:t>
            </a:r>
            <a:endParaRPr lang="en-US" sz="1000" dirty="0"/>
          </a:p>
        </p:txBody>
      </p:sp>
      <p:sp>
        <p:nvSpPr>
          <p:cNvPr id="51" name="Text 49"/>
          <p:cNvSpPr txBox="1"/>
          <p:nvPr/>
        </p:nvSpPr>
        <p:spPr>
          <a:xfrm>
            <a:off x="457200" y="4526280"/>
            <a:ext cx="8229600" cy="256032"/>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Same POST /v1/chat/completions to all three; only base_url and the key differ — one code path for requests, retries and errors.</a:t>
            </a:r>
            <a:endParaRPr lang="en-US" sz="950" dirty="0"/>
          </a:p>
        </p:txBody>
      </p:sp>
      <p:sp>
        <p:nvSpPr>
          <p:cNvPr id="52" name="Text 50"/>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Multi-Document RAG  ·  22</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USER INTERFACE</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Command-line application: one loop, every setting live</a:t>
            </a:r>
            <a:endParaRPr lang="en-US" sz="2800" dirty="0"/>
          </a:p>
        </p:txBody>
      </p:sp>
      <p:sp>
        <p:nvSpPr>
          <p:cNvPr id="4" name="Shape 2"/>
          <p:cNvSpPr/>
          <p:nvPr/>
        </p:nvSpPr>
        <p:spPr>
          <a:xfrm>
            <a:off x="457200" y="1280160"/>
            <a:ext cx="3977640" cy="1325880"/>
          </a:xfrm>
          <a:prstGeom prst="roundRect">
            <a:avLst>
              <a:gd name="adj" fmla="val 6897"/>
            </a:avLst>
          </a:prstGeom>
          <a:solidFill>
            <a:srgbClr val="F4F5F7"/>
          </a:solidFill>
          <a:ln w="9525">
            <a:solidFill>
              <a:srgbClr val="E5E7EB"/>
            </a:solidFill>
            <a:prstDash val="solid"/>
          </a:ln>
        </p:spPr>
      </p:sp>
      <p:sp>
        <p:nvSpPr>
          <p:cNvPr id="5" name="Shape 3"/>
          <p:cNvSpPr/>
          <p:nvPr/>
        </p:nvSpPr>
        <p:spPr>
          <a:xfrm>
            <a:off x="621792" y="1444752"/>
            <a:ext cx="457200" cy="457200"/>
          </a:xfrm>
          <a:prstGeom prst="ellipse">
            <a:avLst/>
          </a:prstGeom>
          <a:solidFill>
            <a:srgbClr val="FCA311"/>
          </a:solidFill>
          <a:ln w="12700">
            <a:solidFill>
              <a:srgbClr val="FCA311"/>
            </a:solidFill>
            <a:prstDash val="solid"/>
          </a:ln>
        </p:spPr>
      </p:sp>
      <p:pic>
        <p:nvPicPr>
          <p:cNvPr id="6" name="Image 0" descr="preencoded.png">    </p:cNvPr>
          <p:cNvPicPr>
            <a:picLocks noChangeAspect="1"/>
          </p:cNvPicPr>
          <p:nvPr/>
        </p:nvPicPr>
        <p:blipFill>
          <a:blip r:embed="rId1"/>
          <a:stretch>
            <a:fillRect/>
          </a:stretch>
        </p:blipFill>
        <p:spPr>
          <a:xfrm>
            <a:off x="731520" y="1554480"/>
            <a:ext cx="237744" cy="237744"/>
          </a:xfrm>
          <a:prstGeom prst="rect">
            <a:avLst/>
          </a:prstGeom>
        </p:spPr>
      </p:pic>
      <p:sp>
        <p:nvSpPr>
          <p:cNvPr id="7" name="Text 4"/>
          <p:cNvSpPr txBox="1"/>
          <p:nvPr/>
        </p:nvSpPr>
        <p:spPr>
          <a:xfrm>
            <a:off x="1188720" y="1426464"/>
            <a:ext cx="3108960" cy="45720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Interactive loop</a:t>
            </a:r>
            <a:endParaRPr lang="en-US" sz="1400" dirty="0"/>
          </a:p>
        </p:txBody>
      </p:sp>
      <p:sp>
        <p:nvSpPr>
          <p:cNvPr id="8" name="Text 5"/>
          <p:cNvSpPr txBox="1"/>
          <p:nvPr/>
        </p:nvSpPr>
        <p:spPr>
          <a:xfrm>
            <a:off x="621792" y="1993392"/>
            <a:ext cx="3648456" cy="50292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Type a question; see the rewrites, the sources (* = cited), the answer and per-stage timings — the layout from the brief.</a:t>
            </a:r>
            <a:endParaRPr lang="en-US" sz="1050" dirty="0"/>
          </a:p>
        </p:txBody>
      </p:sp>
      <p:sp>
        <p:nvSpPr>
          <p:cNvPr id="9" name="Shape 6"/>
          <p:cNvSpPr/>
          <p:nvPr/>
        </p:nvSpPr>
        <p:spPr>
          <a:xfrm>
            <a:off x="4709160" y="1280160"/>
            <a:ext cx="3977640" cy="1325880"/>
          </a:xfrm>
          <a:prstGeom prst="roundRect">
            <a:avLst>
              <a:gd name="adj" fmla="val 6897"/>
            </a:avLst>
          </a:prstGeom>
          <a:solidFill>
            <a:srgbClr val="F4F5F7"/>
          </a:solidFill>
          <a:ln w="9525">
            <a:solidFill>
              <a:srgbClr val="E5E7EB"/>
            </a:solidFill>
            <a:prstDash val="solid"/>
          </a:ln>
        </p:spPr>
      </p:sp>
      <p:sp>
        <p:nvSpPr>
          <p:cNvPr id="10" name="Shape 7"/>
          <p:cNvSpPr/>
          <p:nvPr/>
        </p:nvSpPr>
        <p:spPr>
          <a:xfrm>
            <a:off x="4873752" y="1444752"/>
            <a:ext cx="457200" cy="457200"/>
          </a:xfrm>
          <a:prstGeom prst="ellipse">
            <a:avLst/>
          </a:prstGeom>
          <a:solidFill>
            <a:srgbClr val="FCA311"/>
          </a:solidFill>
          <a:ln w="12700">
            <a:solidFill>
              <a:srgbClr val="FCA311"/>
            </a:solidFill>
            <a:prstDash val="solid"/>
          </a:ln>
        </p:spPr>
      </p:sp>
      <p:pic>
        <p:nvPicPr>
          <p:cNvPr id="11" name="Image 1" descr="preencoded.png">    </p:cNvPr>
          <p:cNvPicPr>
            <a:picLocks noChangeAspect="1"/>
          </p:cNvPicPr>
          <p:nvPr/>
        </p:nvPicPr>
        <p:blipFill>
          <a:blip r:embed="rId2"/>
          <a:stretch>
            <a:fillRect/>
          </a:stretch>
        </p:blipFill>
        <p:spPr>
          <a:xfrm>
            <a:off x="4983480" y="1554480"/>
            <a:ext cx="237744" cy="237744"/>
          </a:xfrm>
          <a:prstGeom prst="rect">
            <a:avLst/>
          </a:prstGeom>
        </p:spPr>
      </p:pic>
      <p:sp>
        <p:nvSpPr>
          <p:cNvPr id="12" name="Text 8"/>
          <p:cNvSpPr txBox="1"/>
          <p:nvPr/>
        </p:nvSpPr>
        <p:spPr>
          <a:xfrm>
            <a:off x="5440680" y="1426464"/>
            <a:ext cx="3108960" cy="45720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Live settings</a:t>
            </a:r>
            <a:endParaRPr lang="en-US" sz="1400" dirty="0"/>
          </a:p>
        </p:txBody>
      </p:sp>
      <p:sp>
        <p:nvSpPr>
          <p:cNvPr id="13" name="Text 9"/>
          <p:cNvSpPr txBox="1"/>
          <p:nvPr/>
        </p:nvSpPr>
        <p:spPr>
          <a:xfrm>
            <a:off x="4873752" y="1993392"/>
            <a:ext cx="3648456" cy="50292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/strategy, /k, /provider, /model and /models switch the pipeline without restarting; /chunks toggles the retrieved-chunk view.</a:t>
            </a:r>
            <a:endParaRPr lang="en-US" sz="1050" dirty="0"/>
          </a:p>
        </p:txBody>
      </p:sp>
      <p:sp>
        <p:nvSpPr>
          <p:cNvPr id="14" name="Shape 10"/>
          <p:cNvSpPr/>
          <p:nvPr/>
        </p:nvSpPr>
        <p:spPr>
          <a:xfrm>
            <a:off x="457200" y="2743200"/>
            <a:ext cx="3977640" cy="1325880"/>
          </a:xfrm>
          <a:prstGeom prst="roundRect">
            <a:avLst>
              <a:gd name="adj" fmla="val 6897"/>
            </a:avLst>
          </a:prstGeom>
          <a:solidFill>
            <a:srgbClr val="F4F5F7"/>
          </a:solidFill>
          <a:ln w="9525">
            <a:solidFill>
              <a:srgbClr val="E5E7EB"/>
            </a:solidFill>
            <a:prstDash val="solid"/>
          </a:ln>
        </p:spPr>
      </p:sp>
      <p:sp>
        <p:nvSpPr>
          <p:cNvPr id="15" name="Shape 11"/>
          <p:cNvSpPr/>
          <p:nvPr/>
        </p:nvSpPr>
        <p:spPr>
          <a:xfrm>
            <a:off x="621792" y="2907792"/>
            <a:ext cx="457200" cy="457200"/>
          </a:xfrm>
          <a:prstGeom prst="ellipse">
            <a:avLst/>
          </a:prstGeom>
          <a:solidFill>
            <a:srgbClr val="FCA311"/>
          </a:solidFill>
          <a:ln w="12700">
            <a:solidFill>
              <a:srgbClr val="FCA311"/>
            </a:solidFill>
            <a:prstDash val="solid"/>
          </a:ln>
        </p:spPr>
      </p:sp>
      <p:pic>
        <p:nvPicPr>
          <p:cNvPr id="16" name="Image 2" descr="preencoded.png">    </p:cNvPr>
          <p:cNvPicPr>
            <a:picLocks noChangeAspect="1"/>
          </p:cNvPicPr>
          <p:nvPr/>
        </p:nvPicPr>
        <p:blipFill>
          <a:blip r:embed="rId3"/>
          <a:stretch>
            <a:fillRect/>
          </a:stretch>
        </p:blipFill>
        <p:spPr>
          <a:xfrm>
            <a:off x="731520" y="3017520"/>
            <a:ext cx="237744" cy="237744"/>
          </a:xfrm>
          <a:prstGeom prst="rect">
            <a:avLst/>
          </a:prstGeom>
        </p:spPr>
      </p:pic>
      <p:sp>
        <p:nvSpPr>
          <p:cNvPr id="17" name="Text 12"/>
          <p:cNvSpPr txBox="1"/>
          <p:nvPr/>
        </p:nvSpPr>
        <p:spPr>
          <a:xfrm>
            <a:off x="1188720" y="2889504"/>
            <a:ext cx="3108960" cy="45720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Inspection &amp; scoring</a:t>
            </a:r>
            <a:endParaRPr lang="en-US" sz="1400" dirty="0"/>
          </a:p>
        </p:txBody>
      </p:sp>
      <p:sp>
        <p:nvSpPr>
          <p:cNvPr id="18" name="Text 13"/>
          <p:cNvSpPr txBox="1"/>
          <p:nvPr/>
        </p:nvSpPr>
        <p:spPr>
          <a:xfrm>
            <a:off x="621792" y="3456432"/>
            <a:ext cx="3648456" cy="50292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--show-chunks: similarity and hit count per chunk. --evaluate: the four RAG metrics printed under every answer.</a:t>
            </a:r>
            <a:endParaRPr lang="en-US" sz="1050" dirty="0"/>
          </a:p>
        </p:txBody>
      </p:sp>
      <p:sp>
        <p:nvSpPr>
          <p:cNvPr id="19" name="Shape 14"/>
          <p:cNvSpPr/>
          <p:nvPr/>
        </p:nvSpPr>
        <p:spPr>
          <a:xfrm>
            <a:off x="4709160" y="2743200"/>
            <a:ext cx="3977640" cy="1325880"/>
          </a:xfrm>
          <a:prstGeom prst="roundRect">
            <a:avLst>
              <a:gd name="adj" fmla="val 6897"/>
            </a:avLst>
          </a:prstGeom>
          <a:solidFill>
            <a:srgbClr val="F4F5F7"/>
          </a:solidFill>
          <a:ln w="9525">
            <a:solidFill>
              <a:srgbClr val="E5E7EB"/>
            </a:solidFill>
            <a:prstDash val="solid"/>
          </a:ln>
        </p:spPr>
      </p:sp>
      <p:sp>
        <p:nvSpPr>
          <p:cNvPr id="20" name="Shape 15"/>
          <p:cNvSpPr/>
          <p:nvPr/>
        </p:nvSpPr>
        <p:spPr>
          <a:xfrm>
            <a:off x="4873752" y="2907792"/>
            <a:ext cx="457200" cy="457200"/>
          </a:xfrm>
          <a:prstGeom prst="ellipse">
            <a:avLst/>
          </a:prstGeom>
          <a:solidFill>
            <a:srgbClr val="FCA311"/>
          </a:solidFill>
          <a:ln w="12700">
            <a:solidFill>
              <a:srgbClr val="FCA311"/>
            </a:solidFill>
            <a:prstDash val="solid"/>
          </a:ln>
        </p:spPr>
      </p:sp>
      <p:pic>
        <p:nvPicPr>
          <p:cNvPr id="21" name="Image 3" descr="preencoded.png">    </p:cNvPr>
          <p:cNvPicPr>
            <a:picLocks noChangeAspect="1"/>
          </p:cNvPicPr>
          <p:nvPr/>
        </p:nvPicPr>
        <p:blipFill>
          <a:blip r:embed="rId4"/>
          <a:stretch>
            <a:fillRect/>
          </a:stretch>
        </p:blipFill>
        <p:spPr>
          <a:xfrm>
            <a:off x="4983480" y="3017520"/>
            <a:ext cx="237744" cy="237744"/>
          </a:xfrm>
          <a:prstGeom prst="rect">
            <a:avLst/>
          </a:prstGeom>
        </p:spPr>
      </p:pic>
      <p:sp>
        <p:nvSpPr>
          <p:cNvPr id="22" name="Text 16"/>
          <p:cNvSpPr txBox="1"/>
          <p:nvPr/>
        </p:nvSpPr>
        <p:spPr>
          <a:xfrm>
            <a:off x="5440680" y="2889504"/>
            <a:ext cx="3108960" cy="45720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Scripts</a:t>
            </a:r>
            <a:endParaRPr lang="en-US" sz="1400" dirty="0"/>
          </a:p>
        </p:txBody>
      </p:sp>
      <p:sp>
        <p:nvSpPr>
          <p:cNvPr id="23" name="Text 17"/>
          <p:cNvSpPr txBox="1"/>
          <p:nvPr/>
        </p:nvSpPr>
        <p:spPr>
          <a:xfrm>
            <a:off x="4873752" y="3456432"/>
            <a:ext cx="3648456" cy="50292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ingest.py rebuilds the index from whatever is in data/; main.py -q for one-shot answers; --list-models; two evaluation scripts.</a:t>
            </a:r>
            <a:endParaRPr lang="en-US" sz="1050" dirty="0"/>
          </a:p>
        </p:txBody>
      </p:sp>
      <p:sp>
        <p:nvSpPr>
          <p:cNvPr id="24" name="Shape 18"/>
          <p:cNvSpPr/>
          <p:nvPr/>
        </p:nvSpPr>
        <p:spPr>
          <a:xfrm>
            <a:off x="457200" y="4224528"/>
            <a:ext cx="8229600" cy="457200"/>
          </a:xfrm>
          <a:prstGeom prst="roundRect">
            <a:avLst>
              <a:gd name="adj" fmla="val 16000"/>
            </a:avLst>
          </a:prstGeom>
          <a:solidFill>
            <a:srgbClr val="FFF4E0"/>
          </a:solidFill>
          <a:ln w="12700">
            <a:solidFill>
              <a:srgbClr val="FFF4E0"/>
            </a:solidFill>
            <a:prstDash val="solid"/>
          </a:ln>
        </p:spPr>
      </p:sp>
      <p:sp>
        <p:nvSpPr>
          <p:cNvPr id="25" name="Text 19"/>
          <p:cNvSpPr txBox="1"/>
          <p:nvPr/>
        </p:nvSpPr>
        <p:spPr>
          <a:xfrm>
            <a:off x="640080" y="4224528"/>
            <a:ext cx="7863840" cy="457200"/>
          </a:xfrm>
          <a:prstGeom prst="rect">
            <a:avLst/>
          </a:prstGeom>
          <a:noFill/>
          <a:ln/>
        </p:spPr>
        <p:txBody>
          <a:bodyPr wrap="square" lIns="0" tIns="0" rIns="0" bIns="0" rtlCol="0" anchor="ctr"/>
          <a:lstStyle/>
          <a:p>
            <a:pPr indent="0" marL="0">
              <a:buNone/>
            </a:pPr>
            <a:r>
              <a:rPr lang="en-US" sz="1050" b="1" dirty="0">
                <a:solidFill>
                  <a:srgbClr val="14213D"/>
                </a:solidFill>
                <a:latin typeface="Calibri" pitchFamily="34" charset="0"/>
                <a:ea typeface="Calibri" pitchFamily="34" charset="-122"/>
                <a:cs typeface="Calibri" pitchFamily="34" charset="-120"/>
              </a:rPr>
              <a:t>Example:  </a:t>
            </a:r>
            <a:pPr indent="0" marL="0">
              <a:buNone/>
            </a:pPr>
            <a:r>
              <a:rPr lang="en-US" sz="950" dirty="0">
                <a:solidFill>
                  <a:srgbClr val="1F2937"/>
                </a:solidFill>
                <a:latin typeface="Courier New" pitchFamily="34" charset="0"/>
                <a:ea typeface="Courier New" pitchFamily="34" charset="-122"/>
                <a:cs typeface="Courier New" pitchFamily="34" charset="-120"/>
              </a:rPr>
              <a:t>python main.py -q "How many annual leave days are allowed?" --evaluate</a:t>
            </a:r>
            <a:pPr indent="0" marL="0">
              <a:buNone/>
            </a:pPr>
            <a:r>
              <a:rPr lang="en-US" sz="1050" dirty="0">
                <a:solidFill>
                  <a:srgbClr val="1F2937"/>
                </a:solidFill>
                <a:latin typeface="Calibri" pitchFamily="34" charset="0"/>
                <a:ea typeface="Calibri" pitchFamily="34" charset="-122"/>
                <a:cs typeface="Calibri" pitchFamily="34" charset="-120"/>
              </a:rPr>
              <a:t>   →  answer with [2][3] citations plus the Evaluation block, in about a second</a:t>
            </a:r>
            <a:endParaRPr lang="en-US" sz="1050" dirty="0"/>
          </a:p>
        </p:txBody>
      </p:sp>
      <p:sp>
        <p:nvSpPr>
          <p:cNvPr id="26" name="Text 20"/>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Multi-Document RAG  ·  23</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731520" y="1737360"/>
            <a:ext cx="7315200" cy="274320"/>
          </a:xfrm>
          <a:prstGeom prst="rect">
            <a:avLst/>
          </a:prstGeom>
          <a:noFill/>
          <a:ln/>
        </p:spPr>
        <p:txBody>
          <a:bodyPr wrap="square" lIns="0" tIns="0" rIns="0" bIns="0" rtlCol="0" anchor="ctr"/>
          <a:lstStyle/>
          <a:p>
            <a:pPr indent="0" marL="0">
              <a:buNone/>
            </a:pPr>
            <a:r>
              <a:rPr lang="en-US" sz="1200" b="1" spc="300" kern="0" dirty="0">
                <a:solidFill>
                  <a:srgbClr val="FCA311"/>
                </a:solidFill>
                <a:latin typeface="Calibri" pitchFamily="34" charset="0"/>
                <a:ea typeface="Calibri" pitchFamily="34" charset="-122"/>
                <a:cs typeface="Calibri" pitchFamily="34" charset="-120"/>
              </a:rPr>
              <a:t>PART 5</a:t>
            </a:r>
            <a:endParaRPr lang="en-US" sz="1200" dirty="0"/>
          </a:p>
        </p:txBody>
      </p:sp>
      <p:sp>
        <p:nvSpPr>
          <p:cNvPr id="3" name="Text 1"/>
          <p:cNvSpPr txBox="1"/>
          <p:nvPr/>
        </p:nvSpPr>
        <p:spPr>
          <a:xfrm>
            <a:off x="731520" y="2057400"/>
            <a:ext cx="768096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Evaluation</a:t>
            </a:r>
            <a:endParaRPr lang="en-US" sz="4000" dirty="0"/>
          </a:p>
        </p:txBody>
      </p:sp>
      <p:sp>
        <p:nvSpPr>
          <p:cNvPr id="4" name="Text 2"/>
          <p:cNvSpPr txBox="1"/>
          <p:nvPr/>
        </p:nvSpPr>
        <p:spPr>
          <a:xfrm>
            <a:off x="731520" y="2926080"/>
            <a:ext cx="7315200" cy="548640"/>
          </a:xfrm>
          <a:prstGeom prst="rect">
            <a:avLst/>
          </a:prstGeom>
          <a:noFill/>
          <a:ln/>
        </p:spPr>
        <p:txBody>
          <a:bodyPr wrap="square" lIns="0" tIns="0" rIns="0" bIns="0" rtlCol="0" anchor="ctr"/>
          <a:lstStyle/>
          <a:p>
            <a:pPr indent="0" marL="0">
              <a:buNone/>
            </a:pPr>
            <a:r>
              <a:rPr lang="en-US" sz="1600" dirty="0">
                <a:solidFill>
                  <a:srgbClr val="C9D6EE"/>
                </a:solidFill>
                <a:latin typeface="Calibri" pitchFamily="34" charset="0"/>
                <a:ea typeface="Calibri" pitchFamily="34" charset="-122"/>
                <a:cs typeface="Calibri" pitchFamily="34" charset="-120"/>
              </a:rPr>
              <a:t>Manual metrics first, RAGAS second — and how to read the scores.</a:t>
            </a:r>
            <a:endParaRPr lang="en-US" sz="1600" dirty="0"/>
          </a:p>
        </p:txBody>
      </p:sp>
      <p:sp>
        <p:nvSpPr>
          <p:cNvPr id="5" name="Shape 3"/>
          <p:cNvSpPr/>
          <p:nvPr/>
        </p:nvSpPr>
        <p:spPr>
          <a:xfrm>
            <a:off x="731520" y="3931920"/>
            <a:ext cx="146304" cy="146304"/>
          </a:xfrm>
          <a:prstGeom prst="ellipse">
            <a:avLst/>
          </a:prstGeom>
          <a:solidFill>
            <a:srgbClr val="FCA311"/>
          </a:solidFill>
          <a:ln w="12700">
            <a:solidFill>
              <a:srgbClr val="FCA311"/>
            </a:solidFill>
            <a:prstDash val="solid"/>
          </a:ln>
        </p:spPr>
      </p:sp>
      <p:sp>
        <p:nvSpPr>
          <p:cNvPr id="6" name="Shape 4"/>
          <p:cNvSpPr/>
          <p:nvPr/>
        </p:nvSpPr>
        <p:spPr>
          <a:xfrm>
            <a:off x="987552" y="3931920"/>
            <a:ext cx="146304" cy="146304"/>
          </a:xfrm>
          <a:prstGeom prst="ellipse">
            <a:avLst/>
          </a:prstGeom>
          <a:solidFill>
            <a:srgbClr val="1F2F5C"/>
          </a:solidFill>
          <a:ln w="12700">
            <a:solidFill>
              <a:srgbClr val="FCA311"/>
            </a:solidFill>
            <a:prstDash val="solid"/>
          </a:ln>
        </p:spPr>
      </p:sp>
      <p:sp>
        <p:nvSpPr>
          <p:cNvPr id="7" name="Shape 5"/>
          <p:cNvSpPr/>
          <p:nvPr/>
        </p:nvSpPr>
        <p:spPr>
          <a:xfrm>
            <a:off x="1243584" y="3931920"/>
            <a:ext cx="146304" cy="146304"/>
          </a:xfrm>
          <a:prstGeom prst="ellipse">
            <a:avLst/>
          </a:prstGeom>
          <a:solidFill>
            <a:srgbClr val="1F2F5C"/>
          </a:solidFill>
          <a:ln w="12700">
            <a:solidFill>
              <a:srgbClr val="FCA311"/>
            </a:solidFill>
            <a:prstDash val="solid"/>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EVALUATION · OVERVIEW</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Evaluation pipeline</a:t>
            </a:r>
            <a:endParaRPr lang="en-US" sz="2800" dirty="0"/>
          </a:p>
        </p:txBody>
      </p:sp>
      <p:sp>
        <p:nvSpPr>
          <p:cNvPr id="4" name="Shape 2"/>
          <p:cNvSpPr/>
          <p:nvPr/>
        </p:nvSpPr>
        <p:spPr>
          <a:xfrm>
            <a:off x="2377440" y="1577340"/>
            <a:ext cx="365760" cy="0"/>
          </a:xfrm>
          <a:prstGeom prst="line">
            <a:avLst/>
          </a:prstGeom>
          <a:noFill/>
          <a:ln w="15875">
            <a:solidFill>
              <a:srgbClr val="6B7280"/>
            </a:solidFill>
            <a:prstDash val="solid"/>
            <a:tailEnd type="triangle"/>
          </a:ln>
        </p:spPr>
      </p:sp>
      <p:sp>
        <p:nvSpPr>
          <p:cNvPr id="5" name="Shape 3"/>
          <p:cNvSpPr/>
          <p:nvPr/>
        </p:nvSpPr>
        <p:spPr>
          <a:xfrm>
            <a:off x="4754880" y="1577340"/>
            <a:ext cx="365760" cy="0"/>
          </a:xfrm>
          <a:prstGeom prst="line">
            <a:avLst/>
          </a:prstGeom>
          <a:noFill/>
          <a:ln w="15875">
            <a:solidFill>
              <a:srgbClr val="6B7280"/>
            </a:solidFill>
            <a:prstDash val="solid"/>
            <a:tailEnd type="triangle"/>
          </a:ln>
        </p:spPr>
      </p:sp>
      <p:sp>
        <p:nvSpPr>
          <p:cNvPr id="6" name="Shape 4"/>
          <p:cNvSpPr/>
          <p:nvPr/>
        </p:nvSpPr>
        <p:spPr>
          <a:xfrm>
            <a:off x="6172200" y="1874520"/>
            <a:ext cx="0" cy="457200"/>
          </a:xfrm>
          <a:prstGeom prst="line">
            <a:avLst/>
          </a:prstGeom>
          <a:noFill/>
          <a:ln w="15875">
            <a:solidFill>
              <a:srgbClr val="6B7280"/>
            </a:solidFill>
            <a:prstDash val="solid"/>
            <a:tailEnd type="triangle"/>
          </a:ln>
        </p:spPr>
      </p:sp>
      <p:sp>
        <p:nvSpPr>
          <p:cNvPr id="7" name="Shape 5"/>
          <p:cNvSpPr/>
          <p:nvPr/>
        </p:nvSpPr>
        <p:spPr>
          <a:xfrm>
            <a:off x="6172200" y="2880360"/>
            <a:ext cx="0" cy="228600"/>
          </a:xfrm>
          <a:prstGeom prst="line">
            <a:avLst/>
          </a:prstGeom>
          <a:noFill/>
          <a:ln w="15875">
            <a:solidFill>
              <a:srgbClr val="6B7280"/>
            </a:solidFill>
            <a:prstDash val="dash"/>
            <a:tailEnd type="triangle"/>
          </a:ln>
        </p:spPr>
      </p:sp>
      <p:sp>
        <p:nvSpPr>
          <p:cNvPr id="8" name="Text 6"/>
          <p:cNvSpPr txBox="1"/>
          <p:nvPr/>
        </p:nvSpPr>
        <p:spPr>
          <a:xfrm>
            <a:off x="6606540" y="2894076"/>
            <a:ext cx="685800" cy="201168"/>
          </a:xfrm>
          <a:prstGeom prst="rect">
            <a:avLst/>
          </a:prstGeom>
          <a:solidFill>
            <a:srgbClr val="FFFFFF"/>
          </a:solidFill>
          <a:ln/>
        </p:spPr>
        <p:txBody>
          <a:bodyPr wrap="square" lIns="0" tIns="0" rIns="0" bIns="0" rtlCol="0" anchor="ctr"/>
          <a:lstStyle/>
          <a:p>
            <a:pPr algn="ctr" indent="0" marL="0">
              <a:buNone/>
            </a:pPr>
            <a:r>
              <a:rPr lang="en-US" sz="800" i="1" dirty="0">
                <a:solidFill>
                  <a:srgbClr val="6B7280"/>
                </a:solidFill>
                <a:latin typeface="Calibri" pitchFamily="34" charset="0"/>
                <a:ea typeface="Calibri" pitchFamily="34" charset="-122"/>
                <a:cs typeface="Calibri" pitchFamily="34" charset="-120"/>
              </a:rPr>
              <a:t>same rows</a:t>
            </a:r>
            <a:endParaRPr lang="en-US" sz="800" dirty="0"/>
          </a:p>
        </p:txBody>
      </p:sp>
      <p:sp>
        <p:nvSpPr>
          <p:cNvPr id="9" name="Shape 7"/>
          <p:cNvSpPr/>
          <p:nvPr/>
        </p:nvSpPr>
        <p:spPr>
          <a:xfrm>
            <a:off x="7223760" y="2606040"/>
            <a:ext cx="114300" cy="0"/>
          </a:xfrm>
          <a:prstGeom prst="line">
            <a:avLst/>
          </a:prstGeom>
          <a:noFill/>
          <a:ln w="15875">
            <a:solidFill>
              <a:srgbClr val="6B7280"/>
            </a:solidFill>
            <a:prstDash val="solid"/>
          </a:ln>
        </p:spPr>
      </p:sp>
      <p:sp>
        <p:nvSpPr>
          <p:cNvPr id="10" name="Shape 8"/>
          <p:cNvSpPr/>
          <p:nvPr/>
        </p:nvSpPr>
        <p:spPr>
          <a:xfrm>
            <a:off x="7338060" y="2606040"/>
            <a:ext cx="0" cy="388620"/>
          </a:xfrm>
          <a:prstGeom prst="line">
            <a:avLst/>
          </a:prstGeom>
          <a:noFill/>
          <a:ln w="15875">
            <a:solidFill>
              <a:srgbClr val="6B7280"/>
            </a:solidFill>
            <a:prstDash val="solid"/>
          </a:ln>
        </p:spPr>
      </p:sp>
      <p:sp>
        <p:nvSpPr>
          <p:cNvPr id="11" name="Shape 9"/>
          <p:cNvSpPr/>
          <p:nvPr/>
        </p:nvSpPr>
        <p:spPr>
          <a:xfrm>
            <a:off x="7338060" y="2994660"/>
            <a:ext cx="114300" cy="0"/>
          </a:xfrm>
          <a:prstGeom prst="line">
            <a:avLst/>
          </a:prstGeom>
          <a:noFill/>
          <a:ln w="15875">
            <a:solidFill>
              <a:srgbClr val="6B7280"/>
            </a:solidFill>
            <a:prstDash val="solid"/>
            <a:tailEnd type="triangle"/>
          </a:ln>
        </p:spPr>
      </p:sp>
      <p:sp>
        <p:nvSpPr>
          <p:cNvPr id="12" name="Shape 10"/>
          <p:cNvSpPr/>
          <p:nvPr/>
        </p:nvSpPr>
        <p:spPr>
          <a:xfrm>
            <a:off x="7223760" y="3383280"/>
            <a:ext cx="114300" cy="0"/>
          </a:xfrm>
          <a:prstGeom prst="line">
            <a:avLst/>
          </a:prstGeom>
          <a:noFill/>
          <a:ln w="15875">
            <a:solidFill>
              <a:srgbClr val="6B7280"/>
            </a:solidFill>
            <a:prstDash val="solid"/>
          </a:ln>
        </p:spPr>
      </p:sp>
      <p:sp>
        <p:nvSpPr>
          <p:cNvPr id="13" name="Shape 11"/>
          <p:cNvSpPr/>
          <p:nvPr/>
        </p:nvSpPr>
        <p:spPr>
          <a:xfrm flipV="1">
            <a:off x="7338060" y="2994660"/>
            <a:ext cx="0" cy="388620"/>
          </a:xfrm>
          <a:prstGeom prst="line">
            <a:avLst/>
          </a:prstGeom>
          <a:noFill/>
          <a:ln w="15875">
            <a:solidFill>
              <a:srgbClr val="6B7280"/>
            </a:solidFill>
            <a:prstDash val="solid"/>
          </a:ln>
        </p:spPr>
      </p:sp>
      <p:sp>
        <p:nvSpPr>
          <p:cNvPr id="14" name="Shape 12"/>
          <p:cNvSpPr/>
          <p:nvPr/>
        </p:nvSpPr>
        <p:spPr>
          <a:xfrm>
            <a:off x="7338060" y="2994660"/>
            <a:ext cx="114300" cy="0"/>
          </a:xfrm>
          <a:prstGeom prst="line">
            <a:avLst/>
          </a:prstGeom>
          <a:noFill/>
          <a:ln w="15875">
            <a:solidFill>
              <a:srgbClr val="6B7280"/>
            </a:solidFill>
            <a:prstDash val="solid"/>
            <a:tailEnd type="triangle"/>
          </a:ln>
        </p:spPr>
      </p:sp>
      <p:sp>
        <p:nvSpPr>
          <p:cNvPr id="15" name="Shape 13"/>
          <p:cNvSpPr/>
          <p:nvPr/>
        </p:nvSpPr>
        <p:spPr>
          <a:xfrm>
            <a:off x="8069580" y="3657600"/>
            <a:ext cx="0" cy="164592"/>
          </a:xfrm>
          <a:prstGeom prst="line">
            <a:avLst/>
          </a:prstGeom>
          <a:noFill/>
          <a:ln w="15875">
            <a:solidFill>
              <a:srgbClr val="6B7280"/>
            </a:solidFill>
            <a:prstDash val="solid"/>
          </a:ln>
        </p:spPr>
      </p:sp>
      <p:sp>
        <p:nvSpPr>
          <p:cNvPr id="16" name="Shape 14"/>
          <p:cNvSpPr/>
          <p:nvPr/>
        </p:nvSpPr>
        <p:spPr>
          <a:xfrm flipH="1">
            <a:off x="1005840" y="3822192"/>
            <a:ext cx="7063740" cy="0"/>
          </a:xfrm>
          <a:prstGeom prst="line">
            <a:avLst/>
          </a:prstGeom>
          <a:noFill/>
          <a:ln w="15875">
            <a:solidFill>
              <a:srgbClr val="6B7280"/>
            </a:solidFill>
            <a:prstDash val="solid"/>
          </a:ln>
        </p:spPr>
      </p:sp>
      <p:sp>
        <p:nvSpPr>
          <p:cNvPr id="17" name="Shape 15"/>
          <p:cNvSpPr/>
          <p:nvPr/>
        </p:nvSpPr>
        <p:spPr>
          <a:xfrm>
            <a:off x="1005840" y="3822192"/>
            <a:ext cx="0" cy="155448"/>
          </a:xfrm>
          <a:prstGeom prst="line">
            <a:avLst/>
          </a:prstGeom>
          <a:noFill/>
          <a:ln w="15875">
            <a:solidFill>
              <a:srgbClr val="6B7280"/>
            </a:solidFill>
            <a:prstDash val="solid"/>
            <a:tailEnd type="triangle"/>
          </a:ln>
        </p:spPr>
      </p:sp>
      <p:sp>
        <p:nvSpPr>
          <p:cNvPr id="18" name="Shape 16"/>
          <p:cNvSpPr/>
          <p:nvPr/>
        </p:nvSpPr>
        <p:spPr>
          <a:xfrm>
            <a:off x="2834640" y="3822192"/>
            <a:ext cx="0" cy="155448"/>
          </a:xfrm>
          <a:prstGeom prst="line">
            <a:avLst/>
          </a:prstGeom>
          <a:noFill/>
          <a:ln w="15875">
            <a:solidFill>
              <a:srgbClr val="6B7280"/>
            </a:solidFill>
            <a:prstDash val="solid"/>
            <a:tailEnd type="triangle"/>
          </a:ln>
        </p:spPr>
      </p:sp>
      <p:sp>
        <p:nvSpPr>
          <p:cNvPr id="19" name="Shape 17"/>
          <p:cNvSpPr/>
          <p:nvPr/>
        </p:nvSpPr>
        <p:spPr>
          <a:xfrm>
            <a:off x="5257800" y="3822192"/>
            <a:ext cx="0" cy="155448"/>
          </a:xfrm>
          <a:prstGeom prst="line">
            <a:avLst/>
          </a:prstGeom>
          <a:noFill/>
          <a:ln w="15875">
            <a:solidFill>
              <a:srgbClr val="6B7280"/>
            </a:solidFill>
            <a:prstDash val="solid"/>
            <a:tailEnd type="triangle"/>
          </a:ln>
        </p:spPr>
      </p:sp>
      <p:sp>
        <p:nvSpPr>
          <p:cNvPr id="20" name="Shape 18"/>
          <p:cNvSpPr/>
          <p:nvPr/>
        </p:nvSpPr>
        <p:spPr>
          <a:xfrm>
            <a:off x="457200" y="1280160"/>
            <a:ext cx="1920240" cy="594360"/>
          </a:xfrm>
          <a:prstGeom prst="flowChartDocument">
            <a:avLst/>
          </a:prstGeom>
          <a:solidFill>
            <a:srgbClr val="FFFFFF"/>
          </a:solidFill>
          <a:ln w="9525">
            <a:solidFill>
              <a:srgbClr val="9CA3AF"/>
            </a:solidFill>
            <a:prstDash val="solid"/>
          </a:ln>
        </p:spPr>
      </p:sp>
      <p:sp>
        <p:nvSpPr>
          <p:cNvPr id="21" name="Text 19"/>
          <p:cNvSpPr txBox="1"/>
          <p:nvPr/>
        </p:nvSpPr>
        <p:spPr>
          <a:xfrm>
            <a:off x="512064" y="1280160"/>
            <a:ext cx="1810512" cy="594360"/>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evaluation_data.json</a:t>
            </a:r>
            <a:endParaRPr lang="en-US" sz="1000" dirty="0"/>
          </a:p>
          <a:p>
            <a:pPr algn="ctr" indent="0" marL="0">
              <a:buNone/>
            </a:pPr>
            <a:r>
              <a:rPr lang="en-US" sz="850" dirty="0">
                <a:solidFill>
                  <a:srgbClr val="6B7280"/>
                </a:solidFill>
                <a:latin typeface="Calibri" pitchFamily="34" charset="0"/>
                <a:ea typeface="Calibri" pitchFamily="34" charset="-122"/>
                <a:cs typeface="Calibri" pitchFamily="34" charset="-120"/>
              </a:rPr>
              <a:t>12 questions + ground truth</a:t>
            </a:r>
            <a:endParaRPr lang="en-US" sz="1000" dirty="0"/>
          </a:p>
        </p:txBody>
      </p:sp>
      <p:sp>
        <p:nvSpPr>
          <p:cNvPr id="22" name="Shape 20"/>
          <p:cNvSpPr/>
          <p:nvPr/>
        </p:nvSpPr>
        <p:spPr>
          <a:xfrm>
            <a:off x="2743200" y="1280160"/>
            <a:ext cx="2011680" cy="594360"/>
          </a:xfrm>
          <a:prstGeom prst="roundRect">
            <a:avLst>
              <a:gd name="adj" fmla="val 12308"/>
            </a:avLst>
          </a:prstGeom>
          <a:solidFill>
            <a:srgbClr val="F4F5F7"/>
          </a:solidFill>
          <a:ln w="9525">
            <a:solidFill>
              <a:srgbClr val="CBD5E1"/>
            </a:solidFill>
            <a:prstDash val="solid"/>
          </a:ln>
        </p:spPr>
      </p:sp>
      <p:sp>
        <p:nvSpPr>
          <p:cNvPr id="23" name="Text 21"/>
          <p:cNvSpPr txBox="1"/>
          <p:nvPr/>
        </p:nvSpPr>
        <p:spPr>
          <a:xfrm>
            <a:off x="2798064" y="1280160"/>
            <a:ext cx="1901952" cy="594360"/>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Stage A</a:t>
            </a:r>
            <a:endParaRPr lang="en-US" sz="1000" dirty="0"/>
          </a:p>
          <a:p>
            <a:pPr algn="ctr" indent="0" marL="0">
              <a:buNone/>
            </a:pPr>
            <a:r>
              <a:rPr lang="en-US" sz="850" dirty="0">
                <a:solidFill>
                  <a:srgbClr val="6B7280"/>
                </a:solidFill>
                <a:latin typeface="Calibri" pitchFamily="34" charset="0"/>
                <a:ea typeface="Calibri" pitchFamily="34" charset="-122"/>
                <a:cs typeface="Calibri" pitchFamily="34" charset="-120"/>
              </a:rPr>
              <a:t>RAGPipeline.ask() per question</a:t>
            </a:r>
            <a:endParaRPr lang="en-US" sz="1000" dirty="0"/>
          </a:p>
        </p:txBody>
      </p:sp>
      <p:sp>
        <p:nvSpPr>
          <p:cNvPr id="24" name="Shape 22"/>
          <p:cNvSpPr/>
          <p:nvPr/>
        </p:nvSpPr>
        <p:spPr>
          <a:xfrm>
            <a:off x="5120640" y="1280160"/>
            <a:ext cx="2103120" cy="594360"/>
          </a:xfrm>
          <a:prstGeom prst="flowChartDocument">
            <a:avLst/>
          </a:prstGeom>
          <a:solidFill>
            <a:srgbClr val="FFFFFF"/>
          </a:solidFill>
          <a:ln w="9525">
            <a:solidFill>
              <a:srgbClr val="9CA3AF"/>
            </a:solidFill>
            <a:prstDash val="solid"/>
          </a:ln>
        </p:spPr>
      </p:sp>
      <p:sp>
        <p:nvSpPr>
          <p:cNvPr id="25" name="Text 23"/>
          <p:cNvSpPr txBox="1"/>
          <p:nvPr/>
        </p:nvSpPr>
        <p:spPr>
          <a:xfrm>
            <a:off x="5175504" y="1280160"/>
            <a:ext cx="1993392" cy="594360"/>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results/rag_outputs.json</a:t>
            </a:r>
            <a:endParaRPr lang="en-US" sz="1000" dirty="0"/>
          </a:p>
          <a:p>
            <a:pPr algn="ctr" indent="0" marL="0">
              <a:buNone/>
            </a:pPr>
            <a:r>
              <a:rPr lang="en-US" sz="850" dirty="0">
                <a:solidFill>
                  <a:srgbClr val="6B7280"/>
                </a:solidFill>
                <a:latin typeface="Calibri" pitchFamily="34" charset="0"/>
                <a:ea typeface="Calibri" pitchFamily="34" charset="-122"/>
                <a:cs typeface="Calibri" pitchFamily="34" charset="-120"/>
              </a:rPr>
              <a:t>answer + contexts + ground truth</a:t>
            </a:r>
            <a:endParaRPr lang="en-US" sz="1000" dirty="0"/>
          </a:p>
        </p:txBody>
      </p:sp>
      <p:sp>
        <p:nvSpPr>
          <p:cNvPr id="26" name="Shape 24"/>
          <p:cNvSpPr/>
          <p:nvPr/>
        </p:nvSpPr>
        <p:spPr>
          <a:xfrm>
            <a:off x="5120640" y="2331720"/>
            <a:ext cx="2103120" cy="548640"/>
          </a:xfrm>
          <a:prstGeom prst="roundRect">
            <a:avLst>
              <a:gd name="adj" fmla="val 13333"/>
            </a:avLst>
          </a:prstGeom>
          <a:solidFill>
            <a:srgbClr val="F4F5F7"/>
          </a:solidFill>
          <a:ln w="9525">
            <a:solidFill>
              <a:srgbClr val="CBD5E1"/>
            </a:solidFill>
            <a:prstDash val="solid"/>
          </a:ln>
        </p:spPr>
      </p:sp>
      <p:sp>
        <p:nvSpPr>
          <p:cNvPr id="27" name="Text 25"/>
          <p:cNvSpPr txBox="1"/>
          <p:nvPr/>
        </p:nvSpPr>
        <p:spPr>
          <a:xfrm>
            <a:off x="5175504" y="2331720"/>
            <a:ext cx="1993392" cy="548640"/>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Manual metrics</a:t>
            </a:r>
            <a:endParaRPr lang="en-US" sz="1000" dirty="0"/>
          </a:p>
          <a:p>
            <a:pPr algn="ctr" indent="0" marL="0">
              <a:buNone/>
            </a:pPr>
            <a:r>
              <a:rPr lang="en-US" sz="850" dirty="0">
                <a:solidFill>
                  <a:srgbClr val="6B7280"/>
                </a:solidFill>
                <a:latin typeface="Calibri" pitchFamily="34" charset="0"/>
                <a:ea typeface="Calibri" pitchFamily="34" charset="-122"/>
                <a:cs typeface="Calibri" pitchFamily="34" charset="-120"/>
              </a:rPr>
              <a:t>→ evaluation_report.csv</a:t>
            </a:r>
            <a:endParaRPr lang="en-US" sz="1000" dirty="0"/>
          </a:p>
        </p:txBody>
      </p:sp>
      <p:sp>
        <p:nvSpPr>
          <p:cNvPr id="28" name="Shape 26"/>
          <p:cNvSpPr/>
          <p:nvPr/>
        </p:nvSpPr>
        <p:spPr>
          <a:xfrm>
            <a:off x="5120640" y="3108960"/>
            <a:ext cx="2103120" cy="548640"/>
          </a:xfrm>
          <a:prstGeom prst="roundRect">
            <a:avLst>
              <a:gd name="adj" fmla="val 13333"/>
            </a:avLst>
          </a:prstGeom>
          <a:solidFill>
            <a:srgbClr val="F4F5F7"/>
          </a:solidFill>
          <a:ln w="9525">
            <a:solidFill>
              <a:srgbClr val="CBD5E1"/>
            </a:solidFill>
            <a:prstDash val="solid"/>
          </a:ln>
        </p:spPr>
      </p:sp>
      <p:sp>
        <p:nvSpPr>
          <p:cNvPr id="29" name="Text 27"/>
          <p:cNvSpPr txBox="1"/>
          <p:nvPr/>
        </p:nvSpPr>
        <p:spPr>
          <a:xfrm>
            <a:off x="5175504" y="3108960"/>
            <a:ext cx="1993392" cy="548640"/>
          </a:xfrm>
          <a:prstGeom prst="rect">
            <a:avLst/>
          </a:prstGeom>
          <a:noFill/>
          <a:ln/>
        </p:spPr>
        <p:txBody>
          <a:bodyPr wrap="square" lIns="25400" tIns="25400" rIns="25400" bIns="2540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RAGAS metrics</a:t>
            </a:r>
            <a:endParaRPr lang="en-US" sz="1000" dirty="0"/>
          </a:p>
          <a:p>
            <a:pPr algn="ctr" indent="0" marL="0">
              <a:buNone/>
            </a:pPr>
            <a:r>
              <a:rPr lang="en-US" sz="850" dirty="0">
                <a:solidFill>
                  <a:srgbClr val="6B7280"/>
                </a:solidFill>
                <a:latin typeface="Calibri" pitchFamily="34" charset="0"/>
                <a:ea typeface="Calibri" pitchFamily="34" charset="-122"/>
                <a:cs typeface="Calibri" pitchFamily="34" charset="-120"/>
              </a:rPr>
              <a:t>→ ragas_results.csv</a:t>
            </a:r>
            <a:endParaRPr lang="en-US" sz="1000" dirty="0"/>
          </a:p>
        </p:txBody>
      </p:sp>
      <p:sp>
        <p:nvSpPr>
          <p:cNvPr id="30" name="Shape 28"/>
          <p:cNvSpPr/>
          <p:nvPr/>
        </p:nvSpPr>
        <p:spPr>
          <a:xfrm>
            <a:off x="7452360" y="2331720"/>
            <a:ext cx="1234440" cy="1325880"/>
          </a:xfrm>
          <a:prstGeom prst="diamond">
            <a:avLst/>
          </a:prstGeom>
          <a:solidFill>
            <a:srgbClr val="FFF4E0"/>
          </a:solidFill>
          <a:ln w="9525">
            <a:solidFill>
              <a:srgbClr val="FCA311"/>
            </a:solidFill>
            <a:prstDash val="solid"/>
          </a:ln>
        </p:spPr>
      </p:sp>
      <p:sp>
        <p:nvSpPr>
          <p:cNvPr id="31" name="Text 29"/>
          <p:cNvSpPr txBox="1"/>
          <p:nvPr/>
        </p:nvSpPr>
        <p:spPr>
          <a:xfrm>
            <a:off x="7699248" y="2331720"/>
            <a:ext cx="740664" cy="1325880"/>
          </a:xfrm>
          <a:prstGeom prst="rect">
            <a:avLst/>
          </a:prstGeom>
          <a:noFill/>
          <a:ln/>
        </p:spPr>
        <p:txBody>
          <a:bodyPr wrap="square" lIns="25400" tIns="25400" rIns="25400" bIns="25400" rtlCol="0" anchor="ctr"/>
          <a:lstStyle/>
          <a:p>
            <a:pPr algn="ctr" indent="0" marL="0">
              <a:buNone/>
            </a:pPr>
            <a:r>
              <a:rPr lang="en-US" sz="900" b="1" dirty="0">
                <a:solidFill>
                  <a:srgbClr val="14213D"/>
                </a:solidFill>
                <a:latin typeface="Calibri" pitchFamily="34" charset="0"/>
                <a:ea typeface="Calibri" pitchFamily="34" charset="-122"/>
                <a:cs typeface="Calibri" pitchFamily="34" charset="-120"/>
              </a:rPr>
              <a:t>Diagnose</a:t>
            </a:r>
            <a:endParaRPr lang="en-US" sz="900" dirty="0"/>
          </a:p>
          <a:p>
            <a:pPr algn="ctr" indent="0" marL="0">
              <a:buNone/>
            </a:pPr>
            <a:r>
              <a:rPr lang="en-US" sz="850" dirty="0">
                <a:solidFill>
                  <a:srgbClr val="6B7280"/>
                </a:solidFill>
                <a:latin typeface="Calibri" pitchFamily="34" charset="0"/>
                <a:ea typeface="Calibri" pitchFamily="34" charset="-122"/>
                <a:cs typeface="Calibri" pitchFamily="34" charset="-120"/>
              </a:rPr>
              <a:t>which stage?</a:t>
            </a:r>
            <a:endParaRPr lang="en-US" sz="900" dirty="0"/>
          </a:p>
        </p:txBody>
      </p:sp>
      <p:sp>
        <p:nvSpPr>
          <p:cNvPr id="32" name="Shape 30"/>
          <p:cNvSpPr/>
          <p:nvPr/>
        </p:nvSpPr>
        <p:spPr>
          <a:xfrm>
            <a:off x="457200" y="3977640"/>
            <a:ext cx="1097280" cy="502920"/>
          </a:xfrm>
          <a:prstGeom prst="roundRect">
            <a:avLst>
              <a:gd name="adj" fmla="val 50000"/>
            </a:avLst>
          </a:prstGeom>
          <a:solidFill>
            <a:srgbClr val="14213D"/>
          </a:solidFill>
          <a:ln w="9525">
            <a:solidFill>
              <a:srgbClr val="14213D"/>
            </a:solidFill>
            <a:prstDash val="solid"/>
          </a:ln>
        </p:spPr>
      </p:sp>
      <p:sp>
        <p:nvSpPr>
          <p:cNvPr id="33" name="Text 31"/>
          <p:cNvSpPr txBox="1"/>
          <p:nvPr/>
        </p:nvSpPr>
        <p:spPr>
          <a:xfrm>
            <a:off x="512064" y="3977640"/>
            <a:ext cx="987552" cy="502920"/>
          </a:xfrm>
          <a:prstGeom prst="rect">
            <a:avLst/>
          </a:prstGeom>
          <a:noFill/>
          <a:ln/>
        </p:spPr>
        <p:txBody>
          <a:bodyPr wrap="square" lIns="25400" tIns="25400" rIns="25400" bIns="254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ok</a:t>
            </a:r>
            <a:endParaRPr lang="en-US" sz="1000" dirty="0"/>
          </a:p>
        </p:txBody>
      </p:sp>
      <p:sp>
        <p:nvSpPr>
          <p:cNvPr id="34" name="Shape 32"/>
          <p:cNvSpPr/>
          <p:nvPr/>
        </p:nvSpPr>
        <p:spPr>
          <a:xfrm>
            <a:off x="1828800" y="3977640"/>
            <a:ext cx="2011680" cy="502920"/>
          </a:xfrm>
          <a:prstGeom prst="roundRect">
            <a:avLst>
              <a:gd name="adj" fmla="val 50000"/>
            </a:avLst>
          </a:prstGeom>
          <a:solidFill>
            <a:srgbClr val="14213D"/>
          </a:solidFill>
          <a:ln w="9525">
            <a:solidFill>
              <a:srgbClr val="14213D"/>
            </a:solidFill>
            <a:prstDash val="solid"/>
          </a:ln>
        </p:spPr>
      </p:sp>
      <p:sp>
        <p:nvSpPr>
          <p:cNvPr id="35" name="Text 33"/>
          <p:cNvSpPr txBox="1"/>
          <p:nvPr/>
        </p:nvSpPr>
        <p:spPr>
          <a:xfrm>
            <a:off x="1883664" y="3977640"/>
            <a:ext cx="1901952" cy="502920"/>
          </a:xfrm>
          <a:prstGeom prst="rect">
            <a:avLst/>
          </a:prstGeom>
          <a:noFill/>
          <a:ln/>
        </p:spPr>
        <p:txBody>
          <a:bodyPr wrap="square" lIns="25400" tIns="25400" rIns="25400" bIns="254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retrieval issue</a:t>
            </a:r>
            <a:endParaRPr lang="en-US" sz="1000" dirty="0"/>
          </a:p>
          <a:p>
            <a:pPr algn="ctr" indent="0" marL="0">
              <a:buNone/>
            </a:pPr>
            <a:r>
              <a:rPr lang="en-US" sz="850" dirty="0">
                <a:solidFill>
                  <a:srgbClr val="C9D6EE"/>
                </a:solidFill>
                <a:latin typeface="Calibri" pitchFamily="34" charset="0"/>
                <a:ea typeface="Calibri" pitchFamily="34" charset="-122"/>
                <a:cs typeface="Calibri" pitchFamily="34" charset="-120"/>
              </a:rPr>
              <a:t>low recall / precision</a:t>
            </a:r>
            <a:endParaRPr lang="en-US" sz="1000" dirty="0"/>
          </a:p>
        </p:txBody>
      </p:sp>
      <p:sp>
        <p:nvSpPr>
          <p:cNvPr id="36" name="Shape 34"/>
          <p:cNvSpPr/>
          <p:nvPr/>
        </p:nvSpPr>
        <p:spPr>
          <a:xfrm>
            <a:off x="4114800" y="3977640"/>
            <a:ext cx="2286000" cy="502920"/>
          </a:xfrm>
          <a:prstGeom prst="roundRect">
            <a:avLst>
              <a:gd name="adj" fmla="val 50000"/>
            </a:avLst>
          </a:prstGeom>
          <a:solidFill>
            <a:srgbClr val="14213D"/>
          </a:solidFill>
          <a:ln w="9525">
            <a:solidFill>
              <a:srgbClr val="14213D"/>
            </a:solidFill>
            <a:prstDash val="solid"/>
          </a:ln>
        </p:spPr>
      </p:sp>
      <p:sp>
        <p:nvSpPr>
          <p:cNvPr id="37" name="Text 35"/>
          <p:cNvSpPr txBox="1"/>
          <p:nvPr/>
        </p:nvSpPr>
        <p:spPr>
          <a:xfrm>
            <a:off x="4169664" y="3977640"/>
            <a:ext cx="2176272" cy="502920"/>
          </a:xfrm>
          <a:prstGeom prst="rect">
            <a:avLst/>
          </a:prstGeom>
          <a:noFill/>
          <a:ln/>
        </p:spPr>
        <p:txBody>
          <a:bodyPr wrap="square" lIns="25400" tIns="25400" rIns="25400" bIns="254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generation issue</a:t>
            </a:r>
            <a:endParaRPr lang="en-US" sz="1000" dirty="0"/>
          </a:p>
          <a:p>
            <a:pPr algn="ctr" indent="0" marL="0">
              <a:buNone/>
            </a:pPr>
            <a:r>
              <a:rPr lang="en-US" sz="850" dirty="0">
                <a:solidFill>
                  <a:srgbClr val="C9D6EE"/>
                </a:solidFill>
                <a:latin typeface="Calibri" pitchFamily="34" charset="0"/>
                <a:ea typeface="Calibri" pitchFamily="34" charset="-122"/>
                <a:cs typeface="Calibri" pitchFamily="34" charset="-120"/>
              </a:rPr>
              <a:t>low faithfulness / relevance</a:t>
            </a:r>
            <a:endParaRPr lang="en-US" sz="1000" dirty="0"/>
          </a:p>
        </p:txBody>
      </p:sp>
      <p:sp>
        <p:nvSpPr>
          <p:cNvPr id="38" name="Text 36"/>
          <p:cNvSpPr txBox="1"/>
          <p:nvPr/>
        </p:nvSpPr>
        <p:spPr>
          <a:xfrm>
            <a:off x="457200" y="4572000"/>
            <a:ext cx="8229600" cy="256032"/>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Manual first, RAGAS second: two independent implementations of the same four metrics, scored on identical answers.</a:t>
            </a:r>
            <a:endParaRPr lang="en-US" sz="950" dirty="0"/>
          </a:p>
        </p:txBody>
      </p:sp>
      <p:sp>
        <p:nvSpPr>
          <p:cNvPr id="39" name="Text 37"/>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Multi-Document RAG  ·  24</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EVALUATION · METRICS</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Four questions every RAG answer must pass</a:t>
            </a:r>
            <a:endParaRPr lang="en-US" sz="2800" dirty="0"/>
          </a:p>
        </p:txBody>
      </p:sp>
      <p:sp>
        <p:nvSpPr>
          <p:cNvPr id="4" name="Shape 2"/>
          <p:cNvSpPr/>
          <p:nvPr/>
        </p:nvSpPr>
        <p:spPr>
          <a:xfrm>
            <a:off x="457200" y="1280160"/>
            <a:ext cx="3977640" cy="1444752"/>
          </a:xfrm>
          <a:prstGeom prst="roundRect">
            <a:avLst>
              <a:gd name="adj" fmla="val 6329"/>
            </a:avLst>
          </a:prstGeom>
          <a:solidFill>
            <a:srgbClr val="F4F5F7"/>
          </a:solidFill>
          <a:ln w="9525">
            <a:solidFill>
              <a:srgbClr val="E5E7EB"/>
            </a:solidFill>
            <a:prstDash val="solid"/>
          </a:ln>
        </p:spPr>
      </p:sp>
      <p:sp>
        <p:nvSpPr>
          <p:cNvPr id="5" name="Shape 3"/>
          <p:cNvSpPr/>
          <p:nvPr/>
        </p:nvSpPr>
        <p:spPr>
          <a:xfrm>
            <a:off x="621792" y="1444752"/>
            <a:ext cx="438912" cy="438912"/>
          </a:xfrm>
          <a:prstGeom prst="ellipse">
            <a:avLst/>
          </a:prstGeom>
          <a:solidFill>
            <a:srgbClr val="FCA311"/>
          </a:solidFill>
          <a:ln w="12700">
            <a:solidFill>
              <a:srgbClr val="FCA311"/>
            </a:solidFill>
            <a:prstDash val="solid"/>
          </a:ln>
        </p:spPr>
      </p:sp>
      <p:pic>
        <p:nvPicPr>
          <p:cNvPr id="6" name="Image 0" descr="preencoded.png">    </p:cNvPr>
          <p:cNvPicPr>
            <a:picLocks noChangeAspect="1"/>
          </p:cNvPicPr>
          <p:nvPr/>
        </p:nvPicPr>
        <p:blipFill>
          <a:blip r:embed="rId1"/>
          <a:stretch>
            <a:fillRect/>
          </a:stretch>
        </p:blipFill>
        <p:spPr>
          <a:xfrm>
            <a:off x="727131" y="1550091"/>
            <a:ext cx="228234" cy="228234"/>
          </a:xfrm>
          <a:prstGeom prst="rect">
            <a:avLst/>
          </a:prstGeom>
        </p:spPr>
      </p:pic>
      <p:sp>
        <p:nvSpPr>
          <p:cNvPr id="7" name="Text 4"/>
          <p:cNvSpPr txBox="1"/>
          <p:nvPr/>
        </p:nvSpPr>
        <p:spPr>
          <a:xfrm>
            <a:off x="1170432" y="1426464"/>
            <a:ext cx="2194560" cy="45720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Faithfulness</a:t>
            </a:r>
            <a:endParaRPr lang="en-US" sz="1500" dirty="0"/>
          </a:p>
        </p:txBody>
      </p:sp>
      <p:sp>
        <p:nvSpPr>
          <p:cNvPr id="8" name="Shape 5"/>
          <p:cNvSpPr/>
          <p:nvPr/>
        </p:nvSpPr>
        <p:spPr>
          <a:xfrm>
            <a:off x="3383280" y="1499616"/>
            <a:ext cx="896112" cy="292608"/>
          </a:xfrm>
          <a:prstGeom prst="roundRect">
            <a:avLst>
              <a:gd name="adj" fmla="val 50000"/>
            </a:avLst>
          </a:prstGeom>
          <a:solidFill>
            <a:srgbClr val="14213D"/>
          </a:solidFill>
          <a:ln w="12700">
            <a:solidFill>
              <a:srgbClr val="14213D"/>
            </a:solidFill>
            <a:prstDash val="solid"/>
          </a:ln>
        </p:spPr>
      </p:sp>
      <p:sp>
        <p:nvSpPr>
          <p:cNvPr id="9" name="Text 6"/>
          <p:cNvSpPr txBox="1"/>
          <p:nvPr/>
        </p:nvSpPr>
        <p:spPr>
          <a:xfrm>
            <a:off x="3383280" y="1499616"/>
            <a:ext cx="896112"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generation</a:t>
            </a:r>
            <a:endParaRPr lang="en-US" sz="950" dirty="0"/>
          </a:p>
        </p:txBody>
      </p:sp>
      <p:sp>
        <p:nvSpPr>
          <p:cNvPr id="10" name="Text 7"/>
          <p:cNvSpPr txBox="1"/>
          <p:nvPr/>
        </p:nvSpPr>
        <p:spPr>
          <a:xfrm>
            <a:off x="621792" y="1938528"/>
            <a:ext cx="3657600" cy="457200"/>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Is every claim in the answer supported by the retrieved context?</a:t>
            </a:r>
            <a:endParaRPr lang="en-US" sz="1150" dirty="0"/>
          </a:p>
        </p:txBody>
      </p:sp>
      <p:sp>
        <p:nvSpPr>
          <p:cNvPr id="11" name="Text 8"/>
          <p:cNvSpPr txBox="1"/>
          <p:nvPr/>
        </p:nvSpPr>
        <p:spPr>
          <a:xfrm>
            <a:off x="621792" y="2395728"/>
            <a:ext cx="3657600" cy="27432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supported claims ÷ all claims</a:t>
            </a:r>
            <a:endParaRPr lang="en-US" sz="1000" dirty="0"/>
          </a:p>
        </p:txBody>
      </p:sp>
      <p:sp>
        <p:nvSpPr>
          <p:cNvPr id="12" name="Shape 9"/>
          <p:cNvSpPr/>
          <p:nvPr/>
        </p:nvSpPr>
        <p:spPr>
          <a:xfrm>
            <a:off x="4709160" y="1280160"/>
            <a:ext cx="3977640" cy="1444752"/>
          </a:xfrm>
          <a:prstGeom prst="roundRect">
            <a:avLst>
              <a:gd name="adj" fmla="val 6329"/>
            </a:avLst>
          </a:prstGeom>
          <a:solidFill>
            <a:srgbClr val="F4F5F7"/>
          </a:solidFill>
          <a:ln w="9525">
            <a:solidFill>
              <a:srgbClr val="E5E7EB"/>
            </a:solidFill>
            <a:prstDash val="solid"/>
          </a:ln>
        </p:spPr>
      </p:sp>
      <p:sp>
        <p:nvSpPr>
          <p:cNvPr id="13" name="Shape 10"/>
          <p:cNvSpPr/>
          <p:nvPr/>
        </p:nvSpPr>
        <p:spPr>
          <a:xfrm>
            <a:off x="4873752" y="1444752"/>
            <a:ext cx="438912" cy="438912"/>
          </a:xfrm>
          <a:prstGeom prst="ellipse">
            <a:avLst/>
          </a:prstGeom>
          <a:solidFill>
            <a:srgbClr val="FCA311"/>
          </a:solidFill>
          <a:ln w="12700">
            <a:solidFill>
              <a:srgbClr val="FCA311"/>
            </a:solidFill>
            <a:prstDash val="solid"/>
          </a:ln>
        </p:spPr>
      </p:sp>
      <p:pic>
        <p:nvPicPr>
          <p:cNvPr id="14" name="Image 1" descr="preencoded.png">    </p:cNvPr>
          <p:cNvPicPr>
            <a:picLocks noChangeAspect="1"/>
          </p:cNvPicPr>
          <p:nvPr/>
        </p:nvPicPr>
        <p:blipFill>
          <a:blip r:embed="rId2"/>
          <a:stretch>
            <a:fillRect/>
          </a:stretch>
        </p:blipFill>
        <p:spPr>
          <a:xfrm>
            <a:off x="4979091" y="1550091"/>
            <a:ext cx="228234" cy="228234"/>
          </a:xfrm>
          <a:prstGeom prst="rect">
            <a:avLst/>
          </a:prstGeom>
        </p:spPr>
      </p:pic>
      <p:sp>
        <p:nvSpPr>
          <p:cNvPr id="15" name="Text 11"/>
          <p:cNvSpPr txBox="1"/>
          <p:nvPr/>
        </p:nvSpPr>
        <p:spPr>
          <a:xfrm>
            <a:off x="5422392" y="1426464"/>
            <a:ext cx="2194560" cy="45720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Answer relevance</a:t>
            </a:r>
            <a:endParaRPr lang="en-US" sz="1500" dirty="0"/>
          </a:p>
        </p:txBody>
      </p:sp>
      <p:sp>
        <p:nvSpPr>
          <p:cNvPr id="16" name="Shape 12"/>
          <p:cNvSpPr/>
          <p:nvPr/>
        </p:nvSpPr>
        <p:spPr>
          <a:xfrm>
            <a:off x="7635240" y="1499616"/>
            <a:ext cx="896112" cy="292608"/>
          </a:xfrm>
          <a:prstGeom prst="roundRect">
            <a:avLst>
              <a:gd name="adj" fmla="val 50000"/>
            </a:avLst>
          </a:prstGeom>
          <a:solidFill>
            <a:srgbClr val="14213D"/>
          </a:solidFill>
          <a:ln w="12700">
            <a:solidFill>
              <a:srgbClr val="14213D"/>
            </a:solidFill>
            <a:prstDash val="solid"/>
          </a:ln>
        </p:spPr>
      </p:sp>
      <p:sp>
        <p:nvSpPr>
          <p:cNvPr id="17" name="Text 13"/>
          <p:cNvSpPr txBox="1"/>
          <p:nvPr/>
        </p:nvSpPr>
        <p:spPr>
          <a:xfrm>
            <a:off x="7635240" y="1499616"/>
            <a:ext cx="896112"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generation</a:t>
            </a:r>
            <a:endParaRPr lang="en-US" sz="950" dirty="0"/>
          </a:p>
        </p:txBody>
      </p:sp>
      <p:sp>
        <p:nvSpPr>
          <p:cNvPr id="18" name="Text 14"/>
          <p:cNvSpPr txBox="1"/>
          <p:nvPr/>
        </p:nvSpPr>
        <p:spPr>
          <a:xfrm>
            <a:off x="4873752" y="1938528"/>
            <a:ext cx="3657600" cy="457200"/>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Does the answer actually address the question that was asked?</a:t>
            </a:r>
            <a:endParaRPr lang="en-US" sz="1150" dirty="0"/>
          </a:p>
        </p:txBody>
      </p:sp>
      <p:sp>
        <p:nvSpPr>
          <p:cNvPr id="19" name="Text 15"/>
          <p:cNvSpPr txBox="1"/>
          <p:nvPr/>
        </p:nvSpPr>
        <p:spPr>
          <a:xfrm>
            <a:off x="4873752" y="2395728"/>
            <a:ext cx="3657600" cy="27432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judge rating / question-answer similarity</a:t>
            </a:r>
            <a:endParaRPr lang="en-US" sz="1000" dirty="0"/>
          </a:p>
        </p:txBody>
      </p:sp>
      <p:sp>
        <p:nvSpPr>
          <p:cNvPr id="20" name="Shape 16"/>
          <p:cNvSpPr/>
          <p:nvPr/>
        </p:nvSpPr>
        <p:spPr>
          <a:xfrm>
            <a:off x="457200" y="2852928"/>
            <a:ext cx="3977640" cy="1444752"/>
          </a:xfrm>
          <a:prstGeom prst="roundRect">
            <a:avLst>
              <a:gd name="adj" fmla="val 6329"/>
            </a:avLst>
          </a:prstGeom>
          <a:solidFill>
            <a:srgbClr val="F4F5F7"/>
          </a:solidFill>
          <a:ln w="9525">
            <a:solidFill>
              <a:srgbClr val="E5E7EB"/>
            </a:solidFill>
            <a:prstDash val="solid"/>
          </a:ln>
        </p:spPr>
      </p:sp>
      <p:sp>
        <p:nvSpPr>
          <p:cNvPr id="21" name="Shape 17"/>
          <p:cNvSpPr/>
          <p:nvPr/>
        </p:nvSpPr>
        <p:spPr>
          <a:xfrm>
            <a:off x="621792" y="3017520"/>
            <a:ext cx="438912" cy="438912"/>
          </a:xfrm>
          <a:prstGeom prst="ellipse">
            <a:avLst/>
          </a:prstGeom>
          <a:solidFill>
            <a:srgbClr val="FCA311"/>
          </a:solidFill>
          <a:ln w="12700">
            <a:solidFill>
              <a:srgbClr val="FCA311"/>
            </a:solidFill>
            <a:prstDash val="solid"/>
          </a:ln>
        </p:spPr>
      </p:sp>
      <p:pic>
        <p:nvPicPr>
          <p:cNvPr id="22" name="Image 2" descr="preencoded.png">    </p:cNvPr>
          <p:cNvPicPr>
            <a:picLocks noChangeAspect="1"/>
          </p:cNvPicPr>
          <p:nvPr/>
        </p:nvPicPr>
        <p:blipFill>
          <a:blip r:embed="rId3"/>
          <a:stretch>
            <a:fillRect/>
          </a:stretch>
        </p:blipFill>
        <p:spPr>
          <a:xfrm>
            <a:off x="727131" y="3122859"/>
            <a:ext cx="228234" cy="228234"/>
          </a:xfrm>
          <a:prstGeom prst="rect">
            <a:avLst/>
          </a:prstGeom>
        </p:spPr>
      </p:pic>
      <p:sp>
        <p:nvSpPr>
          <p:cNvPr id="23" name="Text 18"/>
          <p:cNvSpPr txBox="1"/>
          <p:nvPr/>
        </p:nvSpPr>
        <p:spPr>
          <a:xfrm>
            <a:off x="1170432" y="2999232"/>
            <a:ext cx="2194560" cy="45720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Context precision</a:t>
            </a:r>
            <a:endParaRPr lang="en-US" sz="1500" dirty="0"/>
          </a:p>
        </p:txBody>
      </p:sp>
      <p:sp>
        <p:nvSpPr>
          <p:cNvPr id="24" name="Shape 19"/>
          <p:cNvSpPr/>
          <p:nvPr/>
        </p:nvSpPr>
        <p:spPr>
          <a:xfrm>
            <a:off x="3383280" y="3072384"/>
            <a:ext cx="896112" cy="292608"/>
          </a:xfrm>
          <a:prstGeom prst="roundRect">
            <a:avLst>
              <a:gd name="adj" fmla="val 50000"/>
            </a:avLst>
          </a:prstGeom>
          <a:solidFill>
            <a:srgbClr val="FCA311"/>
          </a:solidFill>
          <a:ln w="12700">
            <a:solidFill>
              <a:srgbClr val="FCA311"/>
            </a:solidFill>
            <a:prstDash val="solid"/>
          </a:ln>
        </p:spPr>
      </p:sp>
      <p:sp>
        <p:nvSpPr>
          <p:cNvPr id="25" name="Text 20"/>
          <p:cNvSpPr txBox="1"/>
          <p:nvPr/>
        </p:nvSpPr>
        <p:spPr>
          <a:xfrm>
            <a:off x="3383280" y="3072384"/>
            <a:ext cx="896112" cy="292608"/>
          </a:xfrm>
          <a:prstGeom prst="rect">
            <a:avLst/>
          </a:prstGeom>
          <a:noFill/>
          <a:ln/>
        </p:spPr>
        <p:txBody>
          <a:bodyPr wrap="square" lIns="0" tIns="0" rIns="0" bIns="0" rtlCol="0" anchor="ctr"/>
          <a:lstStyle/>
          <a:p>
            <a:pPr algn="ctr" indent="0" marL="0">
              <a:buNone/>
            </a:pPr>
            <a:r>
              <a:rPr lang="en-US" sz="950" b="1" dirty="0">
                <a:solidFill>
                  <a:srgbClr val="14213D"/>
                </a:solidFill>
                <a:latin typeface="Calibri" pitchFamily="34" charset="0"/>
                <a:ea typeface="Calibri" pitchFamily="34" charset="-122"/>
                <a:cs typeface="Calibri" pitchFamily="34" charset="-120"/>
              </a:rPr>
              <a:t>retrieval</a:t>
            </a:r>
            <a:endParaRPr lang="en-US" sz="950" dirty="0"/>
          </a:p>
        </p:txBody>
      </p:sp>
      <p:sp>
        <p:nvSpPr>
          <p:cNvPr id="26" name="Text 21"/>
          <p:cNvSpPr txBox="1"/>
          <p:nvPr/>
        </p:nvSpPr>
        <p:spPr>
          <a:xfrm>
            <a:off x="621792" y="3511296"/>
            <a:ext cx="3657600" cy="457200"/>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Are the relevant chunks ranked above the irrelevant ones?</a:t>
            </a:r>
            <a:endParaRPr lang="en-US" sz="1150" dirty="0"/>
          </a:p>
        </p:txBody>
      </p:sp>
      <p:sp>
        <p:nvSpPr>
          <p:cNvPr id="27" name="Text 22"/>
          <p:cNvSpPr txBox="1"/>
          <p:nvPr/>
        </p:nvSpPr>
        <p:spPr>
          <a:xfrm>
            <a:off x="621792" y="3968496"/>
            <a:ext cx="3657600" cy="27432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average precision over ranks</a:t>
            </a:r>
            <a:endParaRPr lang="en-US" sz="1000" dirty="0"/>
          </a:p>
        </p:txBody>
      </p:sp>
      <p:sp>
        <p:nvSpPr>
          <p:cNvPr id="28" name="Shape 23"/>
          <p:cNvSpPr/>
          <p:nvPr/>
        </p:nvSpPr>
        <p:spPr>
          <a:xfrm>
            <a:off x="4709160" y="2852928"/>
            <a:ext cx="3977640" cy="1444752"/>
          </a:xfrm>
          <a:prstGeom prst="roundRect">
            <a:avLst>
              <a:gd name="adj" fmla="val 6329"/>
            </a:avLst>
          </a:prstGeom>
          <a:solidFill>
            <a:srgbClr val="F4F5F7"/>
          </a:solidFill>
          <a:ln w="9525">
            <a:solidFill>
              <a:srgbClr val="E5E7EB"/>
            </a:solidFill>
            <a:prstDash val="solid"/>
          </a:ln>
        </p:spPr>
      </p:sp>
      <p:sp>
        <p:nvSpPr>
          <p:cNvPr id="29" name="Shape 24"/>
          <p:cNvSpPr/>
          <p:nvPr/>
        </p:nvSpPr>
        <p:spPr>
          <a:xfrm>
            <a:off x="4873752" y="3017520"/>
            <a:ext cx="438912" cy="438912"/>
          </a:xfrm>
          <a:prstGeom prst="ellipse">
            <a:avLst/>
          </a:prstGeom>
          <a:solidFill>
            <a:srgbClr val="FCA311"/>
          </a:solidFill>
          <a:ln w="12700">
            <a:solidFill>
              <a:srgbClr val="FCA311"/>
            </a:solidFill>
            <a:prstDash val="solid"/>
          </a:ln>
        </p:spPr>
      </p:sp>
      <p:pic>
        <p:nvPicPr>
          <p:cNvPr id="30" name="Image 3" descr="preencoded.png">    </p:cNvPr>
          <p:cNvPicPr>
            <a:picLocks noChangeAspect="1"/>
          </p:cNvPicPr>
          <p:nvPr/>
        </p:nvPicPr>
        <p:blipFill>
          <a:blip r:embed="rId4"/>
          <a:stretch>
            <a:fillRect/>
          </a:stretch>
        </p:blipFill>
        <p:spPr>
          <a:xfrm>
            <a:off x="4979091" y="3122859"/>
            <a:ext cx="228234" cy="228234"/>
          </a:xfrm>
          <a:prstGeom prst="rect">
            <a:avLst/>
          </a:prstGeom>
        </p:spPr>
      </p:pic>
      <p:sp>
        <p:nvSpPr>
          <p:cNvPr id="31" name="Text 25"/>
          <p:cNvSpPr txBox="1"/>
          <p:nvPr/>
        </p:nvSpPr>
        <p:spPr>
          <a:xfrm>
            <a:off x="5422392" y="2999232"/>
            <a:ext cx="2194560" cy="45720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Context recall</a:t>
            </a:r>
            <a:endParaRPr lang="en-US" sz="1500" dirty="0"/>
          </a:p>
        </p:txBody>
      </p:sp>
      <p:sp>
        <p:nvSpPr>
          <p:cNvPr id="32" name="Shape 26"/>
          <p:cNvSpPr/>
          <p:nvPr/>
        </p:nvSpPr>
        <p:spPr>
          <a:xfrm>
            <a:off x="7635240" y="3072384"/>
            <a:ext cx="896112" cy="292608"/>
          </a:xfrm>
          <a:prstGeom prst="roundRect">
            <a:avLst>
              <a:gd name="adj" fmla="val 50000"/>
            </a:avLst>
          </a:prstGeom>
          <a:solidFill>
            <a:srgbClr val="FCA311"/>
          </a:solidFill>
          <a:ln w="12700">
            <a:solidFill>
              <a:srgbClr val="FCA311"/>
            </a:solidFill>
            <a:prstDash val="solid"/>
          </a:ln>
        </p:spPr>
      </p:sp>
      <p:sp>
        <p:nvSpPr>
          <p:cNvPr id="33" name="Text 27"/>
          <p:cNvSpPr txBox="1"/>
          <p:nvPr/>
        </p:nvSpPr>
        <p:spPr>
          <a:xfrm>
            <a:off x="7635240" y="3072384"/>
            <a:ext cx="896112" cy="292608"/>
          </a:xfrm>
          <a:prstGeom prst="rect">
            <a:avLst/>
          </a:prstGeom>
          <a:noFill/>
          <a:ln/>
        </p:spPr>
        <p:txBody>
          <a:bodyPr wrap="square" lIns="0" tIns="0" rIns="0" bIns="0" rtlCol="0" anchor="ctr"/>
          <a:lstStyle/>
          <a:p>
            <a:pPr algn="ctr" indent="0" marL="0">
              <a:buNone/>
            </a:pPr>
            <a:r>
              <a:rPr lang="en-US" sz="950" b="1" dirty="0">
                <a:solidFill>
                  <a:srgbClr val="14213D"/>
                </a:solidFill>
                <a:latin typeface="Calibri" pitchFamily="34" charset="0"/>
                <a:ea typeface="Calibri" pitchFamily="34" charset="-122"/>
                <a:cs typeface="Calibri" pitchFamily="34" charset="-120"/>
              </a:rPr>
              <a:t>retrieval</a:t>
            </a:r>
            <a:endParaRPr lang="en-US" sz="950" dirty="0"/>
          </a:p>
        </p:txBody>
      </p:sp>
      <p:sp>
        <p:nvSpPr>
          <p:cNvPr id="34" name="Text 28"/>
          <p:cNvSpPr txBox="1"/>
          <p:nvPr/>
        </p:nvSpPr>
        <p:spPr>
          <a:xfrm>
            <a:off x="4873752" y="3511296"/>
            <a:ext cx="3657600" cy="457200"/>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Was the evidence needed for the ground-truth answer retrieved at all?</a:t>
            </a:r>
            <a:endParaRPr lang="en-US" sz="1150" dirty="0"/>
          </a:p>
        </p:txBody>
      </p:sp>
      <p:sp>
        <p:nvSpPr>
          <p:cNvPr id="35" name="Text 29"/>
          <p:cNvSpPr txBox="1"/>
          <p:nvPr/>
        </p:nvSpPr>
        <p:spPr>
          <a:xfrm>
            <a:off x="4873752" y="3968496"/>
            <a:ext cx="3657600" cy="27432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ground-truth facts found in contexts</a:t>
            </a:r>
            <a:endParaRPr lang="en-US" sz="1000" dirty="0"/>
          </a:p>
        </p:txBody>
      </p:sp>
      <p:sp>
        <p:nvSpPr>
          <p:cNvPr id="36" name="Text 30"/>
          <p:cNvSpPr txBox="1"/>
          <p:nvPr/>
        </p:nvSpPr>
        <p:spPr>
          <a:xfrm>
            <a:off x="457200" y="4407408"/>
            <a:ext cx="8229600" cy="36576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Two metrics blame the retriever, two blame the generator — so a weak score points at the stage to fix. Evaluation set: 12 questions across 5 categories with ground-truth answers and expected sources.</a:t>
            </a:r>
            <a:endParaRPr lang="en-US" sz="1000" dirty="0"/>
          </a:p>
        </p:txBody>
      </p:sp>
      <p:sp>
        <p:nvSpPr>
          <p:cNvPr id="37" name="Text 31"/>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Multi-Document RAG  ·  25</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EVALUATION · IMPLEMENTATION 1 OF 2</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Manual metrics: what goes in, how each is computed</a:t>
            </a:r>
            <a:endParaRPr lang="en-US" sz="28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234440"/>
                <a:gridCol w="822960"/>
                <a:gridCol w="1554480"/>
                <a:gridCol w="3520440"/>
                <a:gridCol w="548640"/>
                <a:gridCol w="548640"/>
              </a:tblGrid>
              <a:tr h="310896">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Metric</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Judges</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Inputs</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How it is computed  (manual_evaluation.py)</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LLM</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Vectors</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r>
              <a:tr h="566928">
                <a:tc>
                  <a:txBody>
                    <a:bodyPr/>
                    <a:lstStyle/>
                    <a:p>
                      <a:pPr algn="ctr" indent="0" marL="0">
                        <a:buNone/>
                      </a:pPr>
                      <a:r>
                        <a:rPr lang="en-US" sz="1000" b="1" dirty="0">
                          <a:solidFill>
                            <a:srgbClr val="14213D"/>
                          </a:solidFill>
                          <a:latin typeface="Calibri" pitchFamily="34" charset="0"/>
                          <a:ea typeface="Calibri" pitchFamily="34" charset="-122"/>
                          <a:cs typeface="Calibri" pitchFamily="34" charset="-120"/>
                        </a:rPr>
                        <a:t>Context recall</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retrieval</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ground truth · chunks</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l" indent="0" marL="0">
                        <a:buNone/>
                      </a:pPr>
                      <a:r>
                        <a:rPr lang="en-US" sz="950" dirty="0">
                          <a:solidFill>
                            <a:srgbClr val="1F2937"/>
                          </a:solidFill>
                          <a:latin typeface="Calibri" pitchFamily="34" charset="0"/>
                          <a:ea typeface="Calibri" pitchFamily="34" charset="-122"/>
                          <a:cs typeface="Calibri" pitchFamily="34" charset="-120"/>
                        </a:rPr>
                        <a:t>Content words and numbers of the ground truth that appear anywhere in the retrieved chunks ÷ all of them  (context_recall_tokens)</a:t>
                      </a:r>
                      <a:endParaRPr lang="en-US" sz="95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566928">
                <a:tc>
                  <a:txBody>
                    <a:bodyPr/>
                    <a:lstStyle/>
                    <a:p>
                      <a:pPr algn="ctr" indent="0" marL="0">
                        <a:buNone/>
                      </a:pPr>
                      <a:r>
                        <a:rPr lang="en-US" sz="1000" b="1" dirty="0">
                          <a:solidFill>
                            <a:srgbClr val="14213D"/>
                          </a:solidFill>
                          <a:latin typeface="Calibri" pitchFamily="34" charset="0"/>
                          <a:ea typeface="Calibri" pitchFamily="34" charset="-122"/>
                          <a:cs typeface="Calibri" pitchFamily="34" charset="-120"/>
                        </a:rPr>
                        <a:t>Context precision</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retrieval</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ground truth · chunks</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c>
                  <a:txBody>
                    <a:bodyPr/>
                    <a:lstStyle/>
                    <a:p>
                      <a:pPr algn="l" indent="0" marL="0">
                        <a:buNone/>
                      </a:pPr>
                      <a:r>
                        <a:rPr lang="en-US" sz="950" dirty="0">
                          <a:solidFill>
                            <a:srgbClr val="1F2937"/>
                          </a:solidFill>
                          <a:latin typeface="Calibri" pitchFamily="34" charset="0"/>
                          <a:ea typeface="Calibri" pitchFamily="34" charset="-122"/>
                          <a:cs typeface="Calibri" pitchFamily="34" charset="-120"/>
                        </a:rPr>
                        <a:t>A chunk is relevant if cosine(chunk, ground truth) ≥ 0.45; then average precision over the ranks  (context_precision_embeddings)</a:t>
                      </a:r>
                      <a:endParaRPr lang="en-US" sz="95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r>
              <a:tr h="566928">
                <a:tc>
                  <a:txBody>
                    <a:bodyPr/>
                    <a:lstStyle/>
                    <a:p>
                      <a:pPr algn="ctr" indent="0" marL="0">
                        <a:buNone/>
                      </a:pPr>
                      <a:r>
                        <a:rPr lang="en-US" sz="1000" b="1" dirty="0">
                          <a:solidFill>
                            <a:srgbClr val="14213D"/>
                          </a:solidFill>
                          <a:latin typeface="Calibri" pitchFamily="34" charset="0"/>
                          <a:ea typeface="Calibri" pitchFamily="34" charset="-122"/>
                          <a:cs typeface="Calibri" pitchFamily="34" charset="-120"/>
                        </a:rPr>
                        <a:t>Faithfulness</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generation</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question · answer · chunks</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l" indent="0" marL="0">
                        <a:buNone/>
                      </a:pPr>
                      <a:r>
                        <a:rPr lang="en-US" sz="950" dirty="0">
                          <a:solidFill>
                            <a:srgbClr val="1F2937"/>
                          </a:solidFill>
                          <a:latin typeface="Calibri" pitchFamily="34" charset="0"/>
                          <a:ea typeface="Calibri" pitchFamily="34" charset="-122"/>
                          <a:cs typeface="Calibri" pitchFamily="34" charset="-120"/>
                        </a:rPr>
                        <a:t>Judge call 1 extracts the answer's claims; judge call 2 verifies each against the numbered chunks; supported ÷ total; a refusal → 1.0  (faithfulness_llm)</a:t>
                      </a:r>
                      <a:endParaRPr lang="en-US" sz="95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566928">
                <a:tc>
                  <a:txBody>
                    <a:bodyPr/>
                    <a:lstStyle/>
                    <a:p>
                      <a:pPr algn="ctr" indent="0" marL="0">
                        <a:buNone/>
                      </a:pPr>
                      <a:r>
                        <a:rPr lang="en-US" sz="1000" b="1" dirty="0">
                          <a:solidFill>
                            <a:srgbClr val="14213D"/>
                          </a:solidFill>
                          <a:latin typeface="Calibri" pitchFamily="34" charset="0"/>
                          <a:ea typeface="Calibri" pitchFamily="34" charset="-122"/>
                          <a:cs typeface="Calibri" pitchFamily="34" charset="-120"/>
                        </a:rPr>
                        <a:t>Answer relevance</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generation</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question · answer</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c>
                  <a:txBody>
                    <a:bodyPr/>
                    <a:lstStyle/>
                    <a:p>
                      <a:pPr algn="l" indent="0" marL="0">
                        <a:buNone/>
                      </a:pPr>
                      <a:r>
                        <a:rPr lang="en-US" sz="950" dirty="0">
                          <a:solidFill>
                            <a:srgbClr val="1F2937"/>
                          </a:solidFill>
                          <a:latin typeface="Calibri" pitchFamily="34" charset="0"/>
                          <a:ea typeface="Calibri" pitchFamily="34" charset="-122"/>
                          <a:cs typeface="Calibri" pitchFamily="34" charset="-120"/>
                        </a:rPr>
                        <a:t>Judge rates 1–5 how well the answer addresses the question → (score − 1) / 4; an honest refusal counts as 5  (answer_relevance_llm)</a:t>
                      </a:r>
                      <a:endParaRPr lang="en-US" sz="95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r>
            </a:tbl>
          </a:graphicData>
        </a:graphic>
      </p:graphicFrame>
      <p:sp>
        <p:nvSpPr>
          <p:cNvPr id="5" name="Text 2"/>
          <p:cNvSpPr txBox="1"/>
          <p:nvPr/>
        </p:nvSpPr>
        <p:spPr>
          <a:xfrm>
            <a:off x="457200" y="4023360"/>
            <a:ext cx="8229600" cy="73152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F2937"/>
                </a:solidFill>
                <a:latin typeface="Calibri" pitchFamily="34" charset="0"/>
                <a:ea typeface="Calibri" pitchFamily="34" charset="-122"/>
                <a:cs typeface="Calibri" pitchFamily="34" charset="-120"/>
              </a:rPr>
              <a:t>Only the two retrieval metrics need a ground truth — for a question outside evaluation_data.json they show n/a, the other two are still scored.</a:t>
            </a:r>
            <a:endParaRPr lang="en-US" sz="1050" dirty="0"/>
          </a:p>
          <a:p>
            <a:pPr marL="152400" indent="-152400">
              <a:spcAft>
                <a:spcPts val="400"/>
              </a:spcAft>
              <a:buSzPct val="100000"/>
              <a:buChar char="•"/>
            </a:pPr>
            <a:r>
              <a:rPr lang="en-US" sz="1050" dirty="0">
                <a:solidFill>
                  <a:srgbClr val="1F2937"/>
                </a:solidFill>
                <a:latin typeface="Calibri" pitchFamily="34" charset="0"/>
                <a:ea typeface="Calibri" pitchFamily="34" charset="-122"/>
                <a:cs typeface="Calibri" pitchFamily="34" charset="-120"/>
              </a:rPr>
              <a:t>Judge: openai/gpt-oss-120b on Groq at temperature 0, JSON mode, 3 calls per question; --no-judge keeps the two LLM-free metrics only.</a:t>
            </a:r>
            <a:endParaRPr lang="en-US" sz="1050" dirty="0"/>
          </a:p>
        </p:txBody>
      </p:sp>
      <p:sp>
        <p:nvSpPr>
          <p:cNvPr id="6" name="Text 3"/>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Multi-Document RAG  ·  26</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EVALUATION · IMPLEMENTATION 2 OF 2</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RAGAS metrics: what goes in, how each is computed</a:t>
            </a:r>
            <a:endParaRPr lang="en-US" sz="28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234440"/>
                <a:gridCol w="822960"/>
                <a:gridCol w="1554480"/>
                <a:gridCol w="3520440"/>
                <a:gridCol w="548640"/>
                <a:gridCol w="548640"/>
              </a:tblGrid>
              <a:tr h="310896">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Metric</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Judges</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Inputs</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How it is computed  (ragas_evaluation.py · RAGAS 0.4.3)</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LLM</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Vectors</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r>
              <a:tr h="566928">
                <a:tc>
                  <a:txBody>
                    <a:bodyPr/>
                    <a:lstStyle/>
                    <a:p>
                      <a:pPr algn="ctr" indent="0" marL="0">
                        <a:buNone/>
                      </a:pPr>
                      <a:r>
                        <a:rPr lang="en-US" sz="1000" b="1" dirty="0">
                          <a:solidFill>
                            <a:srgbClr val="14213D"/>
                          </a:solidFill>
                          <a:latin typeface="Calibri" pitchFamily="34" charset="0"/>
                          <a:ea typeface="Calibri" pitchFamily="34" charset="-122"/>
                          <a:cs typeface="Calibri" pitchFamily="34" charset="-120"/>
                        </a:rPr>
                        <a:t>Context recall</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retrieval</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question · chunks · ground truth</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l" indent="0" marL="0">
                        <a:buNone/>
                      </a:pPr>
                      <a:r>
                        <a:rPr lang="en-US" sz="950" dirty="0">
                          <a:solidFill>
                            <a:srgbClr val="1F2937"/>
                          </a:solidFill>
                          <a:latin typeface="Calibri" pitchFamily="34" charset="0"/>
                          <a:ea typeface="Calibri" pitchFamily="34" charset="-122"/>
                          <a:cs typeface="Calibri" pitchFamily="34" charset="-120"/>
                        </a:rPr>
                        <a:t>Judge splits the ground truth into statements and checks which ones the chunks support; supported ÷ all  (ContextRecall)</a:t>
                      </a:r>
                      <a:endParaRPr lang="en-US" sz="95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566928">
                <a:tc>
                  <a:txBody>
                    <a:bodyPr/>
                    <a:lstStyle/>
                    <a:p>
                      <a:pPr algn="ctr" indent="0" marL="0">
                        <a:buNone/>
                      </a:pPr>
                      <a:r>
                        <a:rPr lang="en-US" sz="1000" b="1" dirty="0">
                          <a:solidFill>
                            <a:srgbClr val="14213D"/>
                          </a:solidFill>
                          <a:latin typeface="Calibri" pitchFamily="34" charset="0"/>
                          <a:ea typeface="Calibri" pitchFamily="34" charset="-122"/>
                          <a:cs typeface="Calibri" pitchFamily="34" charset="-120"/>
                        </a:rPr>
                        <a:t>Context precision</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retrieval</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question · ground truth · chunks</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c>
                  <a:txBody>
                    <a:bodyPr/>
                    <a:lstStyle/>
                    <a:p>
                      <a:pPr algn="l" indent="0" marL="0">
                        <a:buNone/>
                      </a:pPr>
                      <a:r>
                        <a:rPr lang="en-US" sz="950" dirty="0">
                          <a:solidFill>
                            <a:srgbClr val="1F2937"/>
                          </a:solidFill>
                          <a:latin typeface="Calibri" pitchFamily="34" charset="0"/>
                          <a:ea typeface="Calibri" pitchFamily="34" charset="-122"/>
                          <a:cs typeface="Calibri" pitchFamily="34" charset="-120"/>
                        </a:rPr>
                        <a:t>Judge answers per chunk "is this useful for the reference answer?"; then the same average-precision formula  (ContextPrecisionWithReference)</a:t>
                      </a:r>
                      <a:endParaRPr lang="en-US" sz="95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r>
              <a:tr h="566928">
                <a:tc>
                  <a:txBody>
                    <a:bodyPr/>
                    <a:lstStyle/>
                    <a:p>
                      <a:pPr algn="ctr" indent="0" marL="0">
                        <a:buNone/>
                      </a:pPr>
                      <a:r>
                        <a:rPr lang="en-US" sz="1000" b="1" dirty="0">
                          <a:solidFill>
                            <a:srgbClr val="14213D"/>
                          </a:solidFill>
                          <a:latin typeface="Calibri" pitchFamily="34" charset="0"/>
                          <a:ea typeface="Calibri" pitchFamily="34" charset="-122"/>
                          <a:cs typeface="Calibri" pitchFamily="34" charset="-120"/>
                        </a:rPr>
                        <a:t>Faithfulness</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generation</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question · answer · chunks</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l" indent="0" marL="0">
                        <a:buNone/>
                      </a:pPr>
                      <a:r>
                        <a:rPr lang="en-US" sz="950" dirty="0">
                          <a:solidFill>
                            <a:srgbClr val="1F2937"/>
                          </a:solidFill>
                          <a:latin typeface="Calibri" pitchFamily="34" charset="0"/>
                          <a:ea typeface="Calibri" pitchFamily="34" charset="-122"/>
                          <a:cs typeface="Calibri" pitchFamily="34" charset="-120"/>
                        </a:rPr>
                        <a:t>Judge breaks the answer into statements and gives an NLI verdict for each against the chunks; supported ÷ total  (Faithfulness)</a:t>
                      </a:r>
                      <a:endParaRPr lang="en-US" sz="95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566928">
                <a:tc>
                  <a:txBody>
                    <a:bodyPr/>
                    <a:lstStyle/>
                    <a:p>
                      <a:pPr algn="ctr" indent="0" marL="0">
                        <a:buNone/>
                      </a:pPr>
                      <a:r>
                        <a:rPr lang="en-US" sz="1000" b="1" dirty="0">
                          <a:solidFill>
                            <a:srgbClr val="14213D"/>
                          </a:solidFill>
                          <a:latin typeface="Calibri" pitchFamily="34" charset="0"/>
                          <a:ea typeface="Calibri" pitchFamily="34" charset="-122"/>
                          <a:cs typeface="Calibri" pitchFamily="34" charset="-120"/>
                        </a:rPr>
                        <a:t>Answer relevance</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generation</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question · answer</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c>
                  <a:txBody>
                    <a:bodyPr/>
                    <a:lstStyle/>
                    <a:p>
                      <a:pPr algn="l" indent="0" marL="0">
                        <a:buNone/>
                      </a:pPr>
                      <a:r>
                        <a:rPr lang="en-US" sz="950" dirty="0">
                          <a:solidFill>
                            <a:srgbClr val="1F2937"/>
                          </a:solidFill>
                          <a:latin typeface="Calibri" pitchFamily="34" charset="0"/>
                          <a:ea typeface="Calibri" pitchFamily="34" charset="-122"/>
                          <a:cs typeface="Calibri" pitchFamily="34" charset="-120"/>
                        </a:rPr>
                        <a:t>Judge generates the questions the answer would be answering; their embeddings are compared to the real question by cosine; a refusal → ≈ 0  (AnswerRelevancy)</a:t>
                      </a:r>
                      <a:endParaRPr lang="en-US" sz="95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c>
                  <a:txBody>
                    <a:bodyPr/>
                    <a:lstStyle/>
                    <a:p>
                      <a:pPr algn="ctr" indent="0" marL="0">
                        <a:buNone/>
                      </a:pPr>
                      <a:r>
                        <a:rPr lang="en-US" sz="1000" dirty="0">
                          <a:solidFill>
                            <a:srgbClr val="1F2937"/>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r>
            </a:tbl>
          </a:graphicData>
        </a:graphic>
      </p:graphicFrame>
      <p:sp>
        <p:nvSpPr>
          <p:cNvPr id="5" name="Text 2"/>
          <p:cNvSpPr txBox="1"/>
          <p:nvPr/>
        </p:nvSpPr>
        <p:spPr>
          <a:xfrm>
            <a:off x="457200" y="4023360"/>
            <a:ext cx="8229600" cy="73152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F2937"/>
                </a:solidFill>
                <a:latin typeface="Calibri" pitchFamily="34" charset="0"/>
                <a:ea typeface="Calibri" pitchFamily="34" charset="-122"/>
                <a:cs typeface="Calibri" pitchFamily="34" charset="-120"/>
              </a:rPr>
              <a:t>Same rag_outputs.json rows as the manual pass, so any difference is in the marking, not the answers; the diagnosis rules are shared.</a:t>
            </a:r>
            <a:endParaRPr lang="en-US" sz="1050" dirty="0"/>
          </a:p>
          <a:p>
            <a:pPr marL="152400" indent="-152400">
              <a:spcAft>
                <a:spcPts val="400"/>
              </a:spcAft>
              <a:buSzPct val="100000"/>
              <a:buChar char="•"/>
            </a:pPr>
            <a:r>
              <a:rPr lang="en-US" sz="1050" dirty="0">
                <a:solidFill>
                  <a:srgbClr val="1F2937"/>
                </a:solidFill>
                <a:latin typeface="Calibri" pitchFamily="34" charset="0"/>
                <a:ea typeface="Calibri" pitchFamily="34" charset="-122"/>
                <a:cs typeface="Calibri" pitchFamily="34" charset="-120"/>
              </a:rPr>
              <a:t>Same judge through RAGAS's llm_factory (needs an AsyncOpenAI client, reasoning_effort=low); embeddings stay local; ~4 calls per question, paced for the free plan.</a:t>
            </a:r>
            <a:endParaRPr lang="en-US" sz="1050" dirty="0"/>
          </a:p>
        </p:txBody>
      </p:sp>
      <p:sp>
        <p:nvSpPr>
          <p:cNvPr id="6" name="Text 3"/>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Multi-Document RAG  ·  27</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EVALUATION · READING THE SCORES</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From four numbers to a verdict: the diagnosis rules</a:t>
            </a:r>
            <a:endParaRPr lang="en-US" sz="28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514600"/>
                <a:gridCol w="3429000"/>
                <a:gridCol w="2286000"/>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Observation</a:t>
                      </a:r>
                      <a:endParaRPr lang="en-US" sz="12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Verdict</a:t>
                      </a:r>
                      <a:endParaRPr lang="en-US" sz="12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to change</a:t>
                      </a:r>
                      <a:endParaRPr lang="en-US" sz="12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r>
              <a:tr h="457200">
                <a:tc>
                  <a:txBody>
                    <a:bodyPr/>
                    <a:lstStyle/>
                    <a:p>
                      <a:pPr indent="0" marL="0">
                        <a:buNone/>
                      </a:pPr>
                      <a:r>
                        <a:rPr lang="en-US" sz="1100" b="1" dirty="0">
                          <a:solidFill>
                            <a:srgbClr val="14213D"/>
                          </a:solidFill>
                          <a:latin typeface="Courier New" pitchFamily="34" charset="0"/>
                          <a:ea typeface="Courier New" pitchFamily="34" charset="-122"/>
                          <a:cs typeface="Courier New" pitchFamily="34" charset="-120"/>
                        </a:rPr>
                        <a:t>context recall &lt; 0.5</a:t>
                      </a:r>
                      <a:endParaRPr lang="en-US" sz="1100" dirty="0">
                        <a:latin typeface="Courier New" charset="0"/>
                        <a:ea typeface="Courier New" charset="0"/>
                        <a:cs typeface="Courier New"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retrieval issue — the needed evidence was never retrieved</a:t>
                      </a:r>
                      <a:endParaRPr lang="en-US" sz="12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k, chunk size, embedding model, rewriting strategy</a:t>
                      </a:r>
                      <a:endParaRPr lang="en-US" sz="12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457200">
                <a:tc>
                  <a:txBody>
                    <a:bodyPr/>
                    <a:lstStyle/>
                    <a:p>
                      <a:pPr indent="0" marL="0">
                        <a:buNone/>
                      </a:pPr>
                      <a:r>
                        <a:rPr lang="en-US" sz="1100" b="1" dirty="0">
                          <a:solidFill>
                            <a:srgbClr val="14213D"/>
                          </a:solidFill>
                          <a:latin typeface="Courier New" pitchFamily="34" charset="0"/>
                          <a:ea typeface="Courier New" pitchFamily="34" charset="-122"/>
                          <a:cs typeface="Courier New" pitchFamily="34" charset="-120"/>
                        </a:rPr>
                        <a:t>faithfulness &lt; 0.7</a:t>
                      </a:r>
                      <a:endParaRPr lang="en-US" sz="1100" dirty="0">
                        <a:latin typeface="Courier New" charset="0"/>
                        <a:ea typeface="Courier New" charset="0"/>
                        <a:cs typeface="Courier New"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generation issue — the answer is not supported by the passages</a:t>
                      </a:r>
                      <a:endParaRPr lang="en-US" sz="12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prompt rules, temperature, model</a:t>
                      </a:r>
                      <a:endParaRPr lang="en-US" sz="12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r>
              <a:tr h="457200">
                <a:tc>
                  <a:txBody>
                    <a:bodyPr/>
                    <a:lstStyle/>
                    <a:p>
                      <a:pPr indent="0" marL="0">
                        <a:buNone/>
                      </a:pPr>
                      <a:r>
                        <a:rPr lang="en-US" sz="1100" b="1" dirty="0">
                          <a:solidFill>
                            <a:srgbClr val="14213D"/>
                          </a:solidFill>
                          <a:latin typeface="Courier New" pitchFamily="34" charset="0"/>
                          <a:ea typeface="Courier New" pitchFamily="34" charset="-122"/>
                          <a:cs typeface="Courier New" pitchFamily="34" charset="-120"/>
                        </a:rPr>
                        <a:t>answer relevance &lt; 0.5</a:t>
                      </a:r>
                      <a:endParaRPr lang="en-US" sz="1100" dirty="0">
                        <a:latin typeface="Courier New" charset="0"/>
                        <a:ea typeface="Courier New" charset="0"/>
                        <a:cs typeface="Courier New"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generation issue — the answer is off-topic</a:t>
                      </a:r>
                      <a:endParaRPr lang="en-US" sz="12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prompt, model</a:t>
                      </a:r>
                      <a:endParaRPr lang="en-US" sz="12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457200">
                <a:tc>
                  <a:txBody>
                    <a:bodyPr/>
                    <a:lstStyle/>
                    <a:p>
                      <a:pPr indent="0" marL="0">
                        <a:buNone/>
                      </a:pPr>
                      <a:r>
                        <a:rPr lang="en-US" sz="1100" b="1" dirty="0">
                          <a:solidFill>
                            <a:srgbClr val="14213D"/>
                          </a:solidFill>
                          <a:latin typeface="Courier New" pitchFamily="34" charset="0"/>
                          <a:ea typeface="Courier New" pitchFamily="34" charset="-122"/>
                          <a:cs typeface="Courier New" pitchFamily="34" charset="-120"/>
                        </a:rPr>
                        <a:t>only context precision &lt; 0.5</a:t>
                      </a:r>
                      <a:endParaRPr lang="en-US" sz="1100" dirty="0">
                        <a:latin typeface="Courier New" charset="0"/>
                        <a:ea typeface="Courier New" charset="0"/>
                        <a:cs typeface="Courier New"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retrieval noise — correct, but many irrelevant chunks</a:t>
                      </a:r>
                      <a:endParaRPr lang="en-US" sz="12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lower k, better rewriting, re-ranking</a:t>
                      </a:r>
                      <a:endParaRPr lang="en-US" sz="12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r>
              <a:tr h="457200">
                <a:tc>
                  <a:txBody>
                    <a:bodyPr/>
                    <a:lstStyle/>
                    <a:p>
                      <a:pPr indent="0" marL="0">
                        <a:buNone/>
                      </a:pPr>
                      <a:r>
                        <a:rPr lang="en-US" sz="1100" b="1" dirty="0">
                          <a:solidFill>
                            <a:srgbClr val="14213D"/>
                          </a:solidFill>
                          <a:latin typeface="Courier New" pitchFamily="34" charset="0"/>
                          <a:ea typeface="Courier New" pitchFamily="34" charset="-122"/>
                          <a:cs typeface="Courier New" pitchFamily="34" charset="-120"/>
                        </a:rPr>
                        <a:t>none of the above</a:t>
                      </a:r>
                      <a:endParaRPr lang="en-US" sz="1100" dirty="0">
                        <a:latin typeface="Courier New" charset="0"/>
                        <a:ea typeface="Courier New" charset="0"/>
                        <a:cs typeface="Courier New"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ok</a:t>
                      </a:r>
                      <a:endParaRPr lang="en-US" sz="12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0800" marR="50800" marT="50800" marB="5080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bl>
          </a:graphicData>
        </a:graphic>
      </p:graphicFrame>
      <p:sp>
        <p:nvSpPr>
          <p:cNvPr id="5" name="Shape 2"/>
          <p:cNvSpPr/>
          <p:nvPr/>
        </p:nvSpPr>
        <p:spPr>
          <a:xfrm>
            <a:off x="457200" y="4160520"/>
            <a:ext cx="8229600" cy="548640"/>
          </a:xfrm>
          <a:prstGeom prst="roundRect">
            <a:avLst>
              <a:gd name="adj" fmla="val 13333"/>
            </a:avLst>
          </a:prstGeom>
          <a:solidFill>
            <a:srgbClr val="FFF4E0"/>
          </a:solidFill>
          <a:ln w="12700">
            <a:solidFill>
              <a:srgbClr val="FFF4E0"/>
            </a:solidFill>
            <a:prstDash val="solid"/>
          </a:ln>
        </p:spPr>
      </p:sp>
      <p:sp>
        <p:nvSpPr>
          <p:cNvPr id="6" name="Text 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050" b="1" dirty="0">
                <a:solidFill>
                  <a:srgbClr val="14213D"/>
                </a:solidFill>
                <a:latin typeface="Calibri" pitchFamily="34" charset="0"/>
                <a:ea typeface="Calibri" pitchFamily="34" charset="-122"/>
                <a:cs typeface="Calibri" pitchFamily="34" charset="-120"/>
              </a:rPr>
              <a:t>Why it matters:  </a:t>
            </a:r>
            <a:pPr indent="0" marL="0">
              <a:buNone/>
            </a:pPr>
            <a:r>
              <a:rPr lang="en-US" sz="1050" dirty="0">
                <a:solidFill>
                  <a:srgbClr val="1F2937"/>
                </a:solidFill>
                <a:latin typeface="Calibri" pitchFamily="34" charset="0"/>
                <a:ea typeface="Calibri" pitchFamily="34" charset="-122"/>
                <a:cs typeface="Calibri" pitchFamily="34" charset="-120"/>
              </a:rPr>
              <a:t>two metrics judge the searcher, two judge the writer — so a weak score tells you which stage to fix. diagnose() in evaluation/evaluation_utils.py stamps this verdict on every row of both CSVs and on every live /eval answer.</a:t>
            </a:r>
            <a:endParaRPr lang="en-US" sz="1050" dirty="0"/>
          </a:p>
        </p:txBody>
      </p:sp>
      <p:sp>
        <p:nvSpPr>
          <p:cNvPr id="7" name="Text 4"/>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Multi-Document RAG  ·  28</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EVALUATION · RESULTS</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Results on the 12-question set</a:t>
            </a:r>
            <a:endParaRPr lang="en-US" sz="2800" dirty="0"/>
          </a:p>
        </p:txBody>
      </p:sp>
      <p:graphicFrame>
        <p:nvGraphicFramePr>
          <p:cNvPr id="4" name="Chart 0" descr=""/>
          <p:cNvGraphicFramePr/>
          <p:nvPr/>
        </p:nvGraphicFramePr>
        <p:xfrm>
          <a:off x="457200" y="1234440"/>
          <a:ext cx="5303520" cy="34747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035040" y="1234440"/>
            <a:ext cx="2651760" cy="777240"/>
          </a:xfrm>
          <a:prstGeom prst="roundRect">
            <a:avLst>
              <a:gd name="adj" fmla="val 11765"/>
            </a:avLst>
          </a:prstGeom>
          <a:solidFill>
            <a:srgbClr val="F4F5F7"/>
          </a:solidFill>
          <a:ln w="9525">
            <a:solidFill>
              <a:srgbClr val="E5E7EB"/>
            </a:solidFill>
            <a:prstDash val="solid"/>
          </a:ln>
        </p:spPr>
      </p:sp>
      <p:sp>
        <p:nvSpPr>
          <p:cNvPr id="6" name="Text 3"/>
          <p:cNvSpPr txBox="1"/>
          <p:nvPr/>
        </p:nvSpPr>
        <p:spPr>
          <a:xfrm>
            <a:off x="6172200" y="1280160"/>
            <a:ext cx="1188720" cy="685800"/>
          </a:xfrm>
          <a:prstGeom prst="rect">
            <a:avLst/>
          </a:prstGeom>
          <a:noFill/>
          <a:ln/>
        </p:spPr>
        <p:txBody>
          <a:bodyPr wrap="square" lIns="0" tIns="0" rIns="0" bIns="0" rtlCol="0" anchor="ctr"/>
          <a:lstStyle/>
          <a:p>
            <a:pPr indent="0" marL="0">
              <a:buNone/>
            </a:pPr>
            <a:r>
              <a:rPr lang="en-US" sz="2600" b="1" dirty="0">
                <a:solidFill>
                  <a:srgbClr val="14213D"/>
                </a:solidFill>
                <a:latin typeface="Calibri" pitchFamily="34" charset="0"/>
                <a:ea typeface="Calibri" pitchFamily="34" charset="-122"/>
                <a:cs typeface="Calibri" pitchFamily="34" charset="-120"/>
              </a:rPr>
              <a:t>12</a:t>
            </a:r>
            <a:endParaRPr lang="en-US" sz="2600" dirty="0"/>
          </a:p>
        </p:txBody>
      </p:sp>
      <p:sp>
        <p:nvSpPr>
          <p:cNvPr id="7" name="Text 4"/>
          <p:cNvSpPr txBox="1"/>
          <p:nvPr/>
        </p:nvSpPr>
        <p:spPr>
          <a:xfrm>
            <a:off x="7315200" y="1280160"/>
            <a:ext cx="1325880" cy="68580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questions · 5 categories</a:t>
            </a:r>
            <a:endParaRPr lang="en-US" sz="1050" dirty="0"/>
          </a:p>
        </p:txBody>
      </p:sp>
      <p:sp>
        <p:nvSpPr>
          <p:cNvPr id="8" name="Shape 5"/>
          <p:cNvSpPr/>
          <p:nvPr/>
        </p:nvSpPr>
        <p:spPr>
          <a:xfrm>
            <a:off x="6035040" y="2121408"/>
            <a:ext cx="2651760" cy="777240"/>
          </a:xfrm>
          <a:prstGeom prst="roundRect">
            <a:avLst>
              <a:gd name="adj" fmla="val 11765"/>
            </a:avLst>
          </a:prstGeom>
          <a:solidFill>
            <a:srgbClr val="F4F5F7"/>
          </a:solidFill>
          <a:ln w="9525">
            <a:solidFill>
              <a:srgbClr val="E5E7EB"/>
            </a:solidFill>
            <a:prstDash val="solid"/>
          </a:ln>
        </p:spPr>
      </p:sp>
      <p:sp>
        <p:nvSpPr>
          <p:cNvPr id="9" name="Text 6"/>
          <p:cNvSpPr txBox="1"/>
          <p:nvPr/>
        </p:nvSpPr>
        <p:spPr>
          <a:xfrm>
            <a:off x="6172200" y="2167128"/>
            <a:ext cx="1188720" cy="685800"/>
          </a:xfrm>
          <a:prstGeom prst="rect">
            <a:avLst/>
          </a:prstGeom>
          <a:noFill/>
          <a:ln/>
        </p:spPr>
        <p:txBody>
          <a:bodyPr wrap="square" lIns="0" tIns="0" rIns="0" bIns="0" rtlCol="0" anchor="ctr"/>
          <a:lstStyle/>
          <a:p>
            <a:pPr indent="0" marL="0">
              <a:buNone/>
            </a:pPr>
            <a:r>
              <a:rPr lang="en-US" sz="2600" b="1" dirty="0">
                <a:solidFill>
                  <a:srgbClr val="14213D"/>
                </a:solidFill>
                <a:latin typeface="Calibri" pitchFamily="34" charset="0"/>
                <a:ea typeface="Calibri" pitchFamily="34" charset="-122"/>
                <a:cs typeface="Calibri" pitchFamily="34" charset="-120"/>
              </a:rPr>
              <a:t>89</a:t>
            </a:r>
            <a:endParaRPr lang="en-US" sz="2600" dirty="0"/>
          </a:p>
        </p:txBody>
      </p:sp>
      <p:sp>
        <p:nvSpPr>
          <p:cNvPr id="10" name="Text 7"/>
          <p:cNvSpPr txBox="1"/>
          <p:nvPr/>
        </p:nvSpPr>
        <p:spPr>
          <a:xfrm>
            <a:off x="7315200" y="2167128"/>
            <a:ext cx="1325880" cy="68580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chunks from 7 files</a:t>
            </a:r>
            <a:endParaRPr lang="en-US" sz="1050" dirty="0"/>
          </a:p>
        </p:txBody>
      </p:sp>
      <p:sp>
        <p:nvSpPr>
          <p:cNvPr id="11" name="Shape 8"/>
          <p:cNvSpPr/>
          <p:nvPr/>
        </p:nvSpPr>
        <p:spPr>
          <a:xfrm>
            <a:off x="6035040" y="3008376"/>
            <a:ext cx="2651760" cy="777240"/>
          </a:xfrm>
          <a:prstGeom prst="roundRect">
            <a:avLst>
              <a:gd name="adj" fmla="val 11765"/>
            </a:avLst>
          </a:prstGeom>
          <a:solidFill>
            <a:srgbClr val="F4F5F7"/>
          </a:solidFill>
          <a:ln w="9525">
            <a:solidFill>
              <a:srgbClr val="E5E7EB"/>
            </a:solidFill>
            <a:prstDash val="solid"/>
          </a:ln>
        </p:spPr>
      </p:sp>
      <p:sp>
        <p:nvSpPr>
          <p:cNvPr id="12" name="Text 9"/>
          <p:cNvSpPr txBox="1"/>
          <p:nvPr/>
        </p:nvSpPr>
        <p:spPr>
          <a:xfrm>
            <a:off x="6172200" y="3054096"/>
            <a:ext cx="1188720" cy="685800"/>
          </a:xfrm>
          <a:prstGeom prst="rect">
            <a:avLst/>
          </a:prstGeom>
          <a:noFill/>
          <a:ln/>
        </p:spPr>
        <p:txBody>
          <a:bodyPr wrap="square" lIns="0" tIns="0" rIns="0" bIns="0" rtlCol="0" anchor="ctr"/>
          <a:lstStyle/>
          <a:p>
            <a:pPr indent="0" marL="0">
              <a:buNone/>
            </a:pPr>
            <a:r>
              <a:rPr lang="en-US" sz="2600" b="1" dirty="0">
                <a:solidFill>
                  <a:srgbClr val="14213D"/>
                </a:solidFill>
                <a:latin typeface="Calibri" pitchFamily="34" charset="0"/>
                <a:ea typeface="Calibri" pitchFamily="34" charset="-122"/>
                <a:cs typeface="Calibri" pitchFamily="34" charset="-120"/>
              </a:rPr>
              <a:t>0.93</a:t>
            </a:r>
            <a:endParaRPr lang="en-US" sz="2600" dirty="0"/>
          </a:p>
        </p:txBody>
      </p:sp>
      <p:sp>
        <p:nvSpPr>
          <p:cNvPr id="13" name="Text 10"/>
          <p:cNvSpPr txBox="1"/>
          <p:nvPr/>
        </p:nvSpPr>
        <p:spPr>
          <a:xfrm>
            <a:off x="7315200" y="3054096"/>
            <a:ext cx="1325880" cy="68580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mean faithfulness (RAGAS)</a:t>
            </a:r>
            <a:endParaRPr lang="en-US" sz="1050" dirty="0"/>
          </a:p>
        </p:txBody>
      </p:sp>
      <p:sp>
        <p:nvSpPr>
          <p:cNvPr id="14" name="Shape 11"/>
          <p:cNvSpPr/>
          <p:nvPr/>
        </p:nvSpPr>
        <p:spPr>
          <a:xfrm>
            <a:off x="6035040" y="3895344"/>
            <a:ext cx="2651760" cy="777240"/>
          </a:xfrm>
          <a:prstGeom prst="roundRect">
            <a:avLst>
              <a:gd name="adj" fmla="val 11765"/>
            </a:avLst>
          </a:prstGeom>
          <a:solidFill>
            <a:srgbClr val="F4F5F7"/>
          </a:solidFill>
          <a:ln w="9525">
            <a:solidFill>
              <a:srgbClr val="E5E7EB"/>
            </a:solidFill>
            <a:prstDash val="solid"/>
          </a:ln>
        </p:spPr>
      </p:sp>
      <p:sp>
        <p:nvSpPr>
          <p:cNvPr id="15" name="Text 12"/>
          <p:cNvSpPr txBox="1"/>
          <p:nvPr/>
        </p:nvSpPr>
        <p:spPr>
          <a:xfrm>
            <a:off x="6172200" y="3941064"/>
            <a:ext cx="1188720" cy="685800"/>
          </a:xfrm>
          <a:prstGeom prst="rect">
            <a:avLst/>
          </a:prstGeom>
          <a:noFill/>
          <a:ln/>
        </p:spPr>
        <p:txBody>
          <a:bodyPr wrap="square" lIns="0" tIns="0" rIns="0" bIns="0" rtlCol="0" anchor="ctr"/>
          <a:lstStyle/>
          <a:p>
            <a:pPr indent="0" marL="0">
              <a:buNone/>
            </a:pPr>
            <a:r>
              <a:rPr lang="en-US" sz="2600" b="1" dirty="0">
                <a:solidFill>
                  <a:srgbClr val="14213D"/>
                </a:solidFill>
                <a:latin typeface="Calibri" pitchFamily="34" charset="0"/>
                <a:ea typeface="Calibri" pitchFamily="34" charset="-122"/>
                <a:cs typeface="Calibri" pitchFamily="34" charset="-120"/>
              </a:rPr>
              <a:t>11 / 12</a:t>
            </a:r>
            <a:endParaRPr lang="en-US" sz="2600" dirty="0"/>
          </a:p>
        </p:txBody>
      </p:sp>
      <p:sp>
        <p:nvSpPr>
          <p:cNvPr id="16" name="Text 13"/>
          <p:cNvSpPr txBox="1"/>
          <p:nvPr/>
        </p:nvSpPr>
        <p:spPr>
          <a:xfrm>
            <a:off x="7315200" y="3941064"/>
            <a:ext cx="1325880" cy="68580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answers correct; 1 correct refusal</a:t>
            </a:r>
            <a:endParaRPr lang="en-US" sz="1050" dirty="0"/>
          </a:p>
        </p:txBody>
      </p:sp>
      <p:sp>
        <p:nvSpPr>
          <p:cNvPr id="17" name="Text 14"/>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Multi-Document RAG  ·  29</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ROADMAP</a:t>
            </a:r>
            <a:endParaRPr lang="en-US" sz="1100" dirty="0"/>
          </a:p>
        </p:txBody>
      </p:sp>
      <p:sp>
        <p:nvSpPr>
          <p:cNvPr id="3" name="Text 1"/>
          <p:cNvSpPr txBox="1"/>
          <p:nvPr/>
        </p:nvSpPr>
        <p:spPr>
          <a:xfrm>
            <a:off x="457200" y="512064"/>
            <a:ext cx="8229600" cy="566928"/>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Where this goes next</a:t>
            </a:r>
            <a:endParaRPr lang="en-US" sz="2800" dirty="0"/>
          </a:p>
        </p:txBody>
      </p:sp>
      <p:sp>
        <p:nvSpPr>
          <p:cNvPr id="4" name="Shape 2"/>
          <p:cNvSpPr/>
          <p:nvPr/>
        </p:nvSpPr>
        <p:spPr>
          <a:xfrm>
            <a:off x="457200" y="1280160"/>
            <a:ext cx="2651760" cy="1554480"/>
          </a:xfrm>
          <a:prstGeom prst="roundRect">
            <a:avLst>
              <a:gd name="adj" fmla="val 5882"/>
            </a:avLst>
          </a:prstGeom>
          <a:solidFill>
            <a:srgbClr val="F4F5F7"/>
          </a:solidFill>
          <a:ln w="9525">
            <a:solidFill>
              <a:srgbClr val="E5E7EB"/>
            </a:solidFill>
            <a:prstDash val="solid"/>
          </a:ln>
        </p:spPr>
      </p:sp>
      <p:sp>
        <p:nvSpPr>
          <p:cNvPr id="5" name="Shape 3"/>
          <p:cNvSpPr/>
          <p:nvPr/>
        </p:nvSpPr>
        <p:spPr>
          <a:xfrm>
            <a:off x="621792" y="1444752"/>
            <a:ext cx="457200" cy="457200"/>
          </a:xfrm>
          <a:prstGeom prst="ellipse">
            <a:avLst/>
          </a:prstGeom>
          <a:solidFill>
            <a:srgbClr val="FCA311"/>
          </a:solidFill>
          <a:ln w="12700">
            <a:solidFill>
              <a:srgbClr val="FCA311"/>
            </a:solidFill>
            <a:prstDash val="solid"/>
          </a:ln>
        </p:spPr>
      </p:sp>
      <p:pic>
        <p:nvPicPr>
          <p:cNvPr id="6" name="Image 0" descr="preencoded.png">    </p:cNvPr>
          <p:cNvPicPr>
            <a:picLocks noChangeAspect="1"/>
          </p:cNvPicPr>
          <p:nvPr/>
        </p:nvPicPr>
        <p:blipFill>
          <a:blip r:embed="rId1"/>
          <a:stretch>
            <a:fillRect/>
          </a:stretch>
        </p:blipFill>
        <p:spPr>
          <a:xfrm>
            <a:off x="731520" y="1554480"/>
            <a:ext cx="237744" cy="237744"/>
          </a:xfrm>
          <a:prstGeom prst="rect">
            <a:avLst/>
          </a:prstGeom>
        </p:spPr>
      </p:pic>
      <p:sp>
        <p:nvSpPr>
          <p:cNvPr id="7" name="Text 4"/>
          <p:cNvSpPr txBox="1"/>
          <p:nvPr/>
        </p:nvSpPr>
        <p:spPr>
          <a:xfrm>
            <a:off x="1188720" y="1426464"/>
            <a:ext cx="1783080" cy="45720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Hybrid search</a:t>
            </a:r>
            <a:endParaRPr lang="en-US" sz="1400" dirty="0"/>
          </a:p>
        </p:txBody>
      </p:sp>
      <p:sp>
        <p:nvSpPr>
          <p:cNvPr id="8" name="Text 5"/>
          <p:cNvSpPr txBox="1"/>
          <p:nvPr/>
        </p:nvSpPr>
        <p:spPr>
          <a:xfrm>
            <a:off x="621792" y="1993392"/>
            <a:ext cx="2322576" cy="73152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Add BM25 keyword retrieval and fuse it with vectors via RRF — best of exact terms and semantics.</a:t>
            </a:r>
            <a:endParaRPr lang="en-US" sz="1050" dirty="0"/>
          </a:p>
        </p:txBody>
      </p:sp>
      <p:sp>
        <p:nvSpPr>
          <p:cNvPr id="9" name="Shape 6"/>
          <p:cNvSpPr/>
          <p:nvPr/>
        </p:nvSpPr>
        <p:spPr>
          <a:xfrm>
            <a:off x="3246120" y="1280160"/>
            <a:ext cx="2651760" cy="1554480"/>
          </a:xfrm>
          <a:prstGeom prst="roundRect">
            <a:avLst>
              <a:gd name="adj" fmla="val 5882"/>
            </a:avLst>
          </a:prstGeom>
          <a:solidFill>
            <a:srgbClr val="F4F5F7"/>
          </a:solidFill>
          <a:ln w="9525">
            <a:solidFill>
              <a:srgbClr val="E5E7EB"/>
            </a:solidFill>
            <a:prstDash val="solid"/>
          </a:ln>
        </p:spPr>
      </p:sp>
      <p:sp>
        <p:nvSpPr>
          <p:cNvPr id="10" name="Shape 7"/>
          <p:cNvSpPr/>
          <p:nvPr/>
        </p:nvSpPr>
        <p:spPr>
          <a:xfrm>
            <a:off x="3410712" y="1444752"/>
            <a:ext cx="457200" cy="457200"/>
          </a:xfrm>
          <a:prstGeom prst="ellipse">
            <a:avLst/>
          </a:prstGeom>
          <a:solidFill>
            <a:srgbClr val="FCA311"/>
          </a:solidFill>
          <a:ln w="12700">
            <a:solidFill>
              <a:srgbClr val="FCA311"/>
            </a:solidFill>
            <a:prstDash val="solid"/>
          </a:ln>
        </p:spPr>
      </p:sp>
      <p:pic>
        <p:nvPicPr>
          <p:cNvPr id="11" name="Image 1" descr="preencoded.png">    </p:cNvPr>
          <p:cNvPicPr>
            <a:picLocks noChangeAspect="1"/>
          </p:cNvPicPr>
          <p:nvPr/>
        </p:nvPicPr>
        <p:blipFill>
          <a:blip r:embed="rId2"/>
          <a:stretch>
            <a:fillRect/>
          </a:stretch>
        </p:blipFill>
        <p:spPr>
          <a:xfrm>
            <a:off x="3520440" y="1554480"/>
            <a:ext cx="237744" cy="237744"/>
          </a:xfrm>
          <a:prstGeom prst="rect">
            <a:avLst/>
          </a:prstGeom>
        </p:spPr>
      </p:pic>
      <p:sp>
        <p:nvSpPr>
          <p:cNvPr id="12" name="Text 8"/>
          <p:cNvSpPr txBox="1"/>
          <p:nvPr/>
        </p:nvSpPr>
        <p:spPr>
          <a:xfrm>
            <a:off x="3977640" y="1426464"/>
            <a:ext cx="1783080" cy="45720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Reranking</a:t>
            </a:r>
            <a:endParaRPr lang="en-US" sz="1400" dirty="0"/>
          </a:p>
        </p:txBody>
      </p:sp>
      <p:sp>
        <p:nvSpPr>
          <p:cNvPr id="13" name="Text 9"/>
          <p:cNvSpPr txBox="1"/>
          <p:nvPr/>
        </p:nvSpPr>
        <p:spPr>
          <a:xfrm>
            <a:off x="3410712" y="1993392"/>
            <a:ext cx="2322576" cy="73152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Rerank the fused top-20 with a small cross-encoder before prompting for sharper precision.</a:t>
            </a:r>
            <a:endParaRPr lang="en-US" sz="1050" dirty="0"/>
          </a:p>
        </p:txBody>
      </p:sp>
      <p:sp>
        <p:nvSpPr>
          <p:cNvPr id="14" name="Shape 10"/>
          <p:cNvSpPr/>
          <p:nvPr/>
        </p:nvSpPr>
        <p:spPr>
          <a:xfrm>
            <a:off x="6035040" y="1280160"/>
            <a:ext cx="2651760" cy="1554480"/>
          </a:xfrm>
          <a:prstGeom prst="roundRect">
            <a:avLst>
              <a:gd name="adj" fmla="val 5882"/>
            </a:avLst>
          </a:prstGeom>
          <a:solidFill>
            <a:srgbClr val="F4F5F7"/>
          </a:solidFill>
          <a:ln w="9525">
            <a:solidFill>
              <a:srgbClr val="E5E7EB"/>
            </a:solidFill>
            <a:prstDash val="solid"/>
          </a:ln>
        </p:spPr>
      </p:sp>
      <p:sp>
        <p:nvSpPr>
          <p:cNvPr id="15" name="Shape 11"/>
          <p:cNvSpPr/>
          <p:nvPr/>
        </p:nvSpPr>
        <p:spPr>
          <a:xfrm>
            <a:off x="6199632" y="1444752"/>
            <a:ext cx="457200" cy="457200"/>
          </a:xfrm>
          <a:prstGeom prst="ellipse">
            <a:avLst/>
          </a:prstGeom>
          <a:solidFill>
            <a:srgbClr val="FCA311"/>
          </a:solidFill>
          <a:ln w="12700">
            <a:solidFill>
              <a:srgbClr val="FCA311"/>
            </a:solidFill>
            <a:prstDash val="solid"/>
          </a:ln>
        </p:spPr>
      </p:sp>
      <p:pic>
        <p:nvPicPr>
          <p:cNvPr id="16" name="Image 2" descr="preencoded.png">    </p:cNvPr>
          <p:cNvPicPr>
            <a:picLocks noChangeAspect="1"/>
          </p:cNvPicPr>
          <p:nvPr/>
        </p:nvPicPr>
        <p:blipFill>
          <a:blip r:embed="rId3"/>
          <a:stretch>
            <a:fillRect/>
          </a:stretch>
        </p:blipFill>
        <p:spPr>
          <a:xfrm>
            <a:off x="6309360" y="1554480"/>
            <a:ext cx="237744" cy="237744"/>
          </a:xfrm>
          <a:prstGeom prst="rect">
            <a:avLst/>
          </a:prstGeom>
        </p:spPr>
      </p:pic>
      <p:sp>
        <p:nvSpPr>
          <p:cNvPr id="17" name="Text 12"/>
          <p:cNvSpPr txBox="1"/>
          <p:nvPr/>
        </p:nvSpPr>
        <p:spPr>
          <a:xfrm>
            <a:off x="6766560" y="1426464"/>
            <a:ext cx="1783080" cy="45720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More vector stores</a:t>
            </a:r>
            <a:endParaRPr lang="en-US" sz="1400" dirty="0"/>
          </a:p>
        </p:txBody>
      </p:sp>
      <p:sp>
        <p:nvSpPr>
          <p:cNvPr id="18" name="Text 13"/>
          <p:cNvSpPr txBox="1"/>
          <p:nvPr/>
        </p:nvSpPr>
        <p:spPr>
          <a:xfrm>
            <a:off x="6199632" y="1993392"/>
            <a:ext cx="2322576" cy="73152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FAISS and Qdrant subclasses of VectorStore; the interface already exists.</a:t>
            </a:r>
            <a:endParaRPr lang="en-US" sz="1050" dirty="0"/>
          </a:p>
        </p:txBody>
      </p:sp>
      <p:sp>
        <p:nvSpPr>
          <p:cNvPr id="19" name="Shape 14"/>
          <p:cNvSpPr/>
          <p:nvPr/>
        </p:nvSpPr>
        <p:spPr>
          <a:xfrm>
            <a:off x="457200" y="2971800"/>
            <a:ext cx="2651760" cy="1554480"/>
          </a:xfrm>
          <a:prstGeom prst="roundRect">
            <a:avLst>
              <a:gd name="adj" fmla="val 5882"/>
            </a:avLst>
          </a:prstGeom>
          <a:solidFill>
            <a:srgbClr val="F4F5F7"/>
          </a:solidFill>
          <a:ln w="9525">
            <a:solidFill>
              <a:srgbClr val="E5E7EB"/>
            </a:solidFill>
            <a:prstDash val="solid"/>
          </a:ln>
        </p:spPr>
      </p:sp>
      <p:sp>
        <p:nvSpPr>
          <p:cNvPr id="20" name="Shape 15"/>
          <p:cNvSpPr/>
          <p:nvPr/>
        </p:nvSpPr>
        <p:spPr>
          <a:xfrm>
            <a:off x="621792" y="3136392"/>
            <a:ext cx="457200" cy="457200"/>
          </a:xfrm>
          <a:prstGeom prst="ellipse">
            <a:avLst/>
          </a:prstGeom>
          <a:solidFill>
            <a:srgbClr val="FCA311"/>
          </a:solidFill>
          <a:ln w="12700">
            <a:solidFill>
              <a:srgbClr val="FCA311"/>
            </a:solidFill>
            <a:prstDash val="solid"/>
          </a:ln>
        </p:spPr>
      </p:sp>
      <p:pic>
        <p:nvPicPr>
          <p:cNvPr id="21" name="Image 3" descr="preencoded.png">    </p:cNvPr>
          <p:cNvPicPr>
            <a:picLocks noChangeAspect="1"/>
          </p:cNvPicPr>
          <p:nvPr/>
        </p:nvPicPr>
        <p:blipFill>
          <a:blip r:embed="rId4"/>
          <a:stretch>
            <a:fillRect/>
          </a:stretch>
        </p:blipFill>
        <p:spPr>
          <a:xfrm>
            <a:off x="731520" y="3246120"/>
            <a:ext cx="237744" cy="237744"/>
          </a:xfrm>
          <a:prstGeom prst="rect">
            <a:avLst/>
          </a:prstGeom>
        </p:spPr>
      </p:pic>
      <p:sp>
        <p:nvSpPr>
          <p:cNvPr id="22" name="Text 16"/>
          <p:cNvSpPr txBox="1"/>
          <p:nvPr/>
        </p:nvSpPr>
        <p:spPr>
          <a:xfrm>
            <a:off x="1188720" y="3118104"/>
            <a:ext cx="1783080" cy="45720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Conversation memory</a:t>
            </a:r>
            <a:endParaRPr lang="en-US" sz="1400" dirty="0"/>
          </a:p>
        </p:txBody>
      </p:sp>
      <p:sp>
        <p:nvSpPr>
          <p:cNvPr id="23" name="Text 17"/>
          <p:cNvSpPr txBox="1"/>
          <p:nvPr/>
        </p:nvSpPr>
        <p:spPr>
          <a:xfrm>
            <a:off x="621792" y="3685032"/>
            <a:ext cx="2322576" cy="73152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Rewrite follow-up questions with chat history so "and for interns?" resolves correctly.</a:t>
            </a:r>
            <a:endParaRPr lang="en-US" sz="1050" dirty="0"/>
          </a:p>
        </p:txBody>
      </p:sp>
      <p:sp>
        <p:nvSpPr>
          <p:cNvPr id="24" name="Shape 18"/>
          <p:cNvSpPr/>
          <p:nvPr/>
        </p:nvSpPr>
        <p:spPr>
          <a:xfrm>
            <a:off x="3246120" y="2971800"/>
            <a:ext cx="2651760" cy="1554480"/>
          </a:xfrm>
          <a:prstGeom prst="roundRect">
            <a:avLst>
              <a:gd name="adj" fmla="val 5882"/>
            </a:avLst>
          </a:prstGeom>
          <a:solidFill>
            <a:srgbClr val="F4F5F7"/>
          </a:solidFill>
          <a:ln w="9525">
            <a:solidFill>
              <a:srgbClr val="E5E7EB"/>
            </a:solidFill>
            <a:prstDash val="solid"/>
          </a:ln>
        </p:spPr>
      </p:sp>
      <p:sp>
        <p:nvSpPr>
          <p:cNvPr id="25" name="Shape 19"/>
          <p:cNvSpPr/>
          <p:nvPr/>
        </p:nvSpPr>
        <p:spPr>
          <a:xfrm>
            <a:off x="3410712" y="3136392"/>
            <a:ext cx="457200" cy="457200"/>
          </a:xfrm>
          <a:prstGeom prst="ellipse">
            <a:avLst/>
          </a:prstGeom>
          <a:solidFill>
            <a:srgbClr val="FCA311"/>
          </a:solidFill>
          <a:ln w="12700">
            <a:solidFill>
              <a:srgbClr val="FCA311"/>
            </a:solidFill>
            <a:prstDash val="solid"/>
          </a:ln>
        </p:spPr>
      </p:sp>
      <p:pic>
        <p:nvPicPr>
          <p:cNvPr id="26" name="Image 4" descr="preencoded.png">    </p:cNvPr>
          <p:cNvPicPr>
            <a:picLocks noChangeAspect="1"/>
          </p:cNvPicPr>
          <p:nvPr/>
        </p:nvPicPr>
        <p:blipFill>
          <a:blip r:embed="rId5"/>
          <a:stretch>
            <a:fillRect/>
          </a:stretch>
        </p:blipFill>
        <p:spPr>
          <a:xfrm>
            <a:off x="3520440" y="3246120"/>
            <a:ext cx="237744" cy="237744"/>
          </a:xfrm>
          <a:prstGeom prst="rect">
            <a:avLst/>
          </a:prstGeom>
        </p:spPr>
      </p:pic>
      <p:sp>
        <p:nvSpPr>
          <p:cNvPr id="27" name="Text 20"/>
          <p:cNvSpPr txBox="1"/>
          <p:nvPr/>
        </p:nvSpPr>
        <p:spPr>
          <a:xfrm>
            <a:off x="3977640" y="3118104"/>
            <a:ext cx="1783080" cy="45720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Bigger evaluation set</a:t>
            </a:r>
            <a:endParaRPr lang="en-US" sz="1400" dirty="0"/>
          </a:p>
        </p:txBody>
      </p:sp>
      <p:sp>
        <p:nvSpPr>
          <p:cNvPr id="28" name="Text 21"/>
          <p:cNvSpPr txBox="1"/>
          <p:nvPr/>
        </p:nvSpPr>
        <p:spPr>
          <a:xfrm>
            <a:off x="3410712" y="3685032"/>
            <a:ext cx="2322576" cy="73152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RAGAS synthetic test-set generation, more categories, per-strategy comparison runs.</a:t>
            </a:r>
            <a:endParaRPr lang="en-US" sz="1050" dirty="0"/>
          </a:p>
        </p:txBody>
      </p:sp>
      <p:sp>
        <p:nvSpPr>
          <p:cNvPr id="29" name="Shape 22"/>
          <p:cNvSpPr/>
          <p:nvPr/>
        </p:nvSpPr>
        <p:spPr>
          <a:xfrm>
            <a:off x="6035040" y="2971800"/>
            <a:ext cx="2651760" cy="1554480"/>
          </a:xfrm>
          <a:prstGeom prst="roundRect">
            <a:avLst>
              <a:gd name="adj" fmla="val 5882"/>
            </a:avLst>
          </a:prstGeom>
          <a:solidFill>
            <a:srgbClr val="F4F5F7"/>
          </a:solidFill>
          <a:ln w="9525">
            <a:solidFill>
              <a:srgbClr val="E5E7EB"/>
            </a:solidFill>
            <a:prstDash val="solid"/>
          </a:ln>
        </p:spPr>
      </p:sp>
      <p:sp>
        <p:nvSpPr>
          <p:cNvPr id="30" name="Shape 23"/>
          <p:cNvSpPr/>
          <p:nvPr/>
        </p:nvSpPr>
        <p:spPr>
          <a:xfrm>
            <a:off x="6199632" y="3136392"/>
            <a:ext cx="457200" cy="457200"/>
          </a:xfrm>
          <a:prstGeom prst="ellipse">
            <a:avLst/>
          </a:prstGeom>
          <a:solidFill>
            <a:srgbClr val="FCA311"/>
          </a:solidFill>
          <a:ln w="12700">
            <a:solidFill>
              <a:srgbClr val="FCA311"/>
            </a:solidFill>
            <a:prstDash val="solid"/>
          </a:ln>
        </p:spPr>
      </p:sp>
      <p:pic>
        <p:nvPicPr>
          <p:cNvPr id="31" name="Image 5" descr="preencoded.png">    </p:cNvPr>
          <p:cNvPicPr>
            <a:picLocks noChangeAspect="1"/>
          </p:cNvPicPr>
          <p:nvPr/>
        </p:nvPicPr>
        <p:blipFill>
          <a:blip r:embed="rId6"/>
          <a:stretch>
            <a:fillRect/>
          </a:stretch>
        </p:blipFill>
        <p:spPr>
          <a:xfrm>
            <a:off x="6309360" y="3246120"/>
            <a:ext cx="237744" cy="237744"/>
          </a:xfrm>
          <a:prstGeom prst="rect">
            <a:avLst/>
          </a:prstGeom>
        </p:spPr>
      </p:pic>
      <p:sp>
        <p:nvSpPr>
          <p:cNvPr id="32" name="Text 24"/>
          <p:cNvSpPr txBox="1"/>
          <p:nvPr/>
        </p:nvSpPr>
        <p:spPr>
          <a:xfrm>
            <a:off x="6766560" y="3118104"/>
            <a:ext cx="1783080" cy="45720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Web front-end</a:t>
            </a:r>
            <a:endParaRPr lang="en-US" sz="1400" dirty="0"/>
          </a:p>
        </p:txBody>
      </p:sp>
      <p:sp>
        <p:nvSpPr>
          <p:cNvPr id="33" name="Text 25"/>
          <p:cNvSpPr txBox="1"/>
          <p:nvPr/>
        </p:nvSpPr>
        <p:spPr>
          <a:xfrm>
            <a:off x="6199632" y="3685032"/>
            <a:ext cx="2322576" cy="73152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A Streamlit or FastAPI layer over the same RAGPipeline, with streaming answers, caching and authentication.</a:t>
            </a:r>
            <a:endParaRPr lang="en-US" sz="1050" dirty="0"/>
          </a:p>
        </p:txBody>
      </p:sp>
      <p:sp>
        <p:nvSpPr>
          <p:cNvPr id="34" name="Text 26"/>
          <p:cNvSpPr txBox="1"/>
          <p:nvPr/>
        </p:nvSpPr>
        <p:spPr>
          <a:xfrm>
            <a:off x="5943600" y="4800600"/>
            <a:ext cx="2743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Multi-Document RAG  ·  30</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640080" y="1097280"/>
            <a:ext cx="731520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Thank you</a:t>
            </a:r>
            <a:endParaRPr lang="en-US" sz="4000" dirty="0"/>
          </a:p>
        </p:txBody>
      </p:sp>
      <p:sp>
        <p:nvSpPr>
          <p:cNvPr id="3" name="Text 1"/>
          <p:cNvSpPr txBox="1"/>
          <p:nvPr/>
        </p:nvSpPr>
        <p:spPr>
          <a:xfrm>
            <a:off x="640080" y="1874520"/>
            <a:ext cx="7315200" cy="457200"/>
          </a:xfrm>
          <a:prstGeom prst="rect">
            <a:avLst/>
          </a:prstGeom>
          <a:noFill/>
          <a:ln/>
        </p:spPr>
        <p:txBody>
          <a:bodyPr wrap="square" lIns="0" tIns="0" rIns="0" bIns="0" rtlCol="0" anchor="ctr"/>
          <a:lstStyle/>
          <a:p>
            <a:pPr indent="0" marL="0">
              <a:buNone/>
            </a:pPr>
            <a:r>
              <a:rPr lang="en-US" sz="2000" dirty="0">
                <a:solidFill>
                  <a:srgbClr val="FCA311"/>
                </a:solidFill>
                <a:latin typeface="Calibri" pitchFamily="34" charset="0"/>
                <a:ea typeface="Calibri" pitchFamily="34" charset="-122"/>
                <a:cs typeface="Calibri" pitchFamily="34" charset="-120"/>
              </a:rPr>
              <a:t>Questions?</a:t>
            </a:r>
            <a:endParaRPr lang="en-US" sz="2000" dirty="0"/>
          </a:p>
        </p:txBody>
      </p:sp>
      <p:sp>
        <p:nvSpPr>
          <p:cNvPr id="4" name="Text 2"/>
          <p:cNvSpPr txBox="1"/>
          <p:nvPr/>
        </p:nvSpPr>
        <p:spPr>
          <a:xfrm>
            <a:off x="640080" y="2697480"/>
            <a:ext cx="3657600" cy="256032"/>
          </a:xfrm>
          <a:prstGeom prst="rect">
            <a:avLst/>
          </a:prstGeom>
          <a:noFill/>
          <a:ln/>
        </p:spPr>
        <p:txBody>
          <a:bodyPr wrap="square" lIns="0" tIns="0" rIns="0" bIns="0" rtlCol="0" anchor="ctr"/>
          <a:lstStyle/>
          <a:p>
            <a:pPr indent="0" marL="0">
              <a:buNone/>
            </a:pPr>
            <a:r>
              <a:rPr lang="en-US" sz="1050" b="1" spc="200" kern="0" dirty="0">
                <a:solidFill>
                  <a:srgbClr val="FCA311"/>
                </a:solidFill>
                <a:latin typeface="Calibri" pitchFamily="34" charset="0"/>
                <a:ea typeface="Calibri" pitchFamily="34" charset="-122"/>
                <a:cs typeface="Calibri" pitchFamily="34" charset="-120"/>
              </a:rPr>
              <a:t>RUN IT YOURSELF</a:t>
            </a:r>
            <a:endParaRPr lang="en-US" sz="1050" dirty="0"/>
          </a:p>
        </p:txBody>
      </p:sp>
      <p:sp>
        <p:nvSpPr>
          <p:cNvPr id="5" name="Text 3"/>
          <p:cNvSpPr txBox="1"/>
          <p:nvPr/>
        </p:nvSpPr>
        <p:spPr>
          <a:xfrm>
            <a:off x="640080" y="2971800"/>
            <a:ext cx="4206240" cy="1005840"/>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 put your documents in data/</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python ingest.py</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python main.py</a:t>
            </a:r>
            <a:endParaRPr lang="en-US" sz="1300" dirty="0"/>
          </a:p>
        </p:txBody>
      </p:sp>
      <p:sp>
        <p:nvSpPr>
          <p:cNvPr id="6" name="Text 4"/>
          <p:cNvSpPr txBox="1"/>
          <p:nvPr/>
        </p:nvSpPr>
        <p:spPr>
          <a:xfrm>
            <a:off x="5120640" y="2697480"/>
            <a:ext cx="3474720" cy="256032"/>
          </a:xfrm>
          <a:prstGeom prst="rect">
            <a:avLst/>
          </a:prstGeom>
          <a:noFill/>
          <a:ln/>
        </p:spPr>
        <p:txBody>
          <a:bodyPr wrap="square" lIns="0" tIns="0" rIns="0" bIns="0" rtlCol="0" anchor="ctr"/>
          <a:lstStyle/>
          <a:p>
            <a:pPr indent="0" marL="0">
              <a:buNone/>
            </a:pPr>
            <a:r>
              <a:rPr lang="en-US" sz="1050" b="1" spc="200" kern="0" dirty="0">
                <a:solidFill>
                  <a:srgbClr val="FCA311"/>
                </a:solidFill>
                <a:latin typeface="Calibri" pitchFamily="34" charset="0"/>
                <a:ea typeface="Calibri" pitchFamily="34" charset="-122"/>
                <a:cs typeface="Calibri" pitchFamily="34" charset="-120"/>
              </a:rPr>
              <a:t>KEY TAKEAWAYS</a:t>
            </a:r>
            <a:endParaRPr lang="en-US" sz="1050" dirty="0"/>
          </a:p>
        </p:txBody>
      </p:sp>
      <p:sp>
        <p:nvSpPr>
          <p:cNvPr id="7" name="Text 5"/>
          <p:cNvSpPr txBox="1"/>
          <p:nvPr/>
        </p:nvSpPr>
        <p:spPr>
          <a:xfrm>
            <a:off x="5120640" y="2971800"/>
            <a:ext cx="3474720" cy="1463040"/>
          </a:xfrm>
          <a:prstGeom prst="rect">
            <a:avLst/>
          </a:prstGeom>
          <a:noFill/>
          <a:ln/>
        </p:spPr>
        <p:txBody>
          <a:bodyPr wrap="square" lIns="0" tIns="0" rIns="0" bIns="0" rtlCol="0" anchor="t"/>
          <a:lstStyle/>
          <a:p>
            <a:pPr marL="152400" indent="-152400">
              <a:spcAft>
                <a:spcPts val="500"/>
              </a:spcAft>
              <a:buSzPct val="100000"/>
              <a:buChar char="•"/>
            </a:pPr>
            <a:r>
              <a:rPr lang="en-US" sz="1250" dirty="0">
                <a:solidFill>
                  <a:srgbClr val="C9D6EE"/>
                </a:solidFill>
                <a:latin typeface="Calibri" pitchFamily="34" charset="0"/>
                <a:ea typeface="Calibri" pitchFamily="34" charset="-122"/>
                <a:cs typeface="Calibri" pitchFamily="34" charset="-120"/>
              </a:rPr>
              <a:t>RAG is an open-book exam — retrieval quality decides everything</a:t>
            </a:r>
            <a:endParaRPr lang="en-US" sz="1250" dirty="0"/>
          </a:p>
          <a:p>
            <a:pPr marL="152400" indent="-152400">
              <a:spcAft>
                <a:spcPts val="500"/>
              </a:spcAft>
              <a:buSzPct val="100000"/>
              <a:buChar char="•"/>
            </a:pPr>
            <a:r>
              <a:rPr lang="en-US" sz="1250" dirty="0">
                <a:solidFill>
                  <a:srgbClr val="C9D6EE"/>
                </a:solidFill>
                <a:latin typeface="Calibri" pitchFamily="34" charset="0"/>
                <a:ea typeface="Calibri" pitchFamily="34" charset="-122"/>
                <a:cs typeface="Calibri" pitchFamily="34" charset="-120"/>
              </a:rPr>
              <a:t>Rewrite queries; fuse with RRF</a:t>
            </a:r>
            <a:endParaRPr lang="en-US" sz="1250" dirty="0"/>
          </a:p>
          <a:p>
            <a:pPr marL="152400" indent="-152400">
              <a:spcAft>
                <a:spcPts val="500"/>
              </a:spcAft>
              <a:buSzPct val="100000"/>
              <a:buChar char="•"/>
            </a:pPr>
            <a:r>
              <a:rPr lang="en-US" sz="1250" dirty="0">
                <a:solidFill>
                  <a:srgbClr val="C9D6EE"/>
                </a:solidFill>
                <a:latin typeface="Calibri" pitchFamily="34" charset="0"/>
                <a:ea typeface="Calibri" pitchFamily="34" charset="-122"/>
                <a:cs typeface="Calibri" pitchFamily="34" charset="-120"/>
              </a:rPr>
              <a:t>Cite, or refuse</a:t>
            </a:r>
            <a:endParaRPr lang="en-US" sz="1250" dirty="0"/>
          </a:p>
          <a:p>
            <a:pPr marL="152400" indent="-152400">
              <a:spcAft>
                <a:spcPts val="500"/>
              </a:spcAft>
              <a:buSzPct val="100000"/>
              <a:buChar char="•"/>
            </a:pPr>
            <a:r>
              <a:rPr lang="en-US" sz="1250" dirty="0">
                <a:solidFill>
                  <a:srgbClr val="C9D6EE"/>
                </a:solidFill>
                <a:latin typeface="Calibri" pitchFamily="34" charset="0"/>
                <a:ea typeface="Calibri" pitchFamily="34" charset="-122"/>
                <a:cs typeface="Calibri" pitchFamily="34" charset="-120"/>
              </a:rPr>
              <a:t>Measure retrieval and generation separately</a:t>
            </a:r>
            <a:endParaRPr lang="en-US" sz="1250" dirty="0"/>
          </a:p>
        </p:txBody>
      </p:sp>
      <p:sp>
        <p:nvSpPr>
          <p:cNvPr id="8" name="Text 6"/>
          <p:cNvSpPr txBox="1"/>
          <p:nvPr/>
        </p:nvSpPr>
        <p:spPr>
          <a:xfrm>
            <a:off x="640080" y="4434840"/>
            <a:ext cx="5486400" cy="274320"/>
          </a:xfrm>
          <a:prstGeom prst="rect">
            <a:avLst/>
          </a:prstGeom>
          <a:noFill/>
          <a:ln/>
        </p:spPr>
        <p:txBody>
          <a:bodyPr wrap="square" lIns="0" tIns="0" rIns="0" bIns="0" rtlCol="0" anchor="ctr"/>
          <a:lstStyle/>
          <a:p>
            <a:pPr indent="0" marL="0">
              <a:buNone/>
            </a:pPr>
            <a:r>
              <a:rPr lang="en-US" sz="1100" dirty="0">
                <a:solidFill>
                  <a:srgbClr val="C9D6EE"/>
                </a:solidFill>
                <a:latin typeface="Calibri" pitchFamily="34" charset="0"/>
                <a:ea typeface="Calibri" pitchFamily="34" charset="-122"/>
                <a:cs typeface="Calibri" pitchFamily="34" charset="-120"/>
              </a:rPr>
              <a:t>Talha Hafeez  ·  Multi-Document RAG System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Multi-Document RAG System</dc:title>
  <dc:subject>PptxGenJS Presentation</dc:subject>
  <dc:creator>Talha Hafeez</dc:creator>
  <cp:lastModifiedBy>Talha Hafeez</cp:lastModifiedBy>
  <cp:revision>1</cp:revision>
  <dcterms:created xsi:type="dcterms:W3CDTF">2026-09-14T12:39:38Z</dcterms:created>
  <dcterms:modified xsi:type="dcterms:W3CDTF">2026-09-14T12:39:38Z</dcterms:modified>
</cp:coreProperties>
</file>