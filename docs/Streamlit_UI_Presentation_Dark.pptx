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time I showed the command-line version of the RAG system. This homework adds a web front-end. The headline is the whole talk: the app is a second window onto the same pipeline, and nothing inside the pipeline or the evaluation code changed to get there. The next twelve minutes are about why that was possible and what it actually took.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recap, on purpose. The previous presentation covered the loaders, the retriever, the rewriting strategies and both evaluations in depth, so I will not repeat them. What matters today is only the box on the left: a terminal was the one way in. The task was to add a browser way in and keep this one working for anyone who prefers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fact the whole homework rests on, and it was decided months ago for a different reason: the evaluation scripts needed the rewrites, the chunks and the answer as data, not as printed text. Because ask() returns a dataclass with all of it, the terminal front-end is only a printer. If the printer is replaceable, a web page is just another printer.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these down before opening the Streamlit docs, because the temptation with a UI is to re-implement little bits of logic in the page, and that is how two front-ends drift apart. Rule two is the strict one: if the page needed something the pipeline did not expose, that was a pipeline gap to fix in the pipeline, never a copy in the UI. Rule four is about the 90 MB embedding model: a second browser tab must not load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structural picture. Three things are new: app.py, its renderer ui/components.py, and src/frontend.py, which holds what the two front-ends share. The arrows are the web app; the CLI reaches the same three entry points, it just does so as separate commands. And the files at the bottom are shared, so an index built from the browser is the index the terminal searches, and the CSVs the evaluation tab writes are the ones the scripts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real work was not Streamlit at all. The CLI had grown helpers the web page also needs: the AnswerEvaluator behind the live scores, find_ground_truth, the manifest checks that print the two start-up warnings, and the provider name aliases. app.py cannot import main.py, because importing main.py reconfigures stdout and pulls in argparse. So they moved to src/frontend.py, 156 lines, and main.py imports the names it used to define. 118 lines out, 10 import lines in. The check that it was done right: the --evaluate run printed the identical block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page itself. Nothing in the sidebar is new information: every widget is a CLI flag or slash command. The provider radio reads provider_status(), so Ollama gets a red light until its server answers; the model list is the same curated-then-live list the CLI prints; the strategy captions are the same descriptions. That is rule three in practice: one place to add a setting, two places it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slide. Ask something informal like "can i wfh fri?", get a cited answer, then open the rewriting expander to show the five phrasings and why the abbreviations did not matter. Open the chunks to show what the model actually read. Switch on the evaluate toggle and ask a question from the evaluation set: four scores appear, computed by the same AnswerEvaluator the batch report uses. Precision and recall show n/a with the reason when the question has no ground truth. All three panels are opt-in, so a demo can start clean and open the machinery when someone asks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base on the left: the manifest, the files in data/, drag-and-drop upload, rebuild or append with chunk size and overlap, and a search box over chunks.json. The interesting part is how little it needed. ingest() already took a progress callback because the terminal wanted percentages, so the page passes a callback that moves a progress bar. Evaluation on the right: Stage A, manual and RAGAS are three buttons calling run_pipeline_on_dataset, manual evaluate_rows and RAGAS evaluate_rows, writing rag_outputs.json and the two CSVs, then reading the CSVs back into the chart. The tab implements no metric. I ran Stage A and the manual evaluation from the browser and got 1.00, 1.00, 0.91, 0.94 against the report's 1.00, 1.00, 0.93, 0.93, which is within the judge's normal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Streamlit's execution model is the thing to understand before writing any of it: the whole script runs top to bottom on every click. Without caching, every widget change would reload the 90 MB embedding model and reopen ChromaDB. So the pipeline, embedder plus vector store, is a cached resource keyed on the only thing that would need a different one, the embedding model. Switching provider or model goes through pipeline.set_llm(), which rebuilds only the small client. The evaluator is a second cached resource. provider_status(), which probes the Ollama port, is cached for a minute; the model lists for five. After an ingest from the browser both resource caches are cleared so the counts refresh. Measured: first question about 15 seconds, then rewrite 0.002 s, retrieve 0.01 s, generate 0.75 s on Groq, identical to the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honest answer to "what did you learn". None is a pipeline problem; all four are about how Streamlit runs code and draws things. One: hot reload only re-runs app.py, so an AttributeError pointed at a function that plainly existed in ui/components.py. Restarting the server fixes it, and it is in the README so nobody loses an hour to it. Two: st.bar_chart stacks series and sorts categories alphabetically, so I replaced it with an Altair grouped bar chart in the brief's metric order with a 0 to 1 axis. Three: the deck's navy bars were invisible on Streamlit's dark theme, so the chart colours are now theme-neutral and the CSS uses semi-transparent borders. Four: a one-line lstrip on the extension list, the kind of thing only a real click finds.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that proves the rules held. Same question, "How many annual leave days are allowed?", same answer, same passage numbers, same four scores, because both sides print the same RAGResponse and call the same AnswerEvaluator. If someone asks which one is the real system, the answer is neither. The pipeline is. These are two windows onto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back the claim on the cover. 902 lines added: app.py 502, the two ui files 244, and the shared module 156. Zero lines changed in src/ or evaluation/ apart from that new module, and one optional dependency, streamlit, which the CLI does not need. The zero is the one to point at. It is only possible because the pipeline returns data instead of printing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two commands and offer the live demo in this order. It takes about three minutes and touches every tab. The repository link is on the slide for anyone who wants to run it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4A"/>
        </a:solidFill>
      </p:bgPr>
    </p:bg>
    <p:spTree>
      <p:nvGrpSpPr>
        <p:cNvPr id="1" name=""/>
        <p:cNvGrpSpPr/>
        <p:nvPr/>
      </p:nvGrpSpPr>
      <p:grpSpPr>
        <a:xfrm>
          <a:off x="0" y="0"/>
          <a:ext cx="0" cy="0"/>
          <a:chOff x="0" y="0"/>
          <a:chExt cx="0" cy="0"/>
        </a:xfrm>
      </p:grpSpPr>
      <p:sp>
        <p:nvSpPr>
          <p:cNvPr id="2" name="Text 0"/>
          <p:cNvSpPr txBox="1"/>
          <p:nvPr/>
        </p:nvSpPr>
        <p:spPr>
          <a:xfrm>
            <a:off x="640080" y="868680"/>
            <a:ext cx="7863840" cy="182880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Calibri" pitchFamily="34" charset="0"/>
                <a:ea typeface="Calibri" pitchFamily="34" charset="-122"/>
                <a:cs typeface="Calibri" pitchFamily="34" charset="-120"/>
              </a:rPr>
              <a:t>The RAG system now runs in a browser, and the pipeline did not change to make that happen</a:t>
            </a:r>
            <a:endParaRPr lang="en-US" sz="3400" dirty="0"/>
          </a:p>
        </p:txBody>
      </p:sp>
      <p:sp>
        <p:nvSpPr>
          <p:cNvPr id="3" name="Text 1"/>
          <p:cNvSpPr txBox="1"/>
          <p:nvPr/>
        </p:nvSpPr>
        <p:spPr>
          <a:xfrm>
            <a:off x="640080" y="2788920"/>
            <a:ext cx="7863840" cy="365760"/>
          </a:xfrm>
          <a:prstGeom prst="rect">
            <a:avLst/>
          </a:prstGeom>
          <a:noFill/>
          <a:ln/>
        </p:spPr>
        <p:txBody>
          <a:bodyPr wrap="square" lIns="0" tIns="0" rIns="0" bIns="0" rtlCol="0" anchor="ctr"/>
          <a:lstStyle/>
          <a:p>
            <a:pPr indent="0" marL="0">
              <a:buNone/>
            </a:pPr>
            <a:r>
              <a:rPr lang="en-US" sz="1800" dirty="0">
                <a:solidFill>
                  <a:srgbClr val="C9D6EE"/>
                </a:solidFill>
                <a:latin typeface="Calibri" pitchFamily="34" charset="0"/>
                <a:ea typeface="Calibri" pitchFamily="34" charset="-122"/>
                <a:cs typeface="Calibri" pitchFamily="34" charset="-120"/>
              </a:rPr>
              <a:t>A Streamlit front-end for the Multi-Document RAG project</a:t>
            </a:r>
            <a:endParaRPr lang="en-US" sz="1800" dirty="0"/>
          </a:p>
        </p:txBody>
      </p:sp>
      <p:sp>
        <p:nvSpPr>
          <p:cNvPr id="4" name="Text 2"/>
          <p:cNvSpPr txBox="1"/>
          <p:nvPr/>
        </p:nvSpPr>
        <p:spPr>
          <a:xfrm>
            <a:off x="640080" y="3886200"/>
            <a:ext cx="365760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Talha Hafeez</a:t>
            </a:r>
            <a:endParaRPr lang="en-US" sz="1800" dirty="0"/>
          </a:p>
        </p:txBody>
      </p:sp>
      <p:sp>
        <p:nvSpPr>
          <p:cNvPr id="5" name="Text 3"/>
          <p:cNvSpPr txBox="1"/>
          <p:nvPr/>
        </p:nvSpPr>
        <p:spPr>
          <a:xfrm>
            <a:off x="640080" y="4206240"/>
            <a:ext cx="3657600" cy="274320"/>
          </a:xfrm>
          <a:prstGeom prst="rect">
            <a:avLst/>
          </a:prstGeom>
          <a:noFill/>
          <a:ln/>
        </p:spPr>
        <p:txBody>
          <a:bodyPr wrap="square" lIns="0" tIns="0" rIns="0" bIns="0" rtlCol="0" anchor="ctr"/>
          <a:lstStyle/>
          <a:p>
            <a:pPr indent="0" marL="0">
              <a:buNone/>
            </a:pPr>
            <a:r>
              <a:rPr lang="en-US" sz="1400" dirty="0">
                <a:solidFill>
                  <a:srgbClr val="C9D6EE"/>
                </a:solidFill>
                <a:latin typeface="Calibri" pitchFamily="34" charset="0"/>
                <a:ea typeface="Calibri" pitchFamily="34" charset="-122"/>
                <a:cs typeface="Calibri" pitchFamily="34" charset="-120"/>
              </a:rPr>
              <a:t>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Calibri" pitchFamily="34" charset="0"/>
                <a:ea typeface="Calibri" pitchFamily="34" charset="-122"/>
                <a:cs typeface="Calibri" pitchFamily="34" charset="-120"/>
              </a:rPr>
              <a:t>Last time the system had one front-end, the terminal</a:t>
            </a:r>
            <a:endParaRPr lang="en-US" sz="3200" dirty="0"/>
          </a:p>
        </p:txBody>
      </p:sp>
      <p:sp>
        <p:nvSpPr>
          <p:cNvPr id="3" name="Shape 1"/>
          <p:cNvSpPr/>
          <p:nvPr/>
        </p:nvSpPr>
        <p:spPr>
          <a:xfrm>
            <a:off x="621792" y="1673352"/>
            <a:ext cx="4471416" cy="2990088"/>
          </a:xfrm>
          <a:prstGeom prst="rect">
            <a:avLst/>
          </a:prstGeom>
          <a:solidFill>
            <a:srgbClr val="334155"/>
          </a:solidFill>
          <a:ln w="12700">
            <a:solidFill>
              <a:srgbClr val="334155"/>
            </a:solidFill>
            <a:prstDash val="solid"/>
          </a:ln>
        </p:spPr>
      </p:sp>
      <p:pic>
        <p:nvPicPr>
          <p:cNvPr id="4" name="Image 0" descr="preencoded.png">    </p:cNvPr>
          <p:cNvPicPr>
            <a:picLocks noChangeAspect="1"/>
          </p:cNvPicPr>
          <p:nvPr/>
        </p:nvPicPr>
        <p:blipFill>
          <a:blip r:embed="rId1"/>
          <a:stretch>
            <a:fillRect/>
          </a:stretch>
        </p:blipFill>
        <p:spPr>
          <a:xfrm>
            <a:off x="640080" y="1691640"/>
            <a:ext cx="4434840" cy="2953512"/>
          </a:xfrm>
          <a:prstGeom prst="rect">
            <a:avLst/>
          </a:prstGeom>
        </p:spPr>
      </p:pic>
      <p:sp>
        <p:nvSpPr>
          <p:cNvPr id="5" name="Text 2"/>
          <p:cNvSpPr txBox="1"/>
          <p:nvPr/>
        </p:nvSpPr>
        <p:spPr>
          <a:xfrm>
            <a:off x="5349240" y="1691640"/>
            <a:ext cx="3154680" cy="2926080"/>
          </a:xfrm>
          <a:prstGeom prst="rect">
            <a:avLst/>
          </a:prstGeom>
          <a:noFill/>
          <a:ln/>
        </p:spPr>
        <p:txBody>
          <a:bodyPr wrap="square" lIns="0" tIns="0" rIns="0" bIns="0" rtlCol="0" anchor="t"/>
          <a:lstStyle/>
          <a:p>
            <a:pPr indent="0" marL="0">
              <a:lnSpc>
                <a:spcPct val="105000"/>
              </a:lnSpc>
              <a:buNone/>
            </a:pPr>
            <a:r>
              <a:rPr lang="en-US" sz="1800" dirty="0">
                <a:solidFill>
                  <a:srgbClr val="E2E8F0"/>
                </a:solidFill>
                <a:latin typeface="Calibri" pitchFamily="34" charset="0"/>
                <a:ea typeface="Calibri" pitchFamily="34" charset="-122"/>
                <a:cs typeface="Calibri" pitchFamily="34" charset="-120"/>
              </a:rPr>
              <a:t>Seven document formats into ChromaDB, seven rewriting strategies fused with RRF, cited answers, and manual plus RAGAS scores.</a:t>
            </a:r>
            <a:endParaRPr lang="en-US" sz="1800" dirty="0"/>
          </a:p>
          <a:p>
            <a:pPr indent="0" marL="0">
              <a:lnSpc>
                <a:spcPct val="105000"/>
              </a:lnSpc>
              <a:buNone/>
            </a:pPr>
            <a:r>
              <a:rPr lang="en-US" sz="800" dirty="0">
                <a:solidFill>
                  <a:srgbClr val="E2E8F0"/>
                </a:solidFill>
                <a:latin typeface="Calibri" pitchFamily="34" charset="0"/>
                <a:ea typeface="Calibri" pitchFamily="34" charset="-122"/>
                <a:cs typeface="Calibri" pitchFamily="34" charset="-120"/>
              </a:rPr>
              <a:t> </a:t>
            </a:r>
            <a:endParaRPr lang="en-US" sz="1800" dirty="0"/>
          </a:p>
          <a:p>
            <a:pPr indent="0" marL="0">
              <a:lnSpc>
                <a:spcPct val="105000"/>
              </a:lnSpc>
              <a:buNone/>
            </a:pPr>
            <a:r>
              <a:rPr lang="en-US" sz="1800" dirty="0">
                <a:solidFill>
                  <a:srgbClr val="E2E8F0"/>
                </a:solidFill>
                <a:latin typeface="Calibri" pitchFamily="34" charset="0"/>
                <a:ea typeface="Calibri" pitchFamily="34" charset="-122"/>
                <a:cs typeface="Calibri" pitchFamily="34" charset="-120"/>
              </a:rPr>
              <a:t>All of it behind </a:t>
            </a:r>
            <a:pPr indent="0" marL="0">
              <a:lnSpc>
                <a:spcPct val="105000"/>
              </a:lnSpc>
              <a:buNone/>
            </a:pPr>
            <a:r>
              <a:rPr lang="en-US" sz="1800" b="1" dirty="0">
                <a:solidFill>
                  <a:srgbClr val="F1F5F9"/>
                </a:solidFill>
                <a:latin typeface="Courier New" pitchFamily="34" charset="0"/>
                <a:ea typeface="Courier New" pitchFamily="34" charset="-122"/>
                <a:cs typeface="Courier New" pitchFamily="34" charset="-120"/>
              </a:rPr>
              <a:t>python main.py</a:t>
            </a:r>
            <a:pPr indent="0" marL="0">
              <a:lnSpc>
                <a:spcPct val="105000"/>
              </a:lnSpc>
              <a:buNone/>
            </a:pPr>
            <a:r>
              <a:rPr lang="en-US" sz="1800" dirty="0">
                <a:solidFill>
                  <a:srgbClr val="E2E8F0"/>
                </a:solidFill>
                <a:latin typeface="Calibri" pitchFamily="34" charset="0"/>
                <a:ea typeface="Calibri" pitchFamily="34" charset="-122"/>
                <a:cs typeface="Calibri" pitchFamily="34" charset="-120"/>
              </a:rPr>
              <a:t>.</a:t>
            </a:r>
            <a:endParaRPr lang="en-US" sz="1800" dirty="0"/>
          </a:p>
        </p:txBody>
      </p:sp>
      <p:sp>
        <p:nvSpPr>
          <p:cNvPr id="6" name="Text 3"/>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Streamlit front-end  ·  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Calibri" pitchFamily="34" charset="0"/>
                <a:ea typeface="Calibri" pitchFamily="34" charset="-122"/>
                <a:cs typeface="Calibri" pitchFamily="34" charset="-120"/>
              </a:rPr>
              <a:t>The CLI computes nothing; it draws one object the pipeline returns</a:t>
            </a:r>
            <a:endParaRPr lang="en-US" sz="3200" dirty="0"/>
          </a:p>
        </p:txBody>
      </p:sp>
      <p:sp>
        <p:nvSpPr>
          <p:cNvPr id="3" name="Text 1"/>
          <p:cNvSpPr txBox="1"/>
          <p:nvPr/>
        </p:nvSpPr>
        <p:spPr>
          <a:xfrm>
            <a:off x="640080" y="1874520"/>
            <a:ext cx="7863840" cy="640080"/>
          </a:xfrm>
          <a:prstGeom prst="rect">
            <a:avLst/>
          </a:prstGeom>
          <a:noFill/>
          <a:ln/>
        </p:spPr>
        <p:txBody>
          <a:bodyPr wrap="square" lIns="0" tIns="0" rIns="0" bIns="0" rtlCol="0" anchor="ctr"/>
          <a:lstStyle/>
          <a:p>
            <a:pPr indent="0" marL="0">
              <a:buNone/>
            </a:pPr>
            <a:r>
              <a:rPr lang="en-US" sz="3000" b="1" dirty="0">
                <a:solidFill>
                  <a:srgbClr val="FCA311"/>
                </a:solidFill>
                <a:latin typeface="Courier New" pitchFamily="34" charset="0"/>
                <a:ea typeface="Courier New" pitchFamily="34" charset="-122"/>
                <a:cs typeface="Courier New" pitchFamily="34" charset="-120"/>
              </a:rPr>
              <a:t>RAGPipeline.ask()  →  RAGResponse</a:t>
            </a:r>
            <a:endParaRPr lang="en-US" sz="3000" dirty="0"/>
          </a:p>
        </p:txBody>
      </p:sp>
      <p:sp>
        <p:nvSpPr>
          <p:cNvPr id="4" name="Text 2"/>
          <p:cNvSpPr txBox="1"/>
          <p:nvPr/>
        </p:nvSpPr>
        <p:spPr>
          <a:xfrm>
            <a:off x="640080" y="2560320"/>
            <a:ext cx="7863840" cy="36576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rewrite  ·  chunks  ·  sources  ·  answer  ·  timings  ·  provider  ·  model</a:t>
            </a:r>
            <a:endParaRPr lang="en-US" sz="1800" dirty="0"/>
          </a:p>
        </p:txBody>
      </p:sp>
      <p:sp>
        <p:nvSpPr>
          <p:cNvPr id="5" name="Text 3"/>
          <p:cNvSpPr txBox="1"/>
          <p:nvPr/>
        </p:nvSpPr>
        <p:spPr>
          <a:xfrm>
            <a:off x="640080" y="3246120"/>
            <a:ext cx="6949440" cy="1097280"/>
          </a:xfrm>
          <a:prstGeom prst="rect">
            <a:avLst/>
          </a:prstGeom>
          <a:noFill/>
          <a:ln/>
        </p:spPr>
        <p:txBody>
          <a:bodyPr wrap="square" lIns="0" tIns="0" rIns="0" bIns="0" rtlCol="0" anchor="t"/>
          <a:lstStyle/>
          <a:p>
            <a:pPr indent="0" marL="0">
              <a:lnSpc>
                <a:spcPct val="105000"/>
              </a:lnSpc>
              <a:buNone/>
            </a:pPr>
            <a:r>
              <a:rPr lang="en-US" sz="2000" dirty="0">
                <a:solidFill>
                  <a:srgbClr val="E2E8F0"/>
                </a:solidFill>
                <a:latin typeface="Calibri" pitchFamily="34" charset="0"/>
                <a:ea typeface="Calibri" pitchFamily="34" charset="-122"/>
                <a:cs typeface="Calibri" pitchFamily="34" charset="-120"/>
              </a:rPr>
              <a:t>Everything main.py prints comes out of that one object. So a second front-end is a second renderer, not a second pipeline.</a:t>
            </a:r>
            <a:endParaRPr lang="en-US" sz="2000" dirty="0"/>
          </a:p>
        </p:txBody>
      </p:sp>
      <p:sp>
        <p:nvSpPr>
          <p:cNvPr id="6" name="Text 4"/>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Streamlit front-end  ·  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Calibri" pitchFamily="34" charset="0"/>
                <a:ea typeface="Calibri" pitchFamily="34" charset="-122"/>
                <a:cs typeface="Calibri" pitchFamily="34" charset="-120"/>
              </a:rPr>
              <a:t>Four rules were fixed before the first line of Streamlit</a:t>
            </a:r>
            <a:endParaRPr lang="en-US" sz="3200" dirty="0"/>
          </a:p>
        </p:txBody>
      </p:sp>
      <p:sp>
        <p:nvSpPr>
          <p:cNvPr id="3" name="Text 1"/>
          <p:cNvSpPr txBox="1"/>
          <p:nvPr/>
        </p:nvSpPr>
        <p:spPr>
          <a:xfrm>
            <a:off x="640080" y="1783080"/>
            <a:ext cx="411480" cy="411480"/>
          </a:xfrm>
          <a:prstGeom prst="rect">
            <a:avLst/>
          </a:prstGeom>
          <a:noFill/>
          <a:ln/>
        </p:spPr>
        <p:txBody>
          <a:bodyPr wrap="square" lIns="0" tIns="0" rIns="0" bIns="0" rtlCol="0" anchor="t"/>
          <a:lstStyle/>
          <a:p>
            <a:pPr indent="0" marL="0">
              <a:buNone/>
            </a:pPr>
            <a:r>
              <a:rPr lang="en-US" sz="2000" b="1" dirty="0">
                <a:solidFill>
                  <a:srgbClr val="FCA311"/>
                </a:solidFill>
                <a:latin typeface="Calibri" pitchFamily="34" charset="0"/>
                <a:ea typeface="Calibri" pitchFamily="34" charset="-122"/>
                <a:cs typeface="Calibri" pitchFamily="34" charset="-120"/>
              </a:rPr>
              <a:t>1</a:t>
            </a:r>
            <a:endParaRPr lang="en-US" sz="2000" dirty="0"/>
          </a:p>
        </p:txBody>
      </p:sp>
      <p:sp>
        <p:nvSpPr>
          <p:cNvPr id="4" name="Text 2"/>
          <p:cNvSpPr txBox="1"/>
          <p:nvPr/>
        </p:nvSpPr>
        <p:spPr>
          <a:xfrm>
            <a:off x="1143000" y="1783080"/>
            <a:ext cx="7360920" cy="621792"/>
          </a:xfrm>
          <a:prstGeom prst="rect">
            <a:avLst/>
          </a:prstGeom>
          <a:noFill/>
          <a:ln/>
        </p:spPr>
        <p:txBody>
          <a:bodyPr wrap="square" lIns="0" tIns="0" rIns="0" bIns="0" rtlCol="0" anchor="t"/>
          <a:lstStyle/>
          <a:p>
            <a:pPr indent="0" marL="0">
              <a:buNone/>
            </a:pPr>
            <a:r>
              <a:rPr lang="en-US" sz="2000" dirty="0">
                <a:solidFill>
                  <a:srgbClr val="E2E8F0"/>
                </a:solidFill>
                <a:latin typeface="Calibri" pitchFamily="34" charset="0"/>
                <a:ea typeface="Calibri" pitchFamily="34" charset="-122"/>
                <a:cs typeface="Calibri" pitchFamily="34" charset="-120"/>
              </a:rPr>
              <a:t>The CLI stays the reference and keeps every feature.</a:t>
            </a:r>
            <a:endParaRPr lang="en-US" sz="2000" dirty="0"/>
          </a:p>
        </p:txBody>
      </p:sp>
      <p:sp>
        <p:nvSpPr>
          <p:cNvPr id="5" name="Text 3"/>
          <p:cNvSpPr txBox="1"/>
          <p:nvPr/>
        </p:nvSpPr>
        <p:spPr>
          <a:xfrm>
            <a:off x="640080" y="2496312"/>
            <a:ext cx="411480" cy="411480"/>
          </a:xfrm>
          <a:prstGeom prst="rect">
            <a:avLst/>
          </a:prstGeom>
          <a:noFill/>
          <a:ln/>
        </p:spPr>
        <p:txBody>
          <a:bodyPr wrap="square" lIns="0" tIns="0" rIns="0" bIns="0" rtlCol="0" anchor="t"/>
          <a:lstStyle/>
          <a:p>
            <a:pPr indent="0" marL="0">
              <a:buNone/>
            </a:pPr>
            <a:r>
              <a:rPr lang="en-US" sz="2000" b="1" dirty="0">
                <a:solidFill>
                  <a:srgbClr val="FCA311"/>
                </a:solidFill>
                <a:latin typeface="Calibri" pitchFamily="34" charset="0"/>
                <a:ea typeface="Calibri" pitchFamily="34" charset="-122"/>
                <a:cs typeface="Calibri" pitchFamily="34" charset="-120"/>
              </a:rPr>
              <a:t>2</a:t>
            </a:r>
            <a:endParaRPr lang="en-US" sz="2000" dirty="0"/>
          </a:p>
        </p:txBody>
      </p:sp>
      <p:sp>
        <p:nvSpPr>
          <p:cNvPr id="6" name="Text 4"/>
          <p:cNvSpPr txBox="1"/>
          <p:nvPr/>
        </p:nvSpPr>
        <p:spPr>
          <a:xfrm>
            <a:off x="1143000" y="2496312"/>
            <a:ext cx="7360920" cy="621792"/>
          </a:xfrm>
          <a:prstGeom prst="rect">
            <a:avLst/>
          </a:prstGeom>
          <a:noFill/>
          <a:ln/>
        </p:spPr>
        <p:txBody>
          <a:bodyPr wrap="square" lIns="0" tIns="0" rIns="0" bIns="0" rtlCol="0" anchor="t"/>
          <a:lstStyle/>
          <a:p>
            <a:pPr indent="0" marL="0">
              <a:buNone/>
            </a:pPr>
            <a:r>
              <a:rPr lang="en-US" sz="2000" dirty="0">
                <a:solidFill>
                  <a:srgbClr val="E2E8F0"/>
                </a:solidFill>
                <a:latin typeface="Calibri" pitchFamily="34" charset="0"/>
                <a:ea typeface="Calibri" pitchFamily="34" charset="-122"/>
                <a:cs typeface="Calibri" pitchFamily="34" charset="-120"/>
              </a:rPr>
              <a:t>Nothing inside src/ or evaluation/ changes.</a:t>
            </a:r>
            <a:endParaRPr lang="en-US" sz="2000" dirty="0"/>
          </a:p>
        </p:txBody>
      </p:sp>
      <p:sp>
        <p:nvSpPr>
          <p:cNvPr id="7" name="Text 5"/>
          <p:cNvSpPr txBox="1"/>
          <p:nvPr/>
        </p:nvSpPr>
        <p:spPr>
          <a:xfrm>
            <a:off x="640080" y="3209544"/>
            <a:ext cx="411480" cy="411480"/>
          </a:xfrm>
          <a:prstGeom prst="rect">
            <a:avLst/>
          </a:prstGeom>
          <a:noFill/>
          <a:ln/>
        </p:spPr>
        <p:txBody>
          <a:bodyPr wrap="square" lIns="0" tIns="0" rIns="0" bIns="0" rtlCol="0" anchor="t"/>
          <a:lstStyle/>
          <a:p>
            <a:pPr indent="0" marL="0">
              <a:buNone/>
            </a:pPr>
            <a:r>
              <a:rPr lang="en-US" sz="2000" b="1" dirty="0">
                <a:solidFill>
                  <a:srgbClr val="FCA311"/>
                </a:solidFill>
                <a:latin typeface="Calibri" pitchFamily="34" charset="0"/>
                <a:ea typeface="Calibri" pitchFamily="34" charset="-122"/>
                <a:cs typeface="Calibri" pitchFamily="34" charset="-120"/>
              </a:rPr>
              <a:t>3</a:t>
            </a:r>
            <a:endParaRPr lang="en-US" sz="2000" dirty="0"/>
          </a:p>
        </p:txBody>
      </p:sp>
      <p:sp>
        <p:nvSpPr>
          <p:cNvPr id="8" name="Text 6"/>
          <p:cNvSpPr txBox="1"/>
          <p:nvPr/>
        </p:nvSpPr>
        <p:spPr>
          <a:xfrm>
            <a:off x="1143000" y="3209544"/>
            <a:ext cx="7360920" cy="621792"/>
          </a:xfrm>
          <a:prstGeom prst="rect">
            <a:avLst/>
          </a:prstGeom>
          <a:noFill/>
          <a:ln/>
        </p:spPr>
        <p:txBody>
          <a:bodyPr wrap="square" lIns="0" tIns="0" rIns="0" bIns="0" rtlCol="0" anchor="t"/>
          <a:lstStyle/>
          <a:p>
            <a:pPr indent="0" marL="0">
              <a:buNone/>
            </a:pPr>
            <a:r>
              <a:rPr lang="en-US" sz="2000" dirty="0">
                <a:solidFill>
                  <a:srgbClr val="E2E8F0"/>
                </a:solidFill>
                <a:latin typeface="Calibri" pitchFamily="34" charset="0"/>
                <a:ea typeface="Calibri" pitchFamily="34" charset="-122"/>
                <a:cs typeface="Calibri" pitchFamily="34" charset="-120"/>
              </a:rPr>
              <a:t>Same settings and the same numbers in both front-ends.</a:t>
            </a:r>
            <a:endParaRPr lang="en-US" sz="2000" dirty="0"/>
          </a:p>
        </p:txBody>
      </p:sp>
      <p:sp>
        <p:nvSpPr>
          <p:cNvPr id="9" name="Text 7"/>
          <p:cNvSpPr txBox="1"/>
          <p:nvPr/>
        </p:nvSpPr>
        <p:spPr>
          <a:xfrm>
            <a:off x="640080" y="3922776"/>
            <a:ext cx="411480" cy="411480"/>
          </a:xfrm>
          <a:prstGeom prst="rect">
            <a:avLst/>
          </a:prstGeom>
          <a:noFill/>
          <a:ln/>
        </p:spPr>
        <p:txBody>
          <a:bodyPr wrap="square" lIns="0" tIns="0" rIns="0" bIns="0" rtlCol="0" anchor="t"/>
          <a:lstStyle/>
          <a:p>
            <a:pPr indent="0" marL="0">
              <a:buNone/>
            </a:pPr>
            <a:r>
              <a:rPr lang="en-US" sz="2000" b="1" dirty="0">
                <a:solidFill>
                  <a:srgbClr val="FCA311"/>
                </a:solidFill>
                <a:latin typeface="Calibri" pitchFamily="34" charset="0"/>
                <a:ea typeface="Calibri" pitchFamily="34" charset="-122"/>
                <a:cs typeface="Calibri" pitchFamily="34" charset="-120"/>
              </a:rPr>
              <a:t>4</a:t>
            </a:r>
            <a:endParaRPr lang="en-US" sz="2000" dirty="0"/>
          </a:p>
        </p:txBody>
      </p:sp>
      <p:sp>
        <p:nvSpPr>
          <p:cNvPr id="10" name="Text 8"/>
          <p:cNvSpPr txBox="1"/>
          <p:nvPr/>
        </p:nvSpPr>
        <p:spPr>
          <a:xfrm>
            <a:off x="1143000" y="3922776"/>
            <a:ext cx="7360920" cy="621792"/>
          </a:xfrm>
          <a:prstGeom prst="rect">
            <a:avLst/>
          </a:prstGeom>
          <a:noFill/>
          <a:ln/>
        </p:spPr>
        <p:txBody>
          <a:bodyPr wrap="square" lIns="0" tIns="0" rIns="0" bIns="0" rtlCol="0" anchor="t"/>
          <a:lstStyle/>
          <a:p>
            <a:pPr indent="0" marL="0">
              <a:buNone/>
            </a:pPr>
            <a:r>
              <a:rPr lang="en-US" sz="2000" dirty="0">
                <a:solidFill>
                  <a:srgbClr val="E2E8F0"/>
                </a:solidFill>
                <a:latin typeface="Calibri" pitchFamily="34" charset="0"/>
                <a:ea typeface="Calibri" pitchFamily="34" charset="-122"/>
                <a:cs typeface="Calibri" pitchFamily="34" charset="-120"/>
              </a:rPr>
              <a:t>Heavy objects load once per server and are shared.</a:t>
            </a:r>
            <a:endParaRPr lang="en-US" sz="2000" dirty="0"/>
          </a:p>
        </p:txBody>
      </p:sp>
      <p:sp>
        <p:nvSpPr>
          <p:cNvPr id="11" name="Text 9"/>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Streamlit front-end  ·  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Calibri" pitchFamily="34" charset="0"/>
                <a:ea typeface="Calibri" pitchFamily="34" charset="-122"/>
                <a:cs typeface="Calibri" pitchFamily="34" charset="-120"/>
              </a:rPr>
              <a:t>Three files are new; pipeline, ingest and evaluation are imported unchanged</a:t>
            </a:r>
            <a:endParaRPr lang="en-US" sz="3200" dirty="0"/>
          </a:p>
        </p:txBody>
      </p:sp>
      <p:sp>
        <p:nvSpPr>
          <p:cNvPr id="3" name="Shape 1"/>
          <p:cNvSpPr/>
          <p:nvPr/>
        </p:nvSpPr>
        <p:spPr>
          <a:xfrm>
            <a:off x="640080" y="1691640"/>
            <a:ext cx="7863840" cy="1143000"/>
          </a:xfrm>
          <a:prstGeom prst="rect">
            <a:avLst/>
          </a:prstGeom>
          <a:noFill/>
          <a:ln w="9525">
            <a:solidFill>
              <a:srgbClr val="64748B"/>
            </a:solidFill>
            <a:prstDash val="dash"/>
          </a:ln>
        </p:spPr>
      </p:sp>
      <p:sp>
        <p:nvSpPr>
          <p:cNvPr id="4" name="Text 2"/>
          <p:cNvSpPr txBox="1"/>
          <p:nvPr/>
        </p:nvSpPr>
        <p:spPr>
          <a:xfrm>
            <a:off x="731520" y="1709928"/>
            <a:ext cx="7680960" cy="228600"/>
          </a:xfrm>
          <a:prstGeom prst="rect">
            <a:avLst/>
          </a:prstGeom>
          <a:noFill/>
          <a:ln/>
        </p:spPr>
        <p:txBody>
          <a:bodyPr wrap="square" lIns="0" tIns="0" rIns="0" bIns="0" rtlCol="0" anchor="ctr"/>
          <a:lstStyle/>
          <a:p>
            <a:pPr indent="0" marL="0">
              <a:buNone/>
            </a:pPr>
            <a:r>
              <a:rPr lang="en-US" sz="900" b="1" spc="100" kern="0" dirty="0">
                <a:solidFill>
                  <a:srgbClr val="94A3B8"/>
                </a:solidFill>
                <a:latin typeface="Calibri" pitchFamily="34" charset="0"/>
                <a:ea typeface="Calibri" pitchFamily="34" charset="-122"/>
                <a:cs typeface="Calibri" pitchFamily="34" charset="-120"/>
              </a:rPr>
              <a:t>FRONT-ENDS  (neither imports the other)</a:t>
            </a:r>
            <a:endParaRPr lang="en-US" sz="900" dirty="0"/>
          </a:p>
        </p:txBody>
      </p:sp>
      <p:sp>
        <p:nvSpPr>
          <p:cNvPr id="5" name="Shape 3"/>
          <p:cNvSpPr/>
          <p:nvPr/>
        </p:nvSpPr>
        <p:spPr>
          <a:xfrm>
            <a:off x="4754880" y="2697480"/>
            <a:ext cx="0" cy="502920"/>
          </a:xfrm>
          <a:prstGeom prst="line">
            <a:avLst/>
          </a:prstGeom>
          <a:noFill/>
          <a:ln w="15875">
            <a:solidFill>
              <a:srgbClr val="94A3B8"/>
            </a:solidFill>
            <a:prstDash val="solid"/>
            <a:tailEnd type="triangle"/>
          </a:ln>
        </p:spPr>
      </p:sp>
      <p:sp>
        <p:nvSpPr>
          <p:cNvPr id="6" name="Shape 4"/>
          <p:cNvSpPr/>
          <p:nvPr/>
        </p:nvSpPr>
        <p:spPr>
          <a:xfrm>
            <a:off x="4206240" y="2697480"/>
            <a:ext cx="0" cy="274320"/>
          </a:xfrm>
          <a:prstGeom prst="line">
            <a:avLst/>
          </a:prstGeom>
          <a:noFill/>
          <a:ln w="15875">
            <a:solidFill>
              <a:srgbClr val="94A3B8"/>
            </a:solidFill>
            <a:prstDash val="solid"/>
          </a:ln>
        </p:spPr>
      </p:sp>
      <p:sp>
        <p:nvSpPr>
          <p:cNvPr id="7" name="Shape 5"/>
          <p:cNvSpPr/>
          <p:nvPr/>
        </p:nvSpPr>
        <p:spPr>
          <a:xfrm flipH="1">
            <a:off x="1965960" y="2971800"/>
            <a:ext cx="2240280" cy="0"/>
          </a:xfrm>
          <a:prstGeom prst="line">
            <a:avLst/>
          </a:prstGeom>
          <a:noFill/>
          <a:ln w="15875">
            <a:solidFill>
              <a:srgbClr val="94A3B8"/>
            </a:solidFill>
            <a:prstDash val="solid"/>
          </a:ln>
        </p:spPr>
      </p:sp>
      <p:sp>
        <p:nvSpPr>
          <p:cNvPr id="8" name="Shape 6"/>
          <p:cNvSpPr/>
          <p:nvPr/>
        </p:nvSpPr>
        <p:spPr>
          <a:xfrm>
            <a:off x="1965960" y="2971800"/>
            <a:ext cx="0" cy="274320"/>
          </a:xfrm>
          <a:prstGeom prst="line">
            <a:avLst/>
          </a:prstGeom>
          <a:noFill/>
          <a:ln w="15875">
            <a:solidFill>
              <a:srgbClr val="94A3B8"/>
            </a:solidFill>
            <a:prstDash val="solid"/>
            <a:tailEnd type="triangle"/>
          </a:ln>
        </p:spPr>
      </p:sp>
      <p:sp>
        <p:nvSpPr>
          <p:cNvPr id="9" name="Shape 7"/>
          <p:cNvSpPr/>
          <p:nvPr/>
        </p:nvSpPr>
        <p:spPr>
          <a:xfrm>
            <a:off x="5303520" y="2697480"/>
            <a:ext cx="0" cy="274320"/>
          </a:xfrm>
          <a:prstGeom prst="line">
            <a:avLst/>
          </a:prstGeom>
          <a:noFill/>
          <a:ln w="15875">
            <a:solidFill>
              <a:srgbClr val="94A3B8"/>
            </a:solidFill>
            <a:prstDash val="solid"/>
          </a:ln>
        </p:spPr>
      </p:sp>
      <p:sp>
        <p:nvSpPr>
          <p:cNvPr id="10" name="Shape 8"/>
          <p:cNvSpPr/>
          <p:nvPr/>
        </p:nvSpPr>
        <p:spPr>
          <a:xfrm>
            <a:off x="5303520" y="2971800"/>
            <a:ext cx="1874520" cy="0"/>
          </a:xfrm>
          <a:prstGeom prst="line">
            <a:avLst/>
          </a:prstGeom>
          <a:noFill/>
          <a:ln w="15875">
            <a:solidFill>
              <a:srgbClr val="94A3B8"/>
            </a:solidFill>
            <a:prstDash val="solid"/>
          </a:ln>
        </p:spPr>
      </p:sp>
      <p:sp>
        <p:nvSpPr>
          <p:cNvPr id="11" name="Shape 9"/>
          <p:cNvSpPr/>
          <p:nvPr/>
        </p:nvSpPr>
        <p:spPr>
          <a:xfrm>
            <a:off x="7178040" y="2971800"/>
            <a:ext cx="0" cy="274320"/>
          </a:xfrm>
          <a:prstGeom prst="line">
            <a:avLst/>
          </a:prstGeom>
          <a:noFill/>
          <a:ln w="15875">
            <a:solidFill>
              <a:srgbClr val="94A3B8"/>
            </a:solidFill>
            <a:prstDash val="solid"/>
            <a:tailEnd type="triangle"/>
          </a:ln>
        </p:spPr>
      </p:sp>
      <p:sp>
        <p:nvSpPr>
          <p:cNvPr id="12" name="Shape 10"/>
          <p:cNvSpPr/>
          <p:nvPr/>
        </p:nvSpPr>
        <p:spPr>
          <a:xfrm>
            <a:off x="1965960" y="3931920"/>
            <a:ext cx="0" cy="137160"/>
          </a:xfrm>
          <a:prstGeom prst="line">
            <a:avLst/>
          </a:prstGeom>
          <a:noFill/>
          <a:ln w="15875">
            <a:solidFill>
              <a:srgbClr val="94A3B8"/>
            </a:solidFill>
            <a:prstDash val="solid"/>
          </a:ln>
        </p:spPr>
      </p:sp>
      <p:sp>
        <p:nvSpPr>
          <p:cNvPr id="13" name="Shape 11"/>
          <p:cNvSpPr/>
          <p:nvPr/>
        </p:nvSpPr>
        <p:spPr>
          <a:xfrm>
            <a:off x="1965960" y="4069080"/>
            <a:ext cx="2788920" cy="0"/>
          </a:xfrm>
          <a:prstGeom prst="line">
            <a:avLst/>
          </a:prstGeom>
          <a:noFill/>
          <a:ln w="15875">
            <a:solidFill>
              <a:srgbClr val="94A3B8"/>
            </a:solidFill>
            <a:prstDash val="solid"/>
          </a:ln>
        </p:spPr>
      </p:sp>
      <p:sp>
        <p:nvSpPr>
          <p:cNvPr id="14" name="Shape 12"/>
          <p:cNvSpPr/>
          <p:nvPr/>
        </p:nvSpPr>
        <p:spPr>
          <a:xfrm>
            <a:off x="4754880" y="4069080"/>
            <a:ext cx="0" cy="137160"/>
          </a:xfrm>
          <a:prstGeom prst="line">
            <a:avLst/>
          </a:prstGeom>
          <a:noFill/>
          <a:ln w="15875">
            <a:solidFill>
              <a:srgbClr val="94A3B8"/>
            </a:solidFill>
            <a:prstDash val="solid"/>
            <a:tailEnd type="triangle"/>
          </a:ln>
        </p:spPr>
      </p:sp>
      <p:sp>
        <p:nvSpPr>
          <p:cNvPr id="15" name="Shape 13"/>
          <p:cNvSpPr/>
          <p:nvPr/>
        </p:nvSpPr>
        <p:spPr>
          <a:xfrm flipH="1">
            <a:off x="4754880" y="3977640"/>
            <a:ext cx="0" cy="228600"/>
          </a:xfrm>
          <a:prstGeom prst="line">
            <a:avLst/>
          </a:prstGeom>
          <a:noFill/>
          <a:ln w="15875">
            <a:solidFill>
              <a:srgbClr val="94A3B8"/>
            </a:solidFill>
            <a:prstDash val="solid"/>
            <a:tailEnd type="triangle"/>
          </a:ln>
        </p:spPr>
      </p:sp>
      <p:sp>
        <p:nvSpPr>
          <p:cNvPr id="16" name="Shape 14"/>
          <p:cNvSpPr/>
          <p:nvPr/>
        </p:nvSpPr>
        <p:spPr>
          <a:xfrm>
            <a:off x="7178040" y="3931920"/>
            <a:ext cx="0" cy="137160"/>
          </a:xfrm>
          <a:prstGeom prst="line">
            <a:avLst/>
          </a:prstGeom>
          <a:noFill/>
          <a:ln w="15875">
            <a:solidFill>
              <a:srgbClr val="94A3B8"/>
            </a:solidFill>
            <a:prstDash val="solid"/>
          </a:ln>
        </p:spPr>
      </p:sp>
      <p:sp>
        <p:nvSpPr>
          <p:cNvPr id="17" name="Shape 15"/>
          <p:cNvSpPr/>
          <p:nvPr/>
        </p:nvSpPr>
        <p:spPr>
          <a:xfrm flipH="1">
            <a:off x="4754880" y="4069080"/>
            <a:ext cx="2423160" cy="0"/>
          </a:xfrm>
          <a:prstGeom prst="line">
            <a:avLst/>
          </a:prstGeom>
          <a:noFill/>
          <a:ln w="15875">
            <a:solidFill>
              <a:srgbClr val="94A3B8"/>
            </a:solidFill>
            <a:prstDash val="solid"/>
          </a:ln>
        </p:spPr>
      </p:sp>
      <p:sp>
        <p:nvSpPr>
          <p:cNvPr id="18" name="Shape 16"/>
          <p:cNvSpPr/>
          <p:nvPr/>
        </p:nvSpPr>
        <p:spPr>
          <a:xfrm>
            <a:off x="4754880" y="4069080"/>
            <a:ext cx="0" cy="137160"/>
          </a:xfrm>
          <a:prstGeom prst="line">
            <a:avLst/>
          </a:prstGeom>
          <a:noFill/>
          <a:ln w="15875">
            <a:solidFill>
              <a:srgbClr val="94A3B8"/>
            </a:solidFill>
            <a:prstDash val="solid"/>
            <a:tailEnd type="triangle"/>
          </a:ln>
        </p:spPr>
      </p:sp>
      <p:sp>
        <p:nvSpPr>
          <p:cNvPr id="19" name="Shape 17"/>
          <p:cNvSpPr/>
          <p:nvPr/>
        </p:nvSpPr>
        <p:spPr>
          <a:xfrm>
            <a:off x="822960" y="1965960"/>
            <a:ext cx="2286000" cy="731520"/>
          </a:xfrm>
          <a:prstGeom prst="roundRect">
            <a:avLst>
              <a:gd name="adj" fmla="val 10000"/>
            </a:avLst>
          </a:prstGeom>
          <a:solidFill>
            <a:srgbClr val="1E293B"/>
          </a:solidFill>
          <a:ln w="9525">
            <a:solidFill>
              <a:srgbClr val="475569"/>
            </a:solidFill>
            <a:prstDash val="solid"/>
          </a:ln>
        </p:spPr>
      </p:sp>
      <p:sp>
        <p:nvSpPr>
          <p:cNvPr id="20" name="Text 18"/>
          <p:cNvSpPr txBox="1"/>
          <p:nvPr/>
        </p:nvSpPr>
        <p:spPr>
          <a:xfrm>
            <a:off x="877824" y="1965960"/>
            <a:ext cx="2176272" cy="731520"/>
          </a:xfrm>
          <a:prstGeom prst="rect">
            <a:avLst/>
          </a:prstGeom>
          <a:noFill/>
          <a:ln/>
        </p:spPr>
        <p:txBody>
          <a:bodyPr wrap="square" lIns="25400" tIns="25400" rIns="25400" bIns="25400"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main.py</a:t>
            </a:r>
            <a:endParaRPr lang="en-US" sz="1200" dirty="0"/>
          </a:p>
          <a:p>
            <a:pPr algn="ctr" indent="0" marL="0">
              <a:buNone/>
            </a:pPr>
            <a:r>
              <a:rPr lang="en-US" sz="950" dirty="0">
                <a:solidFill>
                  <a:srgbClr val="94A3B8"/>
                </a:solidFill>
                <a:latin typeface="Calibri" pitchFamily="34" charset="0"/>
                <a:ea typeface="Calibri" pitchFamily="34" charset="-122"/>
                <a:cs typeface="Calibri" pitchFamily="34" charset="-120"/>
              </a:rPr>
              <a:t>renders with src/console.py</a:t>
            </a:r>
            <a:endParaRPr lang="en-US" sz="1200" dirty="0"/>
          </a:p>
        </p:txBody>
      </p:sp>
      <p:sp>
        <p:nvSpPr>
          <p:cNvPr id="21" name="Shape 19"/>
          <p:cNvSpPr/>
          <p:nvPr/>
        </p:nvSpPr>
        <p:spPr>
          <a:xfrm>
            <a:off x="3611880" y="1965960"/>
            <a:ext cx="2286000" cy="731520"/>
          </a:xfrm>
          <a:prstGeom prst="roundRect">
            <a:avLst>
              <a:gd name="adj" fmla="val 43750"/>
            </a:avLst>
          </a:prstGeom>
          <a:solidFill>
            <a:srgbClr val="2B4A8A"/>
          </a:solidFill>
          <a:ln w="9525">
            <a:solidFill>
              <a:srgbClr val="2B4A8A"/>
            </a:solidFill>
            <a:prstDash val="solid"/>
          </a:ln>
        </p:spPr>
      </p:sp>
      <p:sp>
        <p:nvSpPr>
          <p:cNvPr id="22" name="Text 20"/>
          <p:cNvSpPr txBox="1"/>
          <p:nvPr/>
        </p:nvSpPr>
        <p:spPr>
          <a:xfrm>
            <a:off x="3666744" y="1965960"/>
            <a:ext cx="2176272" cy="73152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app.py  (new)</a:t>
            </a:r>
            <a:endParaRPr lang="en-US" sz="1200" dirty="0"/>
          </a:p>
          <a:p>
            <a:pPr algn="ctr" indent="0" marL="0">
              <a:buNone/>
            </a:pPr>
            <a:r>
              <a:rPr lang="en-US" sz="950" dirty="0">
                <a:solidFill>
                  <a:srgbClr val="C9D6EE"/>
                </a:solidFill>
                <a:latin typeface="Calibri" pitchFamily="34" charset="0"/>
                <a:ea typeface="Calibri" pitchFamily="34" charset="-122"/>
                <a:cs typeface="Calibri" pitchFamily="34" charset="-120"/>
              </a:rPr>
              <a:t>renders with ui/components.py</a:t>
            </a:r>
            <a:endParaRPr lang="en-US" sz="1200" dirty="0"/>
          </a:p>
        </p:txBody>
      </p:sp>
      <p:sp>
        <p:nvSpPr>
          <p:cNvPr id="23" name="Shape 21"/>
          <p:cNvSpPr/>
          <p:nvPr/>
        </p:nvSpPr>
        <p:spPr>
          <a:xfrm>
            <a:off x="6035040" y="1965960"/>
            <a:ext cx="2286000" cy="731520"/>
          </a:xfrm>
          <a:prstGeom prst="roundRect">
            <a:avLst>
              <a:gd name="adj" fmla="val 10000"/>
            </a:avLst>
          </a:prstGeom>
          <a:solidFill>
            <a:srgbClr val="3A2E12"/>
          </a:solidFill>
          <a:ln w="9525">
            <a:solidFill>
              <a:srgbClr val="3A2E12"/>
            </a:solidFill>
            <a:prstDash val="solid"/>
          </a:ln>
        </p:spPr>
      </p:sp>
      <p:sp>
        <p:nvSpPr>
          <p:cNvPr id="24" name="Text 22"/>
          <p:cNvSpPr txBox="1"/>
          <p:nvPr/>
        </p:nvSpPr>
        <p:spPr>
          <a:xfrm>
            <a:off x="6089904" y="1965960"/>
            <a:ext cx="2176272" cy="731520"/>
          </a:xfrm>
          <a:prstGeom prst="rect">
            <a:avLst/>
          </a:prstGeom>
          <a:noFill/>
          <a:ln/>
        </p:spPr>
        <p:txBody>
          <a:bodyPr wrap="square" lIns="25400" tIns="25400" rIns="25400" bIns="25400"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src/frontend.py  (new)</a:t>
            </a:r>
            <a:endParaRPr lang="en-US" sz="1200" dirty="0"/>
          </a:p>
          <a:p>
            <a:pPr algn="ctr" indent="0" marL="0">
              <a:buNone/>
            </a:pPr>
            <a:r>
              <a:rPr lang="en-US" sz="950" dirty="0">
                <a:solidFill>
                  <a:srgbClr val="94A3B8"/>
                </a:solidFill>
                <a:latin typeface="Calibri" pitchFamily="34" charset="0"/>
                <a:ea typeface="Calibri" pitchFamily="34" charset="-122"/>
                <a:cs typeface="Calibri" pitchFamily="34" charset="-120"/>
              </a:rPr>
              <a:t>helpers both need</a:t>
            </a:r>
            <a:endParaRPr lang="en-US" sz="1200" dirty="0"/>
          </a:p>
        </p:txBody>
      </p:sp>
      <p:sp>
        <p:nvSpPr>
          <p:cNvPr id="25" name="Shape 23"/>
          <p:cNvSpPr/>
          <p:nvPr/>
        </p:nvSpPr>
        <p:spPr>
          <a:xfrm>
            <a:off x="822960" y="3246120"/>
            <a:ext cx="2286000" cy="685800"/>
          </a:xfrm>
          <a:prstGeom prst="roundRect">
            <a:avLst>
              <a:gd name="adj" fmla="val 10667"/>
            </a:avLst>
          </a:prstGeom>
          <a:solidFill>
            <a:srgbClr val="1E293B"/>
          </a:solidFill>
          <a:ln w="9525">
            <a:solidFill>
              <a:srgbClr val="475569"/>
            </a:solidFill>
            <a:prstDash val="solid"/>
          </a:ln>
        </p:spPr>
      </p:sp>
      <p:sp>
        <p:nvSpPr>
          <p:cNvPr id="26" name="Text 24"/>
          <p:cNvSpPr txBox="1"/>
          <p:nvPr/>
        </p:nvSpPr>
        <p:spPr>
          <a:xfrm>
            <a:off x="877824" y="3246120"/>
            <a:ext cx="2176272" cy="685800"/>
          </a:xfrm>
          <a:prstGeom prst="rect">
            <a:avLst/>
          </a:prstGeom>
          <a:noFill/>
          <a:ln/>
        </p:spPr>
        <p:txBody>
          <a:bodyPr wrap="square" lIns="25400" tIns="25400" rIns="25400" bIns="25400"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ingest()</a:t>
            </a:r>
            <a:endParaRPr lang="en-US" sz="1200" dirty="0"/>
          </a:p>
          <a:p>
            <a:pPr algn="ctr" indent="0" marL="0">
              <a:buNone/>
            </a:pPr>
            <a:r>
              <a:rPr lang="en-US" sz="950" dirty="0">
                <a:solidFill>
                  <a:srgbClr val="94A3B8"/>
                </a:solidFill>
                <a:latin typeface="Calibri" pitchFamily="34" charset="0"/>
                <a:ea typeface="Calibri" pitchFamily="34" charset="-122"/>
                <a:cs typeface="Calibri" pitchFamily="34" charset="-120"/>
              </a:rPr>
              <a:t>unchanged</a:t>
            </a:r>
            <a:endParaRPr lang="en-US" sz="1200" dirty="0"/>
          </a:p>
        </p:txBody>
      </p:sp>
      <p:sp>
        <p:nvSpPr>
          <p:cNvPr id="27" name="Shape 25"/>
          <p:cNvSpPr/>
          <p:nvPr/>
        </p:nvSpPr>
        <p:spPr>
          <a:xfrm>
            <a:off x="3291840" y="3200400"/>
            <a:ext cx="2926080" cy="777240"/>
          </a:xfrm>
          <a:prstGeom prst="can">
            <a:avLst/>
          </a:prstGeom>
          <a:solidFill>
            <a:srgbClr val="1E3A5F"/>
          </a:solidFill>
          <a:ln w="9525">
            <a:solidFill>
              <a:srgbClr val="3D5FA6"/>
            </a:solidFill>
            <a:prstDash val="solid"/>
          </a:ln>
        </p:spPr>
      </p:sp>
      <p:sp>
        <p:nvSpPr>
          <p:cNvPr id="28" name="Text 26"/>
          <p:cNvSpPr txBox="1"/>
          <p:nvPr/>
        </p:nvSpPr>
        <p:spPr>
          <a:xfrm>
            <a:off x="3346704" y="3200400"/>
            <a:ext cx="2816352" cy="777240"/>
          </a:xfrm>
          <a:prstGeom prst="rect">
            <a:avLst/>
          </a:prstGeom>
          <a:noFill/>
          <a:ln/>
        </p:spPr>
        <p:txBody>
          <a:bodyPr wrap="square" lIns="25400" tIns="25400" rIns="25400" bIns="25400"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RAGPipeline.ask()</a:t>
            </a:r>
            <a:endParaRPr lang="en-US" sz="1200" dirty="0"/>
          </a:p>
          <a:p>
            <a:pPr algn="ctr" indent="0" marL="0">
              <a:buNone/>
            </a:pPr>
            <a:r>
              <a:rPr lang="en-US" sz="950" dirty="0">
                <a:solidFill>
                  <a:srgbClr val="C9D6EE"/>
                </a:solidFill>
                <a:latin typeface="Calibri" pitchFamily="34" charset="0"/>
                <a:ea typeface="Calibri" pitchFamily="34" charset="-122"/>
                <a:cs typeface="Calibri" pitchFamily="34" charset="-120"/>
              </a:rPr>
              <a:t>unchanged</a:t>
            </a:r>
            <a:endParaRPr lang="en-US" sz="1200" dirty="0"/>
          </a:p>
        </p:txBody>
      </p:sp>
      <p:sp>
        <p:nvSpPr>
          <p:cNvPr id="29" name="Shape 27"/>
          <p:cNvSpPr/>
          <p:nvPr/>
        </p:nvSpPr>
        <p:spPr>
          <a:xfrm>
            <a:off x="6035040" y="3246120"/>
            <a:ext cx="2286000" cy="685800"/>
          </a:xfrm>
          <a:prstGeom prst="roundRect">
            <a:avLst>
              <a:gd name="adj" fmla="val 10667"/>
            </a:avLst>
          </a:prstGeom>
          <a:solidFill>
            <a:srgbClr val="1E293B"/>
          </a:solidFill>
          <a:ln w="9525">
            <a:solidFill>
              <a:srgbClr val="475569"/>
            </a:solidFill>
            <a:prstDash val="solid"/>
          </a:ln>
        </p:spPr>
      </p:sp>
      <p:sp>
        <p:nvSpPr>
          <p:cNvPr id="30" name="Text 28"/>
          <p:cNvSpPr txBox="1"/>
          <p:nvPr/>
        </p:nvSpPr>
        <p:spPr>
          <a:xfrm>
            <a:off x="6089904" y="3246120"/>
            <a:ext cx="2176272" cy="685800"/>
          </a:xfrm>
          <a:prstGeom prst="rect">
            <a:avLst/>
          </a:prstGeom>
          <a:noFill/>
          <a:ln/>
        </p:spPr>
        <p:txBody>
          <a:bodyPr wrap="square" lIns="25400" tIns="25400" rIns="25400" bIns="25400"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evaluation/</a:t>
            </a:r>
            <a:endParaRPr lang="en-US" sz="1200" dirty="0"/>
          </a:p>
          <a:p>
            <a:pPr algn="ctr" indent="0" marL="0">
              <a:buNone/>
            </a:pPr>
            <a:r>
              <a:rPr lang="en-US" sz="950" dirty="0">
                <a:solidFill>
                  <a:srgbClr val="94A3B8"/>
                </a:solidFill>
                <a:latin typeface="Calibri" pitchFamily="34" charset="0"/>
                <a:ea typeface="Calibri" pitchFamily="34" charset="-122"/>
                <a:cs typeface="Calibri" pitchFamily="34" charset="-120"/>
              </a:rPr>
              <a:t>unchanged</a:t>
            </a:r>
            <a:endParaRPr lang="en-US" sz="1200" dirty="0"/>
          </a:p>
        </p:txBody>
      </p:sp>
      <p:sp>
        <p:nvSpPr>
          <p:cNvPr id="31" name="Shape 29"/>
          <p:cNvSpPr/>
          <p:nvPr/>
        </p:nvSpPr>
        <p:spPr>
          <a:xfrm>
            <a:off x="2194560" y="4206240"/>
            <a:ext cx="5120640" cy="457200"/>
          </a:xfrm>
          <a:prstGeom prst="flowChartDocument">
            <a:avLst/>
          </a:prstGeom>
          <a:solidFill>
            <a:srgbClr val="0F172A"/>
          </a:solidFill>
          <a:ln w="9525">
            <a:solidFill>
              <a:srgbClr val="64748B"/>
            </a:solidFill>
            <a:prstDash val="solid"/>
          </a:ln>
        </p:spPr>
      </p:sp>
      <p:sp>
        <p:nvSpPr>
          <p:cNvPr id="32" name="Text 30"/>
          <p:cNvSpPr txBox="1"/>
          <p:nvPr/>
        </p:nvSpPr>
        <p:spPr>
          <a:xfrm>
            <a:off x="2249424" y="4206240"/>
            <a:ext cx="5010912" cy="457200"/>
          </a:xfrm>
          <a:prstGeom prst="rect">
            <a:avLst/>
          </a:prstGeom>
          <a:noFill/>
          <a:ln/>
        </p:spPr>
        <p:txBody>
          <a:bodyPr wrap="square" lIns="25400" tIns="25400" rIns="25400" bIns="25400"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data/  ·  chroma_db/  ·  results/   (shared by both front-ends)</a:t>
            </a:r>
            <a:endParaRPr lang="en-US" sz="1200" dirty="0"/>
          </a:p>
        </p:txBody>
      </p:sp>
      <p:sp>
        <p:nvSpPr>
          <p:cNvPr id="33" name="Text 31"/>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Streamlit front-end  ·  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Calibri" pitchFamily="34" charset="0"/>
                <a:ea typeface="Calibri" pitchFamily="34" charset="-122"/>
                <a:cs typeface="Calibri" pitchFamily="34" charset="-120"/>
              </a:rPr>
              <a:t>Before any Streamlit, 118 lines left main.py for a shared module</a:t>
            </a:r>
            <a:endParaRPr lang="en-US" sz="3200" dirty="0"/>
          </a:p>
        </p:txBody>
      </p:sp>
      <p:sp>
        <p:nvSpPr>
          <p:cNvPr id="3" name="Text 1"/>
          <p:cNvSpPr txBox="1"/>
          <p:nvPr/>
        </p:nvSpPr>
        <p:spPr>
          <a:xfrm>
            <a:off x="640080" y="1600200"/>
            <a:ext cx="2743200" cy="1463040"/>
          </a:xfrm>
          <a:prstGeom prst="rect">
            <a:avLst/>
          </a:prstGeom>
          <a:noFill/>
          <a:ln/>
        </p:spPr>
        <p:txBody>
          <a:bodyPr wrap="square" lIns="0" tIns="0" rIns="0" bIns="0" rtlCol="0" anchor="t"/>
          <a:lstStyle/>
          <a:p>
            <a:pPr indent="0" marL="0">
              <a:buNone/>
            </a:pPr>
            <a:r>
              <a:rPr lang="en-US" sz="9600" b="1" dirty="0">
                <a:solidFill>
                  <a:srgbClr val="FCA311"/>
                </a:solidFill>
                <a:latin typeface="Calibri" pitchFamily="34" charset="0"/>
                <a:ea typeface="Calibri" pitchFamily="34" charset="-122"/>
                <a:cs typeface="Calibri" pitchFamily="34" charset="-120"/>
              </a:rPr>
              <a:t>118</a:t>
            </a:r>
            <a:endParaRPr lang="en-US" sz="9600" dirty="0"/>
          </a:p>
        </p:txBody>
      </p:sp>
      <p:sp>
        <p:nvSpPr>
          <p:cNvPr id="4" name="Text 2"/>
          <p:cNvSpPr txBox="1"/>
          <p:nvPr/>
        </p:nvSpPr>
        <p:spPr>
          <a:xfrm>
            <a:off x="640080" y="3108960"/>
            <a:ext cx="3108960" cy="365760"/>
          </a:xfrm>
          <a:prstGeom prst="rect">
            <a:avLst/>
          </a:prstGeom>
          <a:noFill/>
          <a:ln/>
        </p:spPr>
        <p:txBody>
          <a:bodyPr wrap="square" lIns="0" tIns="0" rIns="0" bIns="0" rtlCol="0" anchor="ctr"/>
          <a:lstStyle/>
          <a:p>
            <a:pPr indent="0" marL="0">
              <a:buNone/>
            </a:pPr>
            <a:r>
              <a:rPr lang="en-US" sz="2000" dirty="0">
                <a:solidFill>
                  <a:srgbClr val="E2E8F0"/>
                </a:solidFill>
                <a:latin typeface="Calibri" pitchFamily="34" charset="0"/>
                <a:ea typeface="Calibri" pitchFamily="34" charset="-122"/>
                <a:cs typeface="Calibri" pitchFamily="34" charset="-120"/>
              </a:rPr>
              <a:t>lines moved out of main.py</a:t>
            </a:r>
            <a:endParaRPr lang="en-US" sz="2000" dirty="0"/>
          </a:p>
        </p:txBody>
      </p:sp>
      <p:sp>
        <p:nvSpPr>
          <p:cNvPr id="5" name="Text 3"/>
          <p:cNvSpPr txBox="1"/>
          <p:nvPr/>
        </p:nvSpPr>
        <p:spPr>
          <a:xfrm>
            <a:off x="4206240" y="1828800"/>
            <a:ext cx="4297680" cy="457200"/>
          </a:xfrm>
          <a:prstGeom prst="rect">
            <a:avLst/>
          </a:prstGeom>
          <a:noFill/>
          <a:ln/>
        </p:spPr>
        <p:txBody>
          <a:bodyPr wrap="square" lIns="0" tIns="0" rIns="0" bIns="0" rtlCol="0" anchor="ctr"/>
          <a:lstStyle/>
          <a:p>
            <a:pPr indent="0" marL="0">
              <a:buNone/>
            </a:pPr>
            <a:r>
              <a:rPr lang="en-US" sz="2400" b="1" dirty="0">
                <a:solidFill>
                  <a:srgbClr val="F1F5F9"/>
                </a:solidFill>
                <a:latin typeface="Courier New" pitchFamily="34" charset="0"/>
                <a:ea typeface="Courier New" pitchFamily="34" charset="-122"/>
                <a:cs typeface="Courier New" pitchFamily="34" charset="-120"/>
              </a:rPr>
              <a:t>src/frontend.py</a:t>
            </a:r>
            <a:endParaRPr lang="en-US" sz="2400" dirty="0"/>
          </a:p>
        </p:txBody>
      </p:sp>
      <p:sp>
        <p:nvSpPr>
          <p:cNvPr id="6" name="Text 4"/>
          <p:cNvSpPr txBox="1"/>
          <p:nvPr/>
        </p:nvSpPr>
        <p:spPr>
          <a:xfrm>
            <a:off x="4206240" y="2377440"/>
            <a:ext cx="4297680" cy="1463040"/>
          </a:xfrm>
          <a:prstGeom prst="rect">
            <a:avLst/>
          </a:prstGeom>
          <a:noFill/>
          <a:ln/>
        </p:spPr>
        <p:txBody>
          <a:bodyPr wrap="square" lIns="0" tIns="0" rIns="0" bIns="0" rtlCol="0" anchor="t"/>
          <a:lstStyle/>
          <a:p>
            <a:pPr indent="0" marL="0">
              <a:lnSpc>
                <a:spcPct val="105000"/>
              </a:lnSpc>
              <a:buNone/>
            </a:pPr>
            <a:r>
              <a:rPr lang="en-US" sz="1800" dirty="0">
                <a:solidFill>
                  <a:srgbClr val="E2E8F0"/>
                </a:solidFill>
                <a:latin typeface="Calibri" pitchFamily="34" charset="0"/>
                <a:ea typeface="Calibri" pitchFamily="34" charset="-122"/>
                <a:cs typeface="Calibri" pitchFamily="34" charset="-120"/>
              </a:rPr>
              <a:t>The live evaluator, the ground-truth lookup, the manifest checks and the provider aliases. No printing, no widgets. Both front-ends import it.</a:t>
            </a:r>
            <a:endParaRPr lang="en-US" sz="1800" dirty="0"/>
          </a:p>
        </p:txBody>
      </p:sp>
      <p:sp>
        <p:nvSpPr>
          <p:cNvPr id="7" name="Text 5"/>
          <p:cNvSpPr txBox="1"/>
          <p:nvPr/>
        </p:nvSpPr>
        <p:spPr>
          <a:xfrm>
            <a:off x="640080" y="3977640"/>
            <a:ext cx="7863840" cy="457200"/>
          </a:xfrm>
          <a:prstGeom prst="rect">
            <a:avLst/>
          </a:prstGeom>
          <a:noFill/>
          <a:ln/>
        </p:spPr>
        <p:txBody>
          <a:bodyPr wrap="square" lIns="0" tIns="0" rIns="0" bIns="0" rtlCol="0" anchor="ctr"/>
          <a:lstStyle/>
          <a:p>
            <a:pPr indent="0" marL="0">
              <a:buNone/>
            </a:pPr>
            <a:r>
              <a:rPr lang="en-US" sz="1800" i="1" dirty="0">
                <a:solidFill>
                  <a:srgbClr val="94A3B8"/>
                </a:solidFill>
                <a:latin typeface="Calibri" pitchFamily="34" charset="0"/>
                <a:ea typeface="Calibri" pitchFamily="34" charset="-122"/>
                <a:cs typeface="Calibri" pitchFamily="34" charset="-120"/>
              </a:rPr>
              <a:t>The CLI's --evaluate output was re-run afterwards and did not change.</a:t>
            </a:r>
            <a:endParaRPr lang="en-US" sz="1800" dirty="0"/>
          </a:p>
        </p:txBody>
      </p:sp>
      <p:sp>
        <p:nvSpPr>
          <p:cNvPr id="8" name="Text 6"/>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Streamlit front-end  ·  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Calibri" pitchFamily="34" charset="0"/>
                <a:ea typeface="Calibri" pitchFamily="34" charset="-122"/>
                <a:cs typeface="Calibri" pitchFamily="34" charset="-120"/>
              </a:rPr>
              <a:t>The sidebar is the CLI's flag list, read from the same registries</a:t>
            </a:r>
            <a:endParaRPr lang="en-US" sz="3200" dirty="0"/>
          </a:p>
        </p:txBody>
      </p:sp>
      <p:sp>
        <p:nvSpPr>
          <p:cNvPr id="3" name="Shape 1"/>
          <p:cNvSpPr/>
          <p:nvPr/>
        </p:nvSpPr>
        <p:spPr>
          <a:xfrm>
            <a:off x="621792" y="1673352"/>
            <a:ext cx="4791456" cy="3008376"/>
          </a:xfrm>
          <a:prstGeom prst="rect">
            <a:avLst/>
          </a:prstGeom>
          <a:solidFill>
            <a:srgbClr val="334155"/>
          </a:solidFill>
          <a:ln w="12700">
            <a:solidFill>
              <a:srgbClr val="334155"/>
            </a:solidFill>
            <a:prstDash val="solid"/>
          </a:ln>
        </p:spPr>
      </p:sp>
      <p:pic>
        <p:nvPicPr>
          <p:cNvPr id="4" name="Image 0" descr="preencoded.png">    </p:cNvPr>
          <p:cNvPicPr>
            <a:picLocks noChangeAspect="1"/>
          </p:cNvPicPr>
          <p:nvPr/>
        </p:nvPicPr>
        <p:blipFill>
          <a:blip r:embed="rId1"/>
          <a:stretch>
            <a:fillRect/>
          </a:stretch>
        </p:blipFill>
        <p:spPr>
          <a:xfrm>
            <a:off x="640080" y="1691640"/>
            <a:ext cx="4754880" cy="2971800"/>
          </a:xfrm>
          <a:prstGeom prst="rect">
            <a:avLst/>
          </a:prstGeom>
        </p:spPr>
      </p:pic>
      <p:sp>
        <p:nvSpPr>
          <p:cNvPr id="5" name="Text 2"/>
          <p:cNvSpPr txBox="1"/>
          <p:nvPr/>
        </p:nvSpPr>
        <p:spPr>
          <a:xfrm>
            <a:off x="5669280" y="1691640"/>
            <a:ext cx="2834640" cy="2926080"/>
          </a:xfrm>
          <a:prstGeom prst="rect">
            <a:avLst/>
          </a:prstGeom>
          <a:noFill/>
          <a:ln/>
        </p:spPr>
        <p:txBody>
          <a:bodyPr wrap="square" lIns="0" tIns="0" rIns="0" bIns="0" rtlCol="0" anchor="t"/>
          <a:lstStyle/>
          <a:p>
            <a:pPr indent="0" marL="0">
              <a:lnSpc>
                <a:spcPct val="105000"/>
              </a:lnSpc>
              <a:buNone/>
            </a:pPr>
            <a:r>
              <a:rPr lang="en-US" sz="1800" dirty="0">
                <a:solidFill>
                  <a:srgbClr val="E2E8F0"/>
                </a:solidFill>
                <a:latin typeface="Calibri" pitchFamily="34" charset="0"/>
                <a:ea typeface="Calibri" pitchFamily="34" charset="-122"/>
                <a:cs typeface="Calibri" pitchFamily="34" charset="-120"/>
              </a:rPr>
              <a:t>Provider, model, strategy, k and the three toggles. Add a provider or a strategy in src/ and both front-ends show it.</a:t>
            </a:r>
            <a:endParaRPr lang="en-US" sz="1800" dirty="0"/>
          </a:p>
        </p:txBody>
      </p:sp>
      <p:sp>
        <p:nvSpPr>
          <p:cNvPr id="6" name="Text 3"/>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Streamlit front-end  ·  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Calibri" pitchFamily="34" charset="0"/>
                <a:ea typeface="Calibri" pitchFamily="34" charset="-122"/>
                <a:cs typeface="Calibri" pitchFamily="34" charset="-120"/>
              </a:rPr>
              <a:t>One answer opens into its phrasings, its chunks and four live scores</a:t>
            </a:r>
            <a:endParaRPr lang="en-US" sz="3200" dirty="0"/>
          </a:p>
        </p:txBody>
      </p:sp>
      <p:sp>
        <p:nvSpPr>
          <p:cNvPr id="3" name="Shape 1"/>
          <p:cNvSpPr/>
          <p:nvPr/>
        </p:nvSpPr>
        <p:spPr>
          <a:xfrm>
            <a:off x="621792" y="1673352"/>
            <a:ext cx="3831336" cy="2404872"/>
          </a:xfrm>
          <a:prstGeom prst="rect">
            <a:avLst/>
          </a:prstGeom>
          <a:solidFill>
            <a:srgbClr val="334155"/>
          </a:solidFill>
          <a:ln w="12700">
            <a:solidFill>
              <a:srgbClr val="334155"/>
            </a:solidFill>
            <a:prstDash val="solid"/>
          </a:ln>
        </p:spPr>
      </p:sp>
      <p:pic>
        <p:nvPicPr>
          <p:cNvPr id="4" name="Image 0" descr="preencoded.png">    </p:cNvPr>
          <p:cNvPicPr>
            <a:picLocks noChangeAspect="1"/>
          </p:cNvPicPr>
          <p:nvPr/>
        </p:nvPicPr>
        <p:blipFill>
          <a:blip r:embed="rId1"/>
          <a:stretch>
            <a:fillRect/>
          </a:stretch>
        </p:blipFill>
        <p:spPr>
          <a:xfrm>
            <a:off x="640080" y="1691640"/>
            <a:ext cx="3794760" cy="2368296"/>
          </a:xfrm>
          <a:prstGeom prst="rect">
            <a:avLst/>
          </a:prstGeom>
        </p:spPr>
      </p:pic>
      <p:sp>
        <p:nvSpPr>
          <p:cNvPr id="5" name="Shape 2"/>
          <p:cNvSpPr/>
          <p:nvPr/>
        </p:nvSpPr>
        <p:spPr>
          <a:xfrm>
            <a:off x="4690872" y="1673352"/>
            <a:ext cx="3831336" cy="2404872"/>
          </a:xfrm>
          <a:prstGeom prst="rect">
            <a:avLst/>
          </a:prstGeom>
          <a:solidFill>
            <a:srgbClr val="334155"/>
          </a:solidFill>
          <a:ln w="12700">
            <a:solidFill>
              <a:srgbClr val="334155"/>
            </a:solidFill>
            <a:prstDash val="solid"/>
          </a:ln>
        </p:spPr>
      </p:sp>
      <p:pic>
        <p:nvPicPr>
          <p:cNvPr id="6" name="Image 1" descr="preencoded.png">    </p:cNvPr>
          <p:cNvPicPr>
            <a:picLocks noChangeAspect="1"/>
          </p:cNvPicPr>
          <p:nvPr/>
        </p:nvPicPr>
        <p:blipFill>
          <a:blip r:embed="rId2"/>
          <a:stretch>
            <a:fillRect/>
          </a:stretch>
        </p:blipFill>
        <p:spPr>
          <a:xfrm>
            <a:off x="4709160" y="1691640"/>
            <a:ext cx="3794760" cy="2368296"/>
          </a:xfrm>
          <a:prstGeom prst="rect">
            <a:avLst/>
          </a:prstGeom>
        </p:spPr>
      </p:pic>
      <p:sp>
        <p:nvSpPr>
          <p:cNvPr id="7" name="Text 3"/>
          <p:cNvSpPr txBox="1"/>
          <p:nvPr/>
        </p:nvSpPr>
        <p:spPr>
          <a:xfrm>
            <a:off x="640080" y="4160520"/>
            <a:ext cx="3794760" cy="640080"/>
          </a:xfrm>
          <a:prstGeom prst="rect">
            <a:avLst/>
          </a:prstGeom>
          <a:noFill/>
          <a:ln/>
        </p:spPr>
        <p:txBody>
          <a:bodyPr wrap="square" lIns="0" tIns="0" rIns="0" bIns="0" rtlCol="0" anchor="t"/>
          <a:lstStyle/>
          <a:p>
            <a:pPr indent="0" marL="0">
              <a:lnSpc>
                <a:spcPct val="105000"/>
              </a:lnSpc>
              <a:buNone/>
            </a:pPr>
            <a:r>
              <a:rPr lang="en-US" sz="1800" dirty="0">
                <a:solidFill>
                  <a:srgbClr val="E2E8F0"/>
                </a:solidFill>
                <a:latin typeface="Calibri" pitchFamily="34" charset="0"/>
                <a:ea typeface="Calibri" pitchFamily="34" charset="-122"/>
                <a:cs typeface="Calibri" pitchFamily="34" charset="-120"/>
              </a:rPr>
              <a:t>The phrasings that were actually searched.</a:t>
            </a:r>
            <a:endParaRPr lang="en-US" sz="1800" dirty="0"/>
          </a:p>
        </p:txBody>
      </p:sp>
      <p:sp>
        <p:nvSpPr>
          <p:cNvPr id="8" name="Text 4"/>
          <p:cNvSpPr txBox="1"/>
          <p:nvPr/>
        </p:nvSpPr>
        <p:spPr>
          <a:xfrm>
            <a:off x="4709160" y="4160520"/>
            <a:ext cx="3794760" cy="640080"/>
          </a:xfrm>
          <a:prstGeom prst="rect">
            <a:avLst/>
          </a:prstGeom>
          <a:noFill/>
          <a:ln/>
        </p:spPr>
        <p:txBody>
          <a:bodyPr wrap="square" lIns="0" tIns="0" rIns="0" bIns="0" rtlCol="0" anchor="t"/>
          <a:lstStyle/>
          <a:p>
            <a:pPr indent="0" marL="0">
              <a:lnSpc>
                <a:spcPct val="105000"/>
              </a:lnSpc>
              <a:buNone/>
            </a:pPr>
            <a:r>
              <a:rPr lang="en-US" sz="1800" dirty="0">
                <a:solidFill>
                  <a:srgbClr val="E2E8F0"/>
                </a:solidFill>
                <a:latin typeface="Calibri" pitchFamily="34" charset="0"/>
                <a:ea typeface="Calibri" pitchFamily="34" charset="-122"/>
                <a:cs typeface="Calibri" pitchFamily="34" charset="-120"/>
              </a:rPr>
              <a:t>Four scores from the same functions as the batch report.</a:t>
            </a:r>
            <a:endParaRPr lang="en-US" sz="1800" dirty="0"/>
          </a:p>
        </p:txBody>
      </p:sp>
      <p:sp>
        <p:nvSpPr>
          <p:cNvPr id="9" name="Text 5"/>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Streamlit front-end  ·  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Calibri" pitchFamily="34" charset="0"/>
                <a:ea typeface="Calibri" pitchFamily="34" charset="-122"/>
                <a:cs typeface="Calibri" pitchFamily="34" charset="-120"/>
              </a:rPr>
              <a:t>The other two tabs wrap ingest() and the evaluation scripts, nothing more</a:t>
            </a:r>
            <a:endParaRPr lang="en-US" sz="3200" dirty="0"/>
          </a:p>
        </p:txBody>
      </p:sp>
      <p:sp>
        <p:nvSpPr>
          <p:cNvPr id="3" name="Shape 1"/>
          <p:cNvSpPr/>
          <p:nvPr/>
        </p:nvSpPr>
        <p:spPr>
          <a:xfrm>
            <a:off x="621792" y="1673352"/>
            <a:ext cx="3831336" cy="2404872"/>
          </a:xfrm>
          <a:prstGeom prst="rect">
            <a:avLst/>
          </a:prstGeom>
          <a:solidFill>
            <a:srgbClr val="334155"/>
          </a:solidFill>
          <a:ln w="12700">
            <a:solidFill>
              <a:srgbClr val="334155"/>
            </a:solidFill>
            <a:prstDash val="solid"/>
          </a:ln>
        </p:spPr>
      </p:sp>
      <p:pic>
        <p:nvPicPr>
          <p:cNvPr id="4" name="Image 0" descr="preencoded.png">    </p:cNvPr>
          <p:cNvPicPr>
            <a:picLocks noChangeAspect="1"/>
          </p:cNvPicPr>
          <p:nvPr/>
        </p:nvPicPr>
        <p:blipFill>
          <a:blip r:embed="rId1"/>
          <a:stretch>
            <a:fillRect/>
          </a:stretch>
        </p:blipFill>
        <p:spPr>
          <a:xfrm>
            <a:off x="640080" y="1691640"/>
            <a:ext cx="3794760" cy="2368296"/>
          </a:xfrm>
          <a:prstGeom prst="rect">
            <a:avLst/>
          </a:prstGeom>
        </p:spPr>
      </p:pic>
      <p:sp>
        <p:nvSpPr>
          <p:cNvPr id="5" name="Shape 2"/>
          <p:cNvSpPr/>
          <p:nvPr/>
        </p:nvSpPr>
        <p:spPr>
          <a:xfrm>
            <a:off x="4690872" y="1673352"/>
            <a:ext cx="3831336" cy="2404872"/>
          </a:xfrm>
          <a:prstGeom prst="rect">
            <a:avLst/>
          </a:prstGeom>
          <a:solidFill>
            <a:srgbClr val="334155"/>
          </a:solidFill>
          <a:ln w="12700">
            <a:solidFill>
              <a:srgbClr val="334155"/>
            </a:solidFill>
            <a:prstDash val="solid"/>
          </a:ln>
        </p:spPr>
      </p:sp>
      <p:pic>
        <p:nvPicPr>
          <p:cNvPr id="6" name="Image 1" descr="preencoded.png">    </p:cNvPr>
          <p:cNvPicPr>
            <a:picLocks noChangeAspect="1"/>
          </p:cNvPicPr>
          <p:nvPr/>
        </p:nvPicPr>
        <p:blipFill>
          <a:blip r:embed="rId2"/>
          <a:stretch>
            <a:fillRect/>
          </a:stretch>
        </p:blipFill>
        <p:spPr>
          <a:xfrm>
            <a:off x="4709160" y="1691640"/>
            <a:ext cx="3794760" cy="2368296"/>
          </a:xfrm>
          <a:prstGeom prst="rect">
            <a:avLst/>
          </a:prstGeom>
        </p:spPr>
      </p:pic>
      <p:sp>
        <p:nvSpPr>
          <p:cNvPr id="7" name="Text 3"/>
          <p:cNvSpPr txBox="1"/>
          <p:nvPr/>
        </p:nvSpPr>
        <p:spPr>
          <a:xfrm>
            <a:off x="640080" y="4160520"/>
            <a:ext cx="3794760" cy="640080"/>
          </a:xfrm>
          <a:prstGeom prst="rect">
            <a:avLst/>
          </a:prstGeom>
          <a:noFill/>
          <a:ln/>
        </p:spPr>
        <p:txBody>
          <a:bodyPr wrap="square" lIns="0" tIns="0" rIns="0" bIns="0" rtlCol="0" anchor="t"/>
          <a:lstStyle/>
          <a:p>
            <a:pPr indent="0" marL="0">
              <a:lnSpc>
                <a:spcPct val="105000"/>
              </a:lnSpc>
              <a:buNone/>
            </a:pPr>
            <a:r>
              <a:rPr lang="en-US" sz="1800" dirty="0">
                <a:solidFill>
                  <a:srgbClr val="E2E8F0"/>
                </a:solidFill>
                <a:latin typeface="Calibri" pitchFamily="34" charset="0"/>
                <a:ea typeface="Calibri" pitchFamily="34" charset="-122"/>
                <a:cs typeface="Calibri" pitchFamily="34" charset="-120"/>
              </a:rPr>
              <a:t>Upload, then Ingest now calls ingest() with the progress callback it already had.</a:t>
            </a:r>
            <a:endParaRPr lang="en-US" sz="1800" dirty="0"/>
          </a:p>
        </p:txBody>
      </p:sp>
      <p:sp>
        <p:nvSpPr>
          <p:cNvPr id="8" name="Text 4"/>
          <p:cNvSpPr txBox="1"/>
          <p:nvPr/>
        </p:nvSpPr>
        <p:spPr>
          <a:xfrm>
            <a:off x="4709160" y="4160520"/>
            <a:ext cx="3794760" cy="640080"/>
          </a:xfrm>
          <a:prstGeom prst="rect">
            <a:avLst/>
          </a:prstGeom>
          <a:noFill/>
          <a:ln/>
        </p:spPr>
        <p:txBody>
          <a:bodyPr wrap="square" lIns="0" tIns="0" rIns="0" bIns="0" rtlCol="0" anchor="t"/>
          <a:lstStyle/>
          <a:p>
            <a:pPr indent="0" marL="0">
              <a:lnSpc>
                <a:spcPct val="105000"/>
              </a:lnSpc>
              <a:buNone/>
            </a:pPr>
            <a:r>
              <a:rPr lang="en-US" sz="1800" dirty="0">
                <a:solidFill>
                  <a:srgbClr val="E2E8F0"/>
                </a:solidFill>
                <a:latin typeface="Calibri" pitchFamily="34" charset="0"/>
                <a:ea typeface="Calibri" pitchFamily="34" charset="-122"/>
                <a:cs typeface="Calibri" pitchFamily="34" charset="-120"/>
              </a:rPr>
              <a:t>Three buttons call the three script functions and write the same files.</a:t>
            </a:r>
            <a:endParaRPr lang="en-US" sz="1800" dirty="0"/>
          </a:p>
        </p:txBody>
      </p:sp>
      <p:sp>
        <p:nvSpPr>
          <p:cNvPr id="9" name="Text 5"/>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Streamlit front-end  ·  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Calibri" pitchFamily="34" charset="0"/>
                <a:ea typeface="Calibri" pitchFamily="34" charset="-122"/>
                <a:cs typeface="Calibri" pitchFamily="34" charset="-120"/>
              </a:rPr>
              <a:t>With caching the first question costs 15 s and every later one 0.75 s</a:t>
            </a:r>
            <a:endParaRPr lang="en-US" sz="3200" dirty="0"/>
          </a:p>
        </p:txBody>
      </p:sp>
      <p:sp>
        <p:nvSpPr>
          <p:cNvPr id="3" name="Text 1"/>
          <p:cNvSpPr txBox="1"/>
          <p:nvPr/>
        </p:nvSpPr>
        <p:spPr>
          <a:xfrm>
            <a:off x="640080" y="1645920"/>
            <a:ext cx="3474720" cy="1097280"/>
          </a:xfrm>
          <a:prstGeom prst="rect">
            <a:avLst/>
          </a:prstGeom>
          <a:noFill/>
          <a:ln/>
        </p:spPr>
        <p:txBody>
          <a:bodyPr wrap="square" lIns="0" tIns="0" rIns="0" bIns="0" rtlCol="0" anchor="t"/>
          <a:lstStyle/>
          <a:p>
            <a:pPr indent="0" marL="0">
              <a:buNone/>
            </a:pPr>
            <a:r>
              <a:rPr lang="en-US" sz="7200" b="1" dirty="0">
                <a:solidFill>
                  <a:srgbClr val="F1F5F9"/>
                </a:solidFill>
                <a:latin typeface="Calibri" pitchFamily="34" charset="0"/>
                <a:ea typeface="Calibri" pitchFamily="34" charset="-122"/>
                <a:cs typeface="Calibri" pitchFamily="34" charset="-120"/>
              </a:rPr>
              <a:t>15 s</a:t>
            </a:r>
            <a:endParaRPr lang="en-US" sz="7200" dirty="0"/>
          </a:p>
        </p:txBody>
      </p:sp>
      <p:sp>
        <p:nvSpPr>
          <p:cNvPr id="4" name="Text 2"/>
          <p:cNvSpPr txBox="1"/>
          <p:nvPr/>
        </p:nvSpPr>
        <p:spPr>
          <a:xfrm>
            <a:off x="640080" y="2880360"/>
            <a:ext cx="3291840" cy="731520"/>
          </a:xfrm>
          <a:prstGeom prst="rect">
            <a:avLst/>
          </a:prstGeom>
          <a:noFill/>
          <a:ln/>
        </p:spPr>
        <p:txBody>
          <a:bodyPr wrap="square" lIns="0" tIns="0" rIns="0" bIns="0" rtlCol="0" anchor="ctr"/>
          <a:lstStyle/>
          <a:p>
            <a:pPr indent="0" marL="0">
              <a:buNone/>
            </a:pPr>
            <a:r>
              <a:rPr lang="en-US" sz="1800" dirty="0">
                <a:solidFill>
                  <a:srgbClr val="E2E8F0"/>
                </a:solidFill>
                <a:latin typeface="Calibri" pitchFamily="34" charset="0"/>
                <a:ea typeface="Calibri" pitchFamily="34" charset="-122"/>
                <a:cs typeface="Calibri" pitchFamily="34" charset="-120"/>
              </a:rPr>
              <a:t>the first question: model load and index open</a:t>
            </a:r>
            <a:endParaRPr lang="en-US" sz="1800" dirty="0"/>
          </a:p>
        </p:txBody>
      </p:sp>
      <p:sp>
        <p:nvSpPr>
          <p:cNvPr id="5" name="Shape 3"/>
          <p:cNvSpPr/>
          <p:nvPr/>
        </p:nvSpPr>
        <p:spPr>
          <a:xfrm>
            <a:off x="4526280" y="1783080"/>
            <a:ext cx="0" cy="1828800"/>
          </a:xfrm>
          <a:prstGeom prst="line">
            <a:avLst/>
          </a:prstGeom>
          <a:noFill/>
          <a:ln w="12700">
            <a:solidFill>
              <a:srgbClr val="334155"/>
            </a:solidFill>
            <a:prstDash val="solid"/>
          </a:ln>
        </p:spPr>
      </p:sp>
      <p:sp>
        <p:nvSpPr>
          <p:cNvPr id="6" name="Text 4"/>
          <p:cNvSpPr txBox="1"/>
          <p:nvPr/>
        </p:nvSpPr>
        <p:spPr>
          <a:xfrm>
            <a:off x="4937760" y="1645920"/>
            <a:ext cx="3566160" cy="1097280"/>
          </a:xfrm>
          <a:prstGeom prst="rect">
            <a:avLst/>
          </a:prstGeom>
          <a:noFill/>
          <a:ln/>
        </p:spPr>
        <p:txBody>
          <a:bodyPr wrap="square" lIns="0" tIns="0" rIns="0" bIns="0" rtlCol="0" anchor="t"/>
          <a:lstStyle/>
          <a:p>
            <a:pPr indent="0" marL="0">
              <a:buNone/>
            </a:pPr>
            <a:r>
              <a:rPr lang="en-US" sz="7200" b="1" dirty="0">
                <a:solidFill>
                  <a:srgbClr val="FCA311"/>
                </a:solidFill>
                <a:latin typeface="Calibri" pitchFamily="34" charset="0"/>
                <a:ea typeface="Calibri" pitchFamily="34" charset="-122"/>
                <a:cs typeface="Calibri" pitchFamily="34" charset="-120"/>
              </a:rPr>
              <a:t>0.75 s</a:t>
            </a:r>
            <a:endParaRPr lang="en-US" sz="7200" dirty="0"/>
          </a:p>
        </p:txBody>
      </p:sp>
      <p:sp>
        <p:nvSpPr>
          <p:cNvPr id="7" name="Text 5"/>
          <p:cNvSpPr txBox="1"/>
          <p:nvPr/>
        </p:nvSpPr>
        <p:spPr>
          <a:xfrm>
            <a:off x="4937760" y="2880360"/>
            <a:ext cx="3291840" cy="731520"/>
          </a:xfrm>
          <a:prstGeom prst="rect">
            <a:avLst/>
          </a:prstGeom>
          <a:noFill/>
          <a:ln/>
        </p:spPr>
        <p:txBody>
          <a:bodyPr wrap="square" lIns="0" tIns="0" rIns="0" bIns="0" rtlCol="0" anchor="ctr"/>
          <a:lstStyle/>
          <a:p>
            <a:pPr indent="0" marL="0">
              <a:buNone/>
            </a:pPr>
            <a:r>
              <a:rPr lang="en-US" sz="1800" dirty="0">
                <a:solidFill>
                  <a:srgbClr val="E2E8F0"/>
                </a:solidFill>
                <a:latin typeface="Calibri" pitchFamily="34" charset="0"/>
                <a:ea typeface="Calibri" pitchFamily="34" charset="-122"/>
                <a:cs typeface="Calibri" pitchFamily="34" charset="-120"/>
              </a:rPr>
              <a:t>every question after: the same timings as the CLI</a:t>
            </a:r>
            <a:endParaRPr lang="en-US" sz="1800" dirty="0"/>
          </a:p>
        </p:txBody>
      </p:sp>
      <p:sp>
        <p:nvSpPr>
          <p:cNvPr id="8" name="Text 6"/>
          <p:cNvSpPr txBox="1"/>
          <p:nvPr/>
        </p:nvSpPr>
        <p:spPr>
          <a:xfrm>
            <a:off x="640080" y="3840480"/>
            <a:ext cx="7863840" cy="731520"/>
          </a:xfrm>
          <a:prstGeom prst="rect">
            <a:avLst/>
          </a:prstGeom>
          <a:noFill/>
          <a:ln/>
        </p:spPr>
        <p:txBody>
          <a:bodyPr wrap="square" lIns="0" tIns="0" rIns="0" bIns="0" rtlCol="0" anchor="ctr"/>
          <a:lstStyle/>
          <a:p>
            <a:pPr indent="0" marL="0">
              <a:buNone/>
            </a:pPr>
            <a:r>
              <a:rPr lang="en-US" sz="1800" i="1" dirty="0">
                <a:solidFill>
                  <a:srgbClr val="94A3B8"/>
                </a:solidFill>
                <a:latin typeface="Calibri" pitchFamily="34" charset="0"/>
                <a:ea typeface="Calibri" pitchFamily="34" charset="-122"/>
                <a:cs typeface="Calibri" pitchFamily="34" charset="-120"/>
              </a:rPr>
              <a:t>The pipeline is one st.cache_resource keyed on the embedding model; a provider switch only rebuilds the LLM client.</a:t>
            </a:r>
            <a:endParaRPr lang="en-US" sz="1800" dirty="0"/>
          </a:p>
        </p:txBody>
      </p:sp>
      <p:sp>
        <p:nvSpPr>
          <p:cNvPr id="9" name="Text 7"/>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Streamlit front-end  ·  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Calibri" pitchFamily="34" charset="0"/>
                <a:ea typeface="Calibri" pitchFamily="34" charset="-122"/>
                <a:cs typeface="Calibri" pitchFamily="34" charset="-120"/>
              </a:rPr>
              <a:t>Four things broke the first time, and none of them was in the pipeline</a:t>
            </a:r>
            <a:endParaRPr lang="en-US" sz="3200" dirty="0"/>
          </a:p>
        </p:txBody>
      </p:sp>
      <p:sp>
        <p:nvSpPr>
          <p:cNvPr id="3" name="Text 1"/>
          <p:cNvSpPr txBox="1"/>
          <p:nvPr/>
        </p:nvSpPr>
        <p:spPr>
          <a:xfrm>
            <a:off x="640080" y="1783080"/>
            <a:ext cx="411480" cy="411480"/>
          </a:xfrm>
          <a:prstGeom prst="rect">
            <a:avLst/>
          </a:prstGeom>
          <a:noFill/>
          <a:ln/>
        </p:spPr>
        <p:txBody>
          <a:bodyPr wrap="square" lIns="0" tIns="0" rIns="0" bIns="0" rtlCol="0" anchor="t"/>
          <a:lstStyle/>
          <a:p>
            <a:pPr indent="0" marL="0">
              <a:buNone/>
            </a:pPr>
            <a:r>
              <a:rPr lang="en-US" sz="1900" b="1" dirty="0">
                <a:solidFill>
                  <a:srgbClr val="FCA311"/>
                </a:solidFill>
                <a:latin typeface="Calibri" pitchFamily="34" charset="0"/>
                <a:ea typeface="Calibri" pitchFamily="34" charset="-122"/>
                <a:cs typeface="Calibri" pitchFamily="34" charset="-120"/>
              </a:rPr>
              <a:t>1</a:t>
            </a:r>
            <a:endParaRPr lang="en-US" sz="1900" dirty="0"/>
          </a:p>
        </p:txBody>
      </p:sp>
      <p:sp>
        <p:nvSpPr>
          <p:cNvPr id="4" name="Text 2"/>
          <p:cNvSpPr txBox="1"/>
          <p:nvPr/>
        </p:nvSpPr>
        <p:spPr>
          <a:xfrm>
            <a:off x="1143000" y="1783080"/>
            <a:ext cx="7360920" cy="621792"/>
          </a:xfrm>
          <a:prstGeom prst="rect">
            <a:avLst/>
          </a:prstGeom>
          <a:noFill/>
          <a:ln/>
        </p:spPr>
        <p:txBody>
          <a:bodyPr wrap="square" lIns="0" tIns="0" rIns="0" bIns="0" rtlCol="0" anchor="t"/>
          <a:lstStyle/>
          <a:p>
            <a:pPr indent="0" marL="0">
              <a:buNone/>
            </a:pPr>
            <a:r>
              <a:rPr lang="en-US" sz="1900" dirty="0">
                <a:solidFill>
                  <a:srgbClr val="E2E8F0"/>
                </a:solidFill>
                <a:latin typeface="Calibri" pitchFamily="34" charset="0"/>
                <a:ea typeface="Calibri" pitchFamily="34" charset="-122"/>
                <a:cs typeface="Calibri" pitchFamily="34" charset="-120"/>
              </a:rPr>
              <a:t>Edits to ui/ did not show up. Streamlit reloads app.py, not the modules it imports.</a:t>
            </a:r>
            <a:endParaRPr lang="en-US" sz="1900" dirty="0"/>
          </a:p>
        </p:txBody>
      </p:sp>
      <p:sp>
        <p:nvSpPr>
          <p:cNvPr id="5" name="Text 3"/>
          <p:cNvSpPr txBox="1"/>
          <p:nvPr/>
        </p:nvSpPr>
        <p:spPr>
          <a:xfrm>
            <a:off x="640080" y="2496312"/>
            <a:ext cx="411480" cy="411480"/>
          </a:xfrm>
          <a:prstGeom prst="rect">
            <a:avLst/>
          </a:prstGeom>
          <a:noFill/>
          <a:ln/>
        </p:spPr>
        <p:txBody>
          <a:bodyPr wrap="square" lIns="0" tIns="0" rIns="0" bIns="0" rtlCol="0" anchor="t"/>
          <a:lstStyle/>
          <a:p>
            <a:pPr indent="0" marL="0">
              <a:buNone/>
            </a:pPr>
            <a:r>
              <a:rPr lang="en-US" sz="1900" b="1" dirty="0">
                <a:solidFill>
                  <a:srgbClr val="FCA311"/>
                </a:solidFill>
                <a:latin typeface="Calibri" pitchFamily="34" charset="0"/>
                <a:ea typeface="Calibri" pitchFamily="34" charset="-122"/>
                <a:cs typeface="Calibri" pitchFamily="34" charset="-120"/>
              </a:rPr>
              <a:t>2</a:t>
            </a:r>
            <a:endParaRPr lang="en-US" sz="1900" dirty="0"/>
          </a:p>
        </p:txBody>
      </p:sp>
      <p:sp>
        <p:nvSpPr>
          <p:cNvPr id="6" name="Text 4"/>
          <p:cNvSpPr txBox="1"/>
          <p:nvPr/>
        </p:nvSpPr>
        <p:spPr>
          <a:xfrm>
            <a:off x="1143000" y="2496312"/>
            <a:ext cx="7360920" cy="621792"/>
          </a:xfrm>
          <a:prstGeom prst="rect">
            <a:avLst/>
          </a:prstGeom>
          <a:noFill/>
          <a:ln/>
        </p:spPr>
        <p:txBody>
          <a:bodyPr wrap="square" lIns="0" tIns="0" rIns="0" bIns="0" rtlCol="0" anchor="t"/>
          <a:lstStyle/>
          <a:p>
            <a:pPr indent="0" marL="0">
              <a:buNone/>
            </a:pPr>
            <a:r>
              <a:rPr lang="en-US" sz="1900" dirty="0">
                <a:solidFill>
                  <a:srgbClr val="E2E8F0"/>
                </a:solidFill>
                <a:latin typeface="Calibri" pitchFamily="34" charset="0"/>
                <a:ea typeface="Calibri" pitchFamily="34" charset="-122"/>
                <a:cs typeface="Calibri" pitchFamily="34" charset="-120"/>
              </a:rPr>
              <a:t>The results chart stacked Manual on top of RAGAS and summed to 2.0.</a:t>
            </a:r>
            <a:endParaRPr lang="en-US" sz="1900" dirty="0"/>
          </a:p>
        </p:txBody>
      </p:sp>
      <p:sp>
        <p:nvSpPr>
          <p:cNvPr id="7" name="Text 5"/>
          <p:cNvSpPr txBox="1"/>
          <p:nvPr/>
        </p:nvSpPr>
        <p:spPr>
          <a:xfrm>
            <a:off x="640080" y="3209544"/>
            <a:ext cx="411480" cy="411480"/>
          </a:xfrm>
          <a:prstGeom prst="rect">
            <a:avLst/>
          </a:prstGeom>
          <a:noFill/>
          <a:ln/>
        </p:spPr>
        <p:txBody>
          <a:bodyPr wrap="square" lIns="0" tIns="0" rIns="0" bIns="0" rtlCol="0" anchor="t"/>
          <a:lstStyle/>
          <a:p>
            <a:pPr indent="0" marL="0">
              <a:buNone/>
            </a:pPr>
            <a:r>
              <a:rPr lang="en-US" sz="1900" b="1" dirty="0">
                <a:solidFill>
                  <a:srgbClr val="FCA311"/>
                </a:solidFill>
                <a:latin typeface="Calibri" pitchFamily="34" charset="0"/>
                <a:ea typeface="Calibri" pitchFamily="34" charset="-122"/>
                <a:cs typeface="Calibri" pitchFamily="34" charset="-120"/>
              </a:rPr>
              <a:t>3</a:t>
            </a:r>
            <a:endParaRPr lang="en-US" sz="1900" dirty="0"/>
          </a:p>
        </p:txBody>
      </p:sp>
      <p:sp>
        <p:nvSpPr>
          <p:cNvPr id="8" name="Text 6"/>
          <p:cNvSpPr txBox="1"/>
          <p:nvPr/>
        </p:nvSpPr>
        <p:spPr>
          <a:xfrm>
            <a:off x="1143000" y="3209544"/>
            <a:ext cx="7360920" cy="621792"/>
          </a:xfrm>
          <a:prstGeom prst="rect">
            <a:avLst/>
          </a:prstGeom>
          <a:noFill/>
          <a:ln/>
        </p:spPr>
        <p:txBody>
          <a:bodyPr wrap="square" lIns="0" tIns="0" rIns="0" bIns="0" rtlCol="0" anchor="t"/>
          <a:lstStyle/>
          <a:p>
            <a:pPr indent="0" marL="0">
              <a:buNone/>
            </a:pPr>
            <a:r>
              <a:rPr lang="en-US" sz="1900" dirty="0">
                <a:solidFill>
                  <a:srgbClr val="E2E8F0"/>
                </a:solidFill>
                <a:latin typeface="Calibri" pitchFamily="34" charset="0"/>
                <a:ea typeface="Calibri" pitchFamily="34" charset="-122"/>
                <a:cs typeface="Calibri" pitchFamily="34" charset="-120"/>
              </a:rPr>
              <a:t>The brand navy vanished on the dark theme.</a:t>
            </a:r>
            <a:endParaRPr lang="en-US" sz="1900" dirty="0"/>
          </a:p>
        </p:txBody>
      </p:sp>
      <p:sp>
        <p:nvSpPr>
          <p:cNvPr id="9" name="Text 7"/>
          <p:cNvSpPr txBox="1"/>
          <p:nvPr/>
        </p:nvSpPr>
        <p:spPr>
          <a:xfrm>
            <a:off x="640080" y="3922776"/>
            <a:ext cx="411480" cy="411480"/>
          </a:xfrm>
          <a:prstGeom prst="rect">
            <a:avLst/>
          </a:prstGeom>
          <a:noFill/>
          <a:ln/>
        </p:spPr>
        <p:txBody>
          <a:bodyPr wrap="square" lIns="0" tIns="0" rIns="0" bIns="0" rtlCol="0" anchor="t"/>
          <a:lstStyle/>
          <a:p>
            <a:pPr indent="0" marL="0">
              <a:buNone/>
            </a:pPr>
            <a:r>
              <a:rPr lang="en-US" sz="1900" b="1" dirty="0">
                <a:solidFill>
                  <a:srgbClr val="FCA311"/>
                </a:solidFill>
                <a:latin typeface="Calibri" pitchFamily="34" charset="0"/>
                <a:ea typeface="Calibri" pitchFamily="34" charset="-122"/>
                <a:cs typeface="Calibri" pitchFamily="34" charset="-120"/>
              </a:rPr>
              <a:t>4</a:t>
            </a:r>
            <a:endParaRPr lang="en-US" sz="1900" dirty="0"/>
          </a:p>
        </p:txBody>
      </p:sp>
      <p:sp>
        <p:nvSpPr>
          <p:cNvPr id="10" name="Text 8"/>
          <p:cNvSpPr txBox="1"/>
          <p:nvPr/>
        </p:nvSpPr>
        <p:spPr>
          <a:xfrm>
            <a:off x="1143000" y="3922776"/>
            <a:ext cx="7360920" cy="621792"/>
          </a:xfrm>
          <a:prstGeom prst="rect">
            <a:avLst/>
          </a:prstGeom>
          <a:noFill/>
          <a:ln/>
        </p:spPr>
        <p:txBody>
          <a:bodyPr wrap="square" lIns="0" tIns="0" rIns="0" bIns="0" rtlCol="0" anchor="t"/>
          <a:lstStyle/>
          <a:p>
            <a:pPr indent="0" marL="0">
              <a:buNone/>
            </a:pPr>
            <a:r>
              <a:rPr lang="en-US" sz="1900" dirty="0">
                <a:solidFill>
                  <a:srgbClr val="E2E8F0"/>
                </a:solidFill>
                <a:latin typeface="Calibri" pitchFamily="34" charset="0"/>
                <a:ea typeface="Calibri" pitchFamily="34" charset="-122"/>
                <a:cs typeface="Calibri" pitchFamily="34" charset="-120"/>
              </a:rPr>
              <a:t>The uploader accepted nothing: config says ".pdf", the widget wants "pdf".</a:t>
            </a:r>
            <a:endParaRPr lang="en-US" sz="1900" dirty="0"/>
          </a:p>
        </p:txBody>
      </p:sp>
      <p:sp>
        <p:nvSpPr>
          <p:cNvPr id="11" name="Text 9"/>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Streamlit front-end  ·  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Calibri" pitchFamily="34" charset="0"/>
                <a:ea typeface="Calibri" pitchFamily="34" charset="-122"/>
                <a:cs typeface="Calibri" pitchFamily="34" charset="-120"/>
              </a:rPr>
              <a:t>Both front-ends give the same answer and the same four scores</a:t>
            </a:r>
            <a:endParaRPr lang="en-US" sz="3200" dirty="0"/>
          </a:p>
        </p:txBody>
      </p:sp>
      <p:sp>
        <p:nvSpPr>
          <p:cNvPr id="3" name="Shape 1"/>
          <p:cNvSpPr/>
          <p:nvPr/>
        </p:nvSpPr>
        <p:spPr>
          <a:xfrm>
            <a:off x="621792" y="1673352"/>
            <a:ext cx="3602736" cy="2414016"/>
          </a:xfrm>
          <a:prstGeom prst="rect">
            <a:avLst/>
          </a:prstGeom>
          <a:solidFill>
            <a:srgbClr val="334155"/>
          </a:solidFill>
          <a:ln w="12700">
            <a:solidFill>
              <a:srgbClr val="334155"/>
            </a:solidFill>
            <a:prstDash val="solid"/>
          </a:ln>
        </p:spPr>
      </p:sp>
      <p:pic>
        <p:nvPicPr>
          <p:cNvPr id="4" name="Image 0" descr="preencoded.png">    </p:cNvPr>
          <p:cNvPicPr>
            <a:picLocks noChangeAspect="1"/>
          </p:cNvPicPr>
          <p:nvPr/>
        </p:nvPicPr>
        <p:blipFill>
          <a:blip r:embed="rId1"/>
          <a:stretch>
            <a:fillRect/>
          </a:stretch>
        </p:blipFill>
        <p:spPr>
          <a:xfrm>
            <a:off x="640080" y="1691640"/>
            <a:ext cx="3566160" cy="2377440"/>
          </a:xfrm>
          <a:prstGeom prst="rect">
            <a:avLst/>
          </a:prstGeom>
        </p:spPr>
      </p:pic>
      <p:sp>
        <p:nvSpPr>
          <p:cNvPr id="5" name="Shape 2"/>
          <p:cNvSpPr/>
          <p:nvPr/>
        </p:nvSpPr>
        <p:spPr>
          <a:xfrm>
            <a:off x="4690872" y="1673352"/>
            <a:ext cx="3831336" cy="2404872"/>
          </a:xfrm>
          <a:prstGeom prst="rect">
            <a:avLst/>
          </a:prstGeom>
          <a:solidFill>
            <a:srgbClr val="334155"/>
          </a:solidFill>
          <a:ln w="12700">
            <a:solidFill>
              <a:srgbClr val="334155"/>
            </a:solidFill>
            <a:prstDash val="solid"/>
          </a:ln>
        </p:spPr>
      </p:sp>
      <p:pic>
        <p:nvPicPr>
          <p:cNvPr id="6" name="Image 1" descr="preencoded.png">    </p:cNvPr>
          <p:cNvPicPr>
            <a:picLocks noChangeAspect="1"/>
          </p:cNvPicPr>
          <p:nvPr/>
        </p:nvPicPr>
        <p:blipFill>
          <a:blip r:embed="rId2"/>
          <a:stretch>
            <a:fillRect/>
          </a:stretch>
        </p:blipFill>
        <p:spPr>
          <a:xfrm>
            <a:off x="4709160" y="1691640"/>
            <a:ext cx="3794760" cy="2368296"/>
          </a:xfrm>
          <a:prstGeom prst="rect">
            <a:avLst/>
          </a:prstGeom>
        </p:spPr>
      </p:pic>
      <p:sp>
        <p:nvSpPr>
          <p:cNvPr id="7" name="Text 3"/>
          <p:cNvSpPr txBox="1"/>
          <p:nvPr/>
        </p:nvSpPr>
        <p:spPr>
          <a:xfrm>
            <a:off x="640080" y="4133088"/>
            <a:ext cx="3794760" cy="274320"/>
          </a:xfrm>
          <a:prstGeom prst="rect">
            <a:avLst/>
          </a:prstGeom>
          <a:noFill/>
          <a:ln/>
        </p:spPr>
        <p:txBody>
          <a:bodyPr wrap="square" lIns="0" tIns="0" rIns="0" bIns="0" rtlCol="0" anchor="ctr"/>
          <a:lstStyle/>
          <a:p>
            <a:pPr indent="0" marL="0">
              <a:buNone/>
            </a:pPr>
            <a:r>
              <a:rPr lang="en-US" sz="1400" dirty="0">
                <a:solidFill>
                  <a:srgbClr val="94A3B8"/>
                </a:solidFill>
                <a:latin typeface="Courier New" pitchFamily="34" charset="0"/>
                <a:ea typeface="Courier New" pitchFamily="34" charset="-122"/>
                <a:cs typeface="Courier New" pitchFamily="34" charset="-120"/>
              </a:rPr>
              <a:t>python main.py --evaluate -q "…"</a:t>
            </a:r>
            <a:endParaRPr lang="en-US" sz="1400" dirty="0"/>
          </a:p>
        </p:txBody>
      </p:sp>
      <p:sp>
        <p:nvSpPr>
          <p:cNvPr id="8" name="Text 4"/>
          <p:cNvSpPr txBox="1"/>
          <p:nvPr/>
        </p:nvSpPr>
        <p:spPr>
          <a:xfrm>
            <a:off x="4709160" y="4133088"/>
            <a:ext cx="3794760" cy="274320"/>
          </a:xfrm>
          <a:prstGeom prst="rect">
            <a:avLst/>
          </a:prstGeom>
          <a:noFill/>
          <a:ln/>
        </p:spPr>
        <p:txBody>
          <a:bodyPr wrap="square" lIns="0" tIns="0" rIns="0" bIns="0" rtlCol="0" anchor="ctr"/>
          <a:lstStyle/>
          <a:p>
            <a:pPr indent="0" marL="0">
              <a:buNone/>
            </a:pPr>
            <a:r>
              <a:rPr lang="en-US" sz="1400" dirty="0">
                <a:solidFill>
                  <a:srgbClr val="94A3B8"/>
                </a:solidFill>
                <a:latin typeface="Courier New" pitchFamily="34" charset="0"/>
                <a:ea typeface="Courier New" pitchFamily="34" charset="-122"/>
                <a:cs typeface="Courier New" pitchFamily="34" charset="-120"/>
              </a:rPr>
              <a:t>Ask tab, evaluate toggle on</a:t>
            </a:r>
            <a:endParaRPr lang="en-US" sz="1400" dirty="0"/>
          </a:p>
        </p:txBody>
      </p:sp>
      <p:sp>
        <p:nvSpPr>
          <p:cNvPr id="9" name="Text 5"/>
          <p:cNvSpPr txBox="1"/>
          <p:nvPr/>
        </p:nvSpPr>
        <p:spPr>
          <a:xfrm>
            <a:off x="640080" y="4407408"/>
            <a:ext cx="7863840" cy="640080"/>
          </a:xfrm>
          <a:prstGeom prst="rect">
            <a:avLst/>
          </a:prstGeom>
          <a:noFill/>
          <a:ln/>
        </p:spPr>
        <p:txBody>
          <a:bodyPr wrap="square" lIns="0" tIns="0" rIns="0" bIns="0" rtlCol="0" anchor="t"/>
          <a:lstStyle/>
          <a:p>
            <a:pPr indent="0" marL="0">
              <a:lnSpc>
                <a:spcPct val="105000"/>
              </a:lnSpc>
              <a:buNone/>
            </a:pPr>
            <a:r>
              <a:rPr lang="en-US" sz="1800" dirty="0">
                <a:solidFill>
                  <a:srgbClr val="E2E8F0"/>
                </a:solidFill>
                <a:latin typeface="Calibri" pitchFamily="34" charset="0"/>
                <a:ea typeface="Calibri" pitchFamily="34" charset="-122"/>
                <a:cs typeface="Calibri" pitchFamily="34" charset="-120"/>
              </a:rPr>
              <a:t>Same RAGResponse, same AnswerEvaluator, two renderers.</a:t>
            </a:r>
            <a:endParaRPr lang="en-US" sz="1800" dirty="0"/>
          </a:p>
        </p:txBody>
      </p:sp>
      <p:sp>
        <p:nvSpPr>
          <p:cNvPr id="10" name="Text 6"/>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Streamlit front-end  ·  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Calibri" pitchFamily="34" charset="0"/>
                <a:ea typeface="Calibri" pitchFamily="34" charset="-122"/>
                <a:cs typeface="Calibri" pitchFamily="34" charset="-120"/>
              </a:rPr>
              <a:t>902 lines were added and none changed inside src/ or evaluation/</a:t>
            </a:r>
            <a:endParaRPr lang="en-US" sz="3200" dirty="0"/>
          </a:p>
        </p:txBody>
      </p:sp>
      <p:sp>
        <p:nvSpPr>
          <p:cNvPr id="3" name="Text 1"/>
          <p:cNvSpPr txBox="1"/>
          <p:nvPr/>
        </p:nvSpPr>
        <p:spPr>
          <a:xfrm>
            <a:off x="640080" y="1600200"/>
            <a:ext cx="3291840" cy="1463040"/>
          </a:xfrm>
          <a:prstGeom prst="rect">
            <a:avLst/>
          </a:prstGeom>
          <a:noFill/>
          <a:ln/>
        </p:spPr>
        <p:txBody>
          <a:bodyPr wrap="square" lIns="0" tIns="0" rIns="0" bIns="0" rtlCol="0" anchor="t"/>
          <a:lstStyle/>
          <a:p>
            <a:pPr indent="0" marL="0">
              <a:buNone/>
            </a:pPr>
            <a:r>
              <a:rPr lang="en-US" sz="9600" b="1" dirty="0">
                <a:solidFill>
                  <a:srgbClr val="FCA311"/>
                </a:solidFill>
                <a:latin typeface="Calibri" pitchFamily="34" charset="0"/>
                <a:ea typeface="Calibri" pitchFamily="34" charset="-122"/>
                <a:cs typeface="Calibri" pitchFamily="34" charset="-120"/>
              </a:rPr>
              <a:t>902</a:t>
            </a:r>
            <a:endParaRPr lang="en-US" sz="9600" dirty="0"/>
          </a:p>
        </p:txBody>
      </p:sp>
      <p:sp>
        <p:nvSpPr>
          <p:cNvPr id="4" name="Text 2"/>
          <p:cNvSpPr txBox="1"/>
          <p:nvPr/>
        </p:nvSpPr>
        <p:spPr>
          <a:xfrm>
            <a:off x="640080" y="3108960"/>
            <a:ext cx="3291840" cy="365760"/>
          </a:xfrm>
          <a:prstGeom prst="rect">
            <a:avLst/>
          </a:prstGeom>
          <a:noFill/>
          <a:ln/>
        </p:spPr>
        <p:txBody>
          <a:bodyPr wrap="square" lIns="0" tIns="0" rIns="0" bIns="0" rtlCol="0" anchor="ctr"/>
          <a:lstStyle/>
          <a:p>
            <a:pPr indent="0" marL="0">
              <a:buNone/>
            </a:pPr>
            <a:r>
              <a:rPr lang="en-US" sz="2000" dirty="0">
                <a:solidFill>
                  <a:srgbClr val="E2E8F0"/>
                </a:solidFill>
                <a:latin typeface="Calibri" pitchFamily="34" charset="0"/>
                <a:ea typeface="Calibri" pitchFamily="34" charset="-122"/>
                <a:cs typeface="Calibri" pitchFamily="34" charset="-120"/>
              </a:rPr>
              <a:t>lines added</a:t>
            </a:r>
            <a:endParaRPr lang="en-US" sz="2000" dirty="0"/>
          </a:p>
        </p:txBody>
      </p:sp>
      <p:sp>
        <p:nvSpPr>
          <p:cNvPr id="5" name="Text 3"/>
          <p:cNvSpPr txBox="1"/>
          <p:nvPr/>
        </p:nvSpPr>
        <p:spPr>
          <a:xfrm>
            <a:off x="640080" y="3474720"/>
            <a:ext cx="3886200" cy="36576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app.py 502  ·  ui/ 244  ·  frontend.py 156</a:t>
            </a:r>
            <a:endParaRPr lang="en-US" sz="1800" dirty="0"/>
          </a:p>
        </p:txBody>
      </p:sp>
      <p:sp>
        <p:nvSpPr>
          <p:cNvPr id="6" name="Shape 4"/>
          <p:cNvSpPr/>
          <p:nvPr/>
        </p:nvSpPr>
        <p:spPr>
          <a:xfrm>
            <a:off x="4526280" y="1783080"/>
            <a:ext cx="0" cy="2103120"/>
          </a:xfrm>
          <a:prstGeom prst="line">
            <a:avLst/>
          </a:prstGeom>
          <a:noFill/>
          <a:ln w="12700">
            <a:solidFill>
              <a:srgbClr val="334155"/>
            </a:solidFill>
            <a:prstDash val="solid"/>
          </a:ln>
        </p:spPr>
      </p:sp>
      <p:sp>
        <p:nvSpPr>
          <p:cNvPr id="7" name="Text 5"/>
          <p:cNvSpPr txBox="1"/>
          <p:nvPr/>
        </p:nvSpPr>
        <p:spPr>
          <a:xfrm>
            <a:off x="4937760" y="1600200"/>
            <a:ext cx="3291840" cy="1463040"/>
          </a:xfrm>
          <a:prstGeom prst="rect">
            <a:avLst/>
          </a:prstGeom>
          <a:noFill/>
          <a:ln/>
        </p:spPr>
        <p:txBody>
          <a:bodyPr wrap="square" lIns="0" tIns="0" rIns="0" bIns="0" rtlCol="0" anchor="t"/>
          <a:lstStyle/>
          <a:p>
            <a:pPr indent="0" marL="0">
              <a:buNone/>
            </a:pPr>
            <a:r>
              <a:rPr lang="en-US" sz="9600" b="1" dirty="0">
                <a:solidFill>
                  <a:srgbClr val="F1F5F9"/>
                </a:solidFill>
                <a:latin typeface="Calibri" pitchFamily="34" charset="0"/>
                <a:ea typeface="Calibri" pitchFamily="34" charset="-122"/>
                <a:cs typeface="Calibri" pitchFamily="34" charset="-120"/>
              </a:rPr>
              <a:t>0</a:t>
            </a:r>
            <a:endParaRPr lang="en-US" sz="9600" dirty="0"/>
          </a:p>
        </p:txBody>
      </p:sp>
      <p:sp>
        <p:nvSpPr>
          <p:cNvPr id="8" name="Text 6"/>
          <p:cNvSpPr txBox="1"/>
          <p:nvPr/>
        </p:nvSpPr>
        <p:spPr>
          <a:xfrm>
            <a:off x="4937760" y="3108960"/>
            <a:ext cx="3566160" cy="365760"/>
          </a:xfrm>
          <a:prstGeom prst="rect">
            <a:avLst/>
          </a:prstGeom>
          <a:noFill/>
          <a:ln/>
        </p:spPr>
        <p:txBody>
          <a:bodyPr wrap="square" lIns="0" tIns="0" rIns="0" bIns="0" rtlCol="0" anchor="ctr"/>
          <a:lstStyle/>
          <a:p>
            <a:pPr indent="0" marL="0">
              <a:buNone/>
            </a:pPr>
            <a:r>
              <a:rPr lang="en-US" sz="2000" dirty="0">
                <a:solidFill>
                  <a:srgbClr val="E2E8F0"/>
                </a:solidFill>
                <a:latin typeface="Calibri" pitchFamily="34" charset="0"/>
                <a:ea typeface="Calibri" pitchFamily="34" charset="-122"/>
                <a:cs typeface="Calibri" pitchFamily="34" charset="-120"/>
              </a:rPr>
              <a:t>lines changed in the pipeline</a:t>
            </a:r>
            <a:endParaRPr lang="en-US" sz="2000" dirty="0"/>
          </a:p>
        </p:txBody>
      </p:sp>
      <p:sp>
        <p:nvSpPr>
          <p:cNvPr id="9" name="Text 7"/>
          <p:cNvSpPr txBox="1"/>
          <p:nvPr/>
        </p:nvSpPr>
        <p:spPr>
          <a:xfrm>
            <a:off x="4937760" y="3474720"/>
            <a:ext cx="3566160" cy="36576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one new module, one optional dependency</a:t>
            </a:r>
            <a:endParaRPr lang="en-US" sz="1800" dirty="0"/>
          </a:p>
        </p:txBody>
      </p:sp>
      <p:sp>
        <p:nvSpPr>
          <p:cNvPr id="10" name="Text 8"/>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Streamlit front-end  ·  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64A"/>
        </a:solidFill>
      </p:bgPr>
    </p:bg>
    <p:spTree>
      <p:nvGrpSpPr>
        <p:cNvPr id="1" name=""/>
        <p:cNvGrpSpPr/>
        <p:nvPr/>
      </p:nvGrpSpPr>
      <p:grpSpPr>
        <a:xfrm>
          <a:off x="0" y="0"/>
          <a:ext cx="0" cy="0"/>
          <a:chOff x="0" y="0"/>
          <a:chExt cx="0" cy="0"/>
        </a:xfrm>
      </p:grpSpPr>
      <p:sp>
        <p:nvSpPr>
          <p:cNvPr id="2" name="Text 0"/>
          <p:cNvSpPr txBox="1"/>
          <p:nvPr/>
        </p:nvSpPr>
        <p:spPr>
          <a:xfrm>
            <a:off x="640080" y="502920"/>
            <a:ext cx="7863840" cy="6400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Two commands and a three-minute demo</a:t>
            </a:r>
            <a:endParaRPr lang="en-US" sz="3200" dirty="0"/>
          </a:p>
        </p:txBody>
      </p:sp>
      <p:sp>
        <p:nvSpPr>
          <p:cNvPr id="3" name="Text 1"/>
          <p:cNvSpPr txBox="1"/>
          <p:nvPr/>
        </p:nvSpPr>
        <p:spPr>
          <a:xfrm>
            <a:off x="640080" y="1280160"/>
            <a:ext cx="7863840" cy="822960"/>
          </a:xfrm>
          <a:prstGeom prst="rect">
            <a:avLst/>
          </a:prstGeom>
          <a:noFill/>
          <a:ln/>
        </p:spPr>
        <p:txBody>
          <a:bodyPr wrap="square" lIns="0" tIns="0" rIns="0" bIns="0" rtlCol="0" anchor="ctr"/>
          <a:lstStyle/>
          <a:p>
            <a:pPr indent="0" marL="0">
              <a:lnSpc>
                <a:spcPct val="115000"/>
              </a:lnSpc>
              <a:buNone/>
            </a:pPr>
            <a:r>
              <a:rPr lang="en-US" sz="2200" dirty="0">
                <a:solidFill>
                  <a:srgbClr val="FCA311"/>
                </a:solidFill>
                <a:latin typeface="Courier New" pitchFamily="34" charset="0"/>
                <a:ea typeface="Courier New" pitchFamily="34" charset="-122"/>
                <a:cs typeface="Courier New" pitchFamily="34" charset="-120"/>
              </a:rPr>
              <a:t>streamlit run app.py</a:t>
            </a:r>
            <a:endParaRPr lang="en-US" sz="2200" dirty="0"/>
          </a:p>
          <a:p>
            <a:pPr indent="0" marL="0">
              <a:lnSpc>
                <a:spcPct val="115000"/>
              </a:lnSpc>
              <a:buNone/>
            </a:pPr>
            <a:r>
              <a:rPr lang="en-US" sz="2200" dirty="0">
                <a:solidFill>
                  <a:srgbClr val="FCA311"/>
                </a:solidFill>
                <a:latin typeface="Courier New" pitchFamily="34" charset="0"/>
                <a:ea typeface="Courier New" pitchFamily="34" charset="-122"/>
                <a:cs typeface="Courier New" pitchFamily="34" charset="-120"/>
              </a:rPr>
              <a:t>python main.py</a:t>
            </a:r>
            <a:endParaRPr lang="en-US" sz="2200" dirty="0"/>
          </a:p>
        </p:txBody>
      </p:sp>
      <p:sp>
        <p:nvSpPr>
          <p:cNvPr id="4" name="Text 2"/>
          <p:cNvSpPr txBox="1"/>
          <p:nvPr/>
        </p:nvSpPr>
        <p:spPr>
          <a:xfrm>
            <a:off x="640080" y="2468880"/>
            <a:ext cx="365760" cy="365760"/>
          </a:xfrm>
          <a:prstGeom prst="rect">
            <a:avLst/>
          </a:prstGeom>
          <a:noFill/>
          <a:ln/>
        </p:spPr>
        <p:txBody>
          <a:bodyPr wrap="square" lIns="0" tIns="0" rIns="0" bIns="0" rtlCol="0" anchor="ctr"/>
          <a:lstStyle/>
          <a:p>
            <a:pPr indent="0" marL="0">
              <a:buNone/>
            </a:pPr>
            <a:r>
              <a:rPr lang="en-US" sz="1800" b="1" dirty="0">
                <a:solidFill>
                  <a:srgbClr val="FCA311"/>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097280" y="2468880"/>
            <a:ext cx="740664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Ask "can i wfh fri?", open the rewrites, open the chunks.</a:t>
            </a:r>
            <a:endParaRPr lang="en-US" sz="1800" dirty="0"/>
          </a:p>
        </p:txBody>
      </p:sp>
      <p:sp>
        <p:nvSpPr>
          <p:cNvPr id="6" name="Text 4"/>
          <p:cNvSpPr txBox="1"/>
          <p:nvPr/>
        </p:nvSpPr>
        <p:spPr>
          <a:xfrm>
            <a:off x="640080" y="2926080"/>
            <a:ext cx="365760" cy="365760"/>
          </a:xfrm>
          <a:prstGeom prst="rect">
            <a:avLst/>
          </a:prstGeom>
          <a:noFill/>
          <a:ln/>
        </p:spPr>
        <p:txBody>
          <a:bodyPr wrap="square" lIns="0" tIns="0" rIns="0" bIns="0" rtlCol="0" anchor="ctr"/>
          <a:lstStyle/>
          <a:p>
            <a:pPr indent="0" marL="0">
              <a:buNone/>
            </a:pPr>
            <a:r>
              <a:rPr lang="en-US" sz="1800" b="1" dirty="0">
                <a:solidFill>
                  <a:srgbClr val="FCA311"/>
                </a:solidFill>
                <a:latin typeface="Calibri" pitchFamily="34" charset="0"/>
                <a:ea typeface="Calibri" pitchFamily="34" charset="-122"/>
                <a:cs typeface="Calibri" pitchFamily="34" charset="-120"/>
              </a:rPr>
              <a:t>2</a:t>
            </a:r>
            <a:endParaRPr lang="en-US" sz="1800" dirty="0"/>
          </a:p>
        </p:txBody>
      </p:sp>
      <p:sp>
        <p:nvSpPr>
          <p:cNvPr id="7" name="Text 5"/>
          <p:cNvSpPr txBox="1"/>
          <p:nvPr/>
        </p:nvSpPr>
        <p:spPr>
          <a:xfrm>
            <a:off x="1097280" y="2926080"/>
            <a:ext cx="740664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Turn on evaluation, ask a dataset question, four scores.</a:t>
            </a:r>
            <a:endParaRPr lang="en-US" sz="1800" dirty="0"/>
          </a:p>
        </p:txBody>
      </p:sp>
      <p:sp>
        <p:nvSpPr>
          <p:cNvPr id="8" name="Text 6"/>
          <p:cNvSpPr txBox="1"/>
          <p:nvPr/>
        </p:nvSpPr>
        <p:spPr>
          <a:xfrm>
            <a:off x="640080" y="3383280"/>
            <a:ext cx="365760" cy="365760"/>
          </a:xfrm>
          <a:prstGeom prst="rect">
            <a:avLst/>
          </a:prstGeom>
          <a:noFill/>
          <a:ln/>
        </p:spPr>
        <p:txBody>
          <a:bodyPr wrap="square" lIns="0" tIns="0" rIns="0" bIns="0" rtlCol="0" anchor="ctr"/>
          <a:lstStyle/>
          <a:p>
            <a:pPr indent="0" marL="0">
              <a:buNone/>
            </a:pPr>
            <a:r>
              <a:rPr lang="en-US" sz="1800" b="1" dirty="0">
                <a:solidFill>
                  <a:srgbClr val="FCA311"/>
                </a:solidFill>
                <a:latin typeface="Calibri" pitchFamily="34" charset="0"/>
                <a:ea typeface="Calibri" pitchFamily="34" charset="-122"/>
                <a:cs typeface="Calibri" pitchFamily="34" charset="-120"/>
              </a:rPr>
              <a:t>3</a:t>
            </a:r>
            <a:endParaRPr lang="en-US" sz="1800" dirty="0"/>
          </a:p>
        </p:txBody>
      </p:sp>
      <p:sp>
        <p:nvSpPr>
          <p:cNvPr id="9" name="Text 7"/>
          <p:cNvSpPr txBox="1"/>
          <p:nvPr/>
        </p:nvSpPr>
        <p:spPr>
          <a:xfrm>
            <a:off x="1097280" y="3383280"/>
            <a:ext cx="740664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Drop a file in Knowledge base, Ingest now, ask about it.</a:t>
            </a:r>
            <a:endParaRPr lang="en-US" sz="1800" dirty="0"/>
          </a:p>
        </p:txBody>
      </p:sp>
      <p:sp>
        <p:nvSpPr>
          <p:cNvPr id="10" name="Text 8"/>
          <p:cNvSpPr txBox="1"/>
          <p:nvPr/>
        </p:nvSpPr>
        <p:spPr>
          <a:xfrm>
            <a:off x="640080" y="3840480"/>
            <a:ext cx="365760" cy="365760"/>
          </a:xfrm>
          <a:prstGeom prst="rect">
            <a:avLst/>
          </a:prstGeom>
          <a:noFill/>
          <a:ln/>
        </p:spPr>
        <p:txBody>
          <a:bodyPr wrap="square" lIns="0" tIns="0" rIns="0" bIns="0" rtlCol="0" anchor="ctr"/>
          <a:lstStyle/>
          <a:p>
            <a:pPr indent="0" marL="0">
              <a:buNone/>
            </a:pPr>
            <a:r>
              <a:rPr lang="en-US" sz="1800" b="1" dirty="0">
                <a:solidFill>
                  <a:srgbClr val="FCA311"/>
                </a:solidFill>
                <a:latin typeface="Calibri" pitchFamily="34" charset="0"/>
                <a:ea typeface="Calibri" pitchFamily="34" charset="-122"/>
                <a:cs typeface="Calibri" pitchFamily="34" charset="-120"/>
              </a:rPr>
              <a:t>4</a:t>
            </a:r>
            <a:endParaRPr lang="en-US" sz="1800" dirty="0"/>
          </a:p>
        </p:txBody>
      </p:sp>
      <p:sp>
        <p:nvSpPr>
          <p:cNvPr id="11" name="Text 9"/>
          <p:cNvSpPr txBox="1"/>
          <p:nvPr/>
        </p:nvSpPr>
        <p:spPr>
          <a:xfrm>
            <a:off x="1097280" y="3840480"/>
            <a:ext cx="740664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Evaluation tab: the chart, then the CLI printing the same block.</a:t>
            </a:r>
            <a:endParaRPr lang="en-US" sz="1800" dirty="0"/>
          </a:p>
        </p:txBody>
      </p:sp>
      <p:sp>
        <p:nvSpPr>
          <p:cNvPr id="12" name="Text 10"/>
          <p:cNvSpPr txBox="1"/>
          <p:nvPr/>
        </p:nvSpPr>
        <p:spPr>
          <a:xfrm>
            <a:off x="640080" y="4434840"/>
            <a:ext cx="7863840" cy="274320"/>
          </a:xfrm>
          <a:prstGeom prst="rect">
            <a:avLst/>
          </a:prstGeom>
          <a:noFill/>
          <a:ln/>
        </p:spPr>
        <p:txBody>
          <a:bodyPr wrap="square" lIns="0" tIns="0" rIns="0" bIns="0" rtlCol="0" anchor="ctr"/>
          <a:lstStyle/>
          <a:p>
            <a:pPr indent="0" marL="0">
              <a:buNone/>
            </a:pPr>
            <a:r>
              <a:rPr lang="en-US" sz="1400" dirty="0">
                <a:solidFill>
                  <a:srgbClr val="C9D6EE"/>
                </a:solidFill>
                <a:latin typeface="Calibri" pitchFamily="34" charset="0"/>
                <a:ea typeface="Calibri" pitchFamily="34" charset="-122"/>
                <a:cs typeface="Calibri" pitchFamily="34" charset="-120"/>
              </a:rPr>
              <a:t>github.com/breakingbuilds/multi-document-rag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RAG system now runs in a browser</dc:title>
  <dc:subject>PptxGenJS Presentation</dc:subject>
  <dc:creator>Talha Hafeez</dc:creator>
  <cp:lastModifiedBy>Talha Hafeez</cp:lastModifiedBy>
  <cp:revision>1</cp:revision>
  <dcterms:created xsi:type="dcterms:W3CDTF">2026-09-16T13:20:09Z</dcterms:created>
  <dcterms:modified xsi:type="dcterms:W3CDTF">2026-09-16T13:20:09Z</dcterms:modified>
</cp:coreProperties>
</file>